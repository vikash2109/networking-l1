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135"/>
  </p:handoutMasterIdLst>
  <p:sldIdLst>
    <p:sldId id="256" r:id="rId2"/>
    <p:sldId id="378" r:id="rId3"/>
    <p:sldId id="379" r:id="rId4"/>
    <p:sldId id="292" r:id="rId5"/>
    <p:sldId id="414" r:id="rId6"/>
    <p:sldId id="415" r:id="rId7"/>
    <p:sldId id="416" r:id="rId8"/>
    <p:sldId id="420" r:id="rId9"/>
    <p:sldId id="421" r:id="rId10"/>
    <p:sldId id="293" r:id="rId11"/>
    <p:sldId id="294" r:id="rId12"/>
    <p:sldId id="295" r:id="rId13"/>
    <p:sldId id="296" r:id="rId14"/>
    <p:sldId id="297" r:id="rId15"/>
    <p:sldId id="298" r:id="rId16"/>
    <p:sldId id="432" r:id="rId17"/>
    <p:sldId id="299" r:id="rId18"/>
    <p:sldId id="300" r:id="rId19"/>
    <p:sldId id="301" r:id="rId20"/>
    <p:sldId id="303" r:id="rId21"/>
    <p:sldId id="304" r:id="rId22"/>
    <p:sldId id="305" r:id="rId23"/>
    <p:sldId id="306" r:id="rId24"/>
    <p:sldId id="307" r:id="rId25"/>
    <p:sldId id="309" r:id="rId26"/>
    <p:sldId id="310" r:id="rId27"/>
    <p:sldId id="311" r:id="rId28"/>
    <p:sldId id="312" r:id="rId29"/>
    <p:sldId id="313" r:id="rId30"/>
    <p:sldId id="315" r:id="rId31"/>
    <p:sldId id="316" r:id="rId32"/>
    <p:sldId id="317" r:id="rId33"/>
    <p:sldId id="318" r:id="rId34"/>
    <p:sldId id="319" r:id="rId35"/>
    <p:sldId id="328" r:id="rId36"/>
    <p:sldId id="320" r:id="rId37"/>
    <p:sldId id="329" r:id="rId38"/>
    <p:sldId id="322" r:id="rId39"/>
    <p:sldId id="330" r:id="rId40"/>
    <p:sldId id="323" r:id="rId41"/>
    <p:sldId id="331" r:id="rId42"/>
    <p:sldId id="332" r:id="rId43"/>
    <p:sldId id="324" r:id="rId44"/>
    <p:sldId id="325" r:id="rId45"/>
    <p:sldId id="333" r:id="rId46"/>
    <p:sldId id="334" r:id="rId47"/>
    <p:sldId id="335" r:id="rId48"/>
    <p:sldId id="336" r:id="rId49"/>
    <p:sldId id="337" r:id="rId50"/>
    <p:sldId id="338" r:id="rId51"/>
    <p:sldId id="343" r:id="rId52"/>
    <p:sldId id="342" r:id="rId53"/>
    <p:sldId id="341" r:id="rId54"/>
    <p:sldId id="340" r:id="rId55"/>
    <p:sldId id="339" r:id="rId56"/>
    <p:sldId id="344" r:id="rId57"/>
    <p:sldId id="345" r:id="rId58"/>
    <p:sldId id="430" r:id="rId59"/>
    <p:sldId id="431" r:id="rId60"/>
    <p:sldId id="346" r:id="rId61"/>
    <p:sldId id="347" r:id="rId62"/>
    <p:sldId id="348" r:id="rId63"/>
    <p:sldId id="349" r:id="rId64"/>
    <p:sldId id="350" r:id="rId65"/>
    <p:sldId id="351" r:id="rId66"/>
    <p:sldId id="352" r:id="rId67"/>
    <p:sldId id="407" r:id="rId68"/>
    <p:sldId id="354" r:id="rId69"/>
    <p:sldId id="353" r:id="rId70"/>
    <p:sldId id="355" r:id="rId71"/>
    <p:sldId id="357" r:id="rId72"/>
    <p:sldId id="356" r:id="rId73"/>
    <p:sldId id="358" r:id="rId74"/>
    <p:sldId id="359" r:id="rId75"/>
    <p:sldId id="428" r:id="rId76"/>
    <p:sldId id="360" r:id="rId77"/>
    <p:sldId id="399" r:id="rId78"/>
    <p:sldId id="361" r:id="rId79"/>
    <p:sldId id="362" r:id="rId80"/>
    <p:sldId id="363" r:id="rId81"/>
    <p:sldId id="364" r:id="rId82"/>
    <p:sldId id="366" r:id="rId83"/>
    <p:sldId id="365" r:id="rId84"/>
    <p:sldId id="367" r:id="rId85"/>
    <p:sldId id="370" r:id="rId86"/>
    <p:sldId id="400" r:id="rId87"/>
    <p:sldId id="401" r:id="rId88"/>
    <p:sldId id="402" r:id="rId89"/>
    <p:sldId id="403" r:id="rId90"/>
    <p:sldId id="404" r:id="rId91"/>
    <p:sldId id="405" r:id="rId92"/>
    <p:sldId id="406" r:id="rId93"/>
    <p:sldId id="369" r:id="rId94"/>
    <p:sldId id="368" r:id="rId95"/>
    <p:sldId id="371" r:id="rId96"/>
    <p:sldId id="372" r:id="rId97"/>
    <p:sldId id="373" r:id="rId98"/>
    <p:sldId id="374" r:id="rId99"/>
    <p:sldId id="375" r:id="rId100"/>
    <p:sldId id="376" r:id="rId101"/>
    <p:sldId id="377" r:id="rId102"/>
    <p:sldId id="380" r:id="rId103"/>
    <p:sldId id="381" r:id="rId104"/>
    <p:sldId id="382" r:id="rId105"/>
    <p:sldId id="383" r:id="rId106"/>
    <p:sldId id="384" r:id="rId107"/>
    <p:sldId id="385" r:id="rId108"/>
    <p:sldId id="386" r:id="rId109"/>
    <p:sldId id="387" r:id="rId110"/>
    <p:sldId id="388" r:id="rId111"/>
    <p:sldId id="389" r:id="rId112"/>
    <p:sldId id="422" r:id="rId113"/>
    <p:sldId id="423" r:id="rId114"/>
    <p:sldId id="424" r:id="rId115"/>
    <p:sldId id="425" r:id="rId116"/>
    <p:sldId id="408" r:id="rId117"/>
    <p:sldId id="391" r:id="rId118"/>
    <p:sldId id="409" r:id="rId119"/>
    <p:sldId id="410" r:id="rId120"/>
    <p:sldId id="411" r:id="rId121"/>
    <p:sldId id="412" r:id="rId122"/>
    <p:sldId id="413" r:id="rId123"/>
    <p:sldId id="390" r:id="rId124"/>
    <p:sldId id="392" r:id="rId125"/>
    <p:sldId id="393" r:id="rId126"/>
    <p:sldId id="395" r:id="rId127"/>
    <p:sldId id="396" r:id="rId128"/>
    <p:sldId id="397" r:id="rId129"/>
    <p:sldId id="398" r:id="rId130"/>
    <p:sldId id="426" r:id="rId131"/>
    <p:sldId id="427" r:id="rId132"/>
    <p:sldId id="429" r:id="rId133"/>
    <p:sldId id="302" r:id="rId134"/>
  </p:sldIdLst>
  <p:sldSz cx="9144000" cy="6858000" type="screen4x3"/>
  <p:notesSz cx="6858000" cy="9144000"/>
  <p:defaultTextStyle>
    <a:defPPr>
      <a:defRPr lang="en-US"/>
    </a:defPPr>
    <a:lvl1pPr algn="l" rtl="0" eaLnBrk="0" fontAlgn="base" hangingPunct="0">
      <a:spcBef>
        <a:spcPct val="0"/>
      </a:spcBef>
      <a:spcAft>
        <a:spcPct val="0"/>
      </a:spcAft>
      <a:defRPr sz="26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6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6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6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600" kern="1200">
        <a:solidFill>
          <a:schemeClr val="tx1"/>
        </a:solidFill>
        <a:latin typeface="Times New Roman" panose="02020603050405020304" pitchFamily="18" charset="0"/>
        <a:ea typeface="+mn-ea"/>
        <a:cs typeface="+mn-cs"/>
      </a:defRPr>
    </a:lvl5pPr>
    <a:lvl6pPr marL="2286000" algn="l" defTabSz="914400" rtl="0" eaLnBrk="1" latinLnBrk="0" hangingPunct="1">
      <a:defRPr sz="2600" kern="1200">
        <a:solidFill>
          <a:schemeClr val="tx1"/>
        </a:solidFill>
        <a:latin typeface="Times New Roman" panose="02020603050405020304" pitchFamily="18" charset="0"/>
        <a:ea typeface="+mn-ea"/>
        <a:cs typeface="+mn-cs"/>
      </a:defRPr>
    </a:lvl6pPr>
    <a:lvl7pPr marL="2743200" algn="l" defTabSz="914400" rtl="0" eaLnBrk="1" latinLnBrk="0" hangingPunct="1">
      <a:defRPr sz="2600" kern="1200">
        <a:solidFill>
          <a:schemeClr val="tx1"/>
        </a:solidFill>
        <a:latin typeface="Times New Roman" panose="02020603050405020304" pitchFamily="18" charset="0"/>
        <a:ea typeface="+mn-ea"/>
        <a:cs typeface="+mn-cs"/>
      </a:defRPr>
    </a:lvl7pPr>
    <a:lvl8pPr marL="3200400" algn="l" defTabSz="914400" rtl="0" eaLnBrk="1" latinLnBrk="0" hangingPunct="1">
      <a:defRPr sz="2600" kern="1200">
        <a:solidFill>
          <a:schemeClr val="tx1"/>
        </a:solidFill>
        <a:latin typeface="Times New Roman" panose="02020603050405020304" pitchFamily="18" charset="0"/>
        <a:ea typeface="+mn-ea"/>
        <a:cs typeface="+mn-cs"/>
      </a:defRPr>
    </a:lvl8pPr>
    <a:lvl9pPr marL="3657600" algn="l" defTabSz="914400" rtl="0" eaLnBrk="1" latinLnBrk="0" hangingPunct="1">
      <a:defRPr sz="26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2323EB"/>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32" autoAdjust="0"/>
    <p:restoredTop sz="94434" autoAdjust="0"/>
  </p:normalViewPr>
  <p:slideViewPr>
    <p:cSldViewPr>
      <p:cViewPr varScale="1">
        <p:scale>
          <a:sx n="64" d="100"/>
          <a:sy n="64" d="100"/>
        </p:scale>
        <p:origin x="1602" y="90"/>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110" d="100"/>
        <a:sy n="11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handoutMaster" Target="handoutMasters/handout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_rels/viewProps.xml.rels><?xml version="1.0" encoding="UTF-8" standalone="yes"?>
<Relationships xmlns="http://schemas.openxmlformats.org/package/2006/relationships"><Relationship Id="rId3" Type="http://schemas.openxmlformats.org/officeDocument/2006/relationships/slide" Target="slides/slide133.xml"/><Relationship Id="rId2" Type="http://schemas.openxmlformats.org/officeDocument/2006/relationships/slide" Target="slides/slide19.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44BB7FD8-4A1F-45C3-A3D7-53A51ADF5D07}"/>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en-US"/>
          </a:p>
        </p:txBody>
      </p:sp>
      <p:sp>
        <p:nvSpPr>
          <p:cNvPr id="102403" name="Rectangle 3">
            <a:extLst>
              <a:ext uri="{FF2B5EF4-FFF2-40B4-BE49-F238E27FC236}">
                <a16:creationId xmlns:a16="http://schemas.microsoft.com/office/drawing/2014/main" id="{26C51119-D645-493A-8D4D-3EA15AA537B4}"/>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en-US"/>
          </a:p>
        </p:txBody>
      </p:sp>
      <p:sp>
        <p:nvSpPr>
          <p:cNvPr id="102404" name="Rectangle 4">
            <a:extLst>
              <a:ext uri="{FF2B5EF4-FFF2-40B4-BE49-F238E27FC236}">
                <a16:creationId xmlns:a16="http://schemas.microsoft.com/office/drawing/2014/main" id="{6FE166E7-DEF3-4CFB-A653-508D5780FD81}"/>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en-US"/>
          </a:p>
        </p:txBody>
      </p:sp>
      <p:sp>
        <p:nvSpPr>
          <p:cNvPr id="102405" name="Rectangle 5">
            <a:extLst>
              <a:ext uri="{FF2B5EF4-FFF2-40B4-BE49-F238E27FC236}">
                <a16:creationId xmlns:a16="http://schemas.microsoft.com/office/drawing/2014/main" id="{E7A602F5-F531-4E90-A6C5-523C9822A3CE}"/>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08A6492-104A-4EDC-A85A-A069D60A8F1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57F569D-113B-43B0-893A-F8DB1678B5A4}"/>
              </a:ext>
            </a:extLst>
          </p:cNvPr>
          <p:cNvSpPr>
            <a:spLocks noGrp="1"/>
          </p:cNvSpPr>
          <p:nvPr>
            <p:ph type="dt" sz="half" idx="10"/>
          </p:nvPr>
        </p:nvSpPr>
        <p:spPr/>
        <p:txBody>
          <a:bodyPr/>
          <a:lstStyle>
            <a:lvl1pPr>
              <a:defRPr/>
            </a:lvl1pPr>
          </a:lstStyle>
          <a:p>
            <a:pPr>
              <a:defRPr/>
            </a:pPr>
            <a:r>
              <a:rPr lang="en-US" altLang="en-US"/>
              <a:t>Bordoloi and Bock</a:t>
            </a:r>
            <a:endParaRPr lang="en-US" altLang="en-US">
              <a:solidFill>
                <a:schemeClr val="tx1"/>
              </a:solidFill>
            </a:endParaRPr>
          </a:p>
        </p:txBody>
      </p:sp>
      <p:sp>
        <p:nvSpPr>
          <p:cNvPr id="5" name="Footer Placeholder 4">
            <a:extLst>
              <a:ext uri="{FF2B5EF4-FFF2-40B4-BE49-F238E27FC236}">
                <a16:creationId xmlns:a16="http://schemas.microsoft.com/office/drawing/2014/main" id="{29A0ABCD-5D61-48A2-BD76-78980C6FA03D}"/>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E519455C-4D8B-459F-B53B-D1B1392407A7}"/>
              </a:ext>
            </a:extLst>
          </p:cNvPr>
          <p:cNvSpPr>
            <a:spLocks noGrp="1"/>
          </p:cNvSpPr>
          <p:nvPr>
            <p:ph type="sldNum" sz="quarter" idx="12"/>
          </p:nvPr>
        </p:nvSpPr>
        <p:spPr/>
        <p:txBody>
          <a:bodyPr/>
          <a:lstStyle>
            <a:lvl1pPr>
              <a:defRPr/>
            </a:lvl1pPr>
          </a:lstStyle>
          <a:p>
            <a:pPr>
              <a:defRPr/>
            </a:pPr>
            <a:fld id="{71047E5F-34FF-462E-972D-DC5FD7D6930A}" type="slidenum">
              <a:rPr lang="en-US" altLang="en-US"/>
              <a:pPr>
                <a:defRPr/>
              </a:pPr>
              <a:t>‹#›</a:t>
            </a:fld>
            <a:endParaRPr lang="en-US" altLang="en-US"/>
          </a:p>
        </p:txBody>
      </p:sp>
    </p:spTree>
    <p:extLst>
      <p:ext uri="{BB962C8B-B14F-4D97-AF65-F5344CB8AC3E}">
        <p14:creationId xmlns:p14="http://schemas.microsoft.com/office/powerpoint/2010/main" val="4066207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51191B-0870-4761-BDE7-E785C65D84A6}"/>
              </a:ext>
            </a:extLst>
          </p:cNvPr>
          <p:cNvSpPr>
            <a:spLocks noGrp="1"/>
          </p:cNvSpPr>
          <p:nvPr>
            <p:ph type="dt" sz="half" idx="10"/>
          </p:nvPr>
        </p:nvSpPr>
        <p:spPr/>
        <p:txBody>
          <a:bodyPr/>
          <a:lstStyle>
            <a:lvl1pPr>
              <a:defRPr/>
            </a:lvl1pPr>
          </a:lstStyle>
          <a:p>
            <a:pPr>
              <a:defRPr/>
            </a:pPr>
            <a:r>
              <a:rPr lang="en-US" altLang="en-US"/>
              <a:t>Bordoloi and Bock</a:t>
            </a:r>
            <a:endParaRPr lang="en-US" altLang="en-US">
              <a:solidFill>
                <a:schemeClr val="tx1"/>
              </a:solidFill>
            </a:endParaRPr>
          </a:p>
        </p:txBody>
      </p:sp>
      <p:sp>
        <p:nvSpPr>
          <p:cNvPr id="5" name="Footer Placeholder 4">
            <a:extLst>
              <a:ext uri="{FF2B5EF4-FFF2-40B4-BE49-F238E27FC236}">
                <a16:creationId xmlns:a16="http://schemas.microsoft.com/office/drawing/2014/main" id="{8EEDB423-C933-4D53-BCA6-FD3286628C23}"/>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1C4C4BF7-8EAA-4BC2-B929-44209BD6C4AF}"/>
              </a:ext>
            </a:extLst>
          </p:cNvPr>
          <p:cNvSpPr>
            <a:spLocks noGrp="1"/>
          </p:cNvSpPr>
          <p:nvPr>
            <p:ph type="sldNum" sz="quarter" idx="12"/>
          </p:nvPr>
        </p:nvSpPr>
        <p:spPr/>
        <p:txBody>
          <a:bodyPr/>
          <a:lstStyle>
            <a:lvl1pPr>
              <a:defRPr/>
            </a:lvl1pPr>
          </a:lstStyle>
          <a:p>
            <a:pPr>
              <a:defRPr/>
            </a:pPr>
            <a:fld id="{73F6B62E-B9B0-45DD-9D39-02AF59C55E02}" type="slidenum">
              <a:rPr lang="en-US" altLang="en-US"/>
              <a:pPr>
                <a:defRPr/>
              </a:pPr>
              <a:t>‹#›</a:t>
            </a:fld>
            <a:endParaRPr lang="en-US" altLang="en-US"/>
          </a:p>
        </p:txBody>
      </p:sp>
    </p:spTree>
    <p:extLst>
      <p:ext uri="{BB962C8B-B14F-4D97-AF65-F5344CB8AC3E}">
        <p14:creationId xmlns:p14="http://schemas.microsoft.com/office/powerpoint/2010/main" val="1162728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77B905-55A4-4CE9-96C7-1EC23E94286B}"/>
              </a:ext>
            </a:extLst>
          </p:cNvPr>
          <p:cNvSpPr>
            <a:spLocks noGrp="1"/>
          </p:cNvSpPr>
          <p:nvPr>
            <p:ph type="dt" sz="half" idx="10"/>
          </p:nvPr>
        </p:nvSpPr>
        <p:spPr/>
        <p:txBody>
          <a:bodyPr/>
          <a:lstStyle>
            <a:lvl1pPr>
              <a:defRPr/>
            </a:lvl1pPr>
          </a:lstStyle>
          <a:p>
            <a:pPr>
              <a:defRPr/>
            </a:pPr>
            <a:r>
              <a:rPr lang="en-US" altLang="en-US"/>
              <a:t>Bordoloi and Bock</a:t>
            </a:r>
            <a:endParaRPr lang="en-US" altLang="en-US">
              <a:solidFill>
                <a:schemeClr val="tx1"/>
              </a:solidFill>
            </a:endParaRPr>
          </a:p>
        </p:txBody>
      </p:sp>
      <p:sp>
        <p:nvSpPr>
          <p:cNvPr id="5" name="Footer Placeholder 4">
            <a:extLst>
              <a:ext uri="{FF2B5EF4-FFF2-40B4-BE49-F238E27FC236}">
                <a16:creationId xmlns:a16="http://schemas.microsoft.com/office/drawing/2014/main" id="{6DA77ECF-0086-4908-BBB5-65728241EF1C}"/>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4C69D1FB-3308-4A6E-8F99-FAB865A209F7}"/>
              </a:ext>
            </a:extLst>
          </p:cNvPr>
          <p:cNvSpPr>
            <a:spLocks noGrp="1"/>
          </p:cNvSpPr>
          <p:nvPr>
            <p:ph type="sldNum" sz="quarter" idx="12"/>
          </p:nvPr>
        </p:nvSpPr>
        <p:spPr/>
        <p:txBody>
          <a:bodyPr/>
          <a:lstStyle>
            <a:lvl1pPr>
              <a:defRPr/>
            </a:lvl1pPr>
          </a:lstStyle>
          <a:p>
            <a:pPr>
              <a:defRPr/>
            </a:pPr>
            <a:fld id="{FC6ACAC3-2C5D-44E0-A788-C6B265B2A9B5}" type="slidenum">
              <a:rPr lang="en-US" altLang="en-US"/>
              <a:pPr>
                <a:defRPr/>
              </a:pPr>
              <a:t>‹#›</a:t>
            </a:fld>
            <a:endParaRPr lang="en-US" altLang="en-US"/>
          </a:p>
        </p:txBody>
      </p:sp>
    </p:spTree>
    <p:extLst>
      <p:ext uri="{BB962C8B-B14F-4D97-AF65-F5344CB8AC3E}">
        <p14:creationId xmlns:p14="http://schemas.microsoft.com/office/powerpoint/2010/main" val="3439222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EC52E6FE-5F3F-41D4-87F8-62FA067B28AF}"/>
              </a:ext>
            </a:extLst>
          </p:cNvPr>
          <p:cNvSpPr>
            <a:spLocks noGrp="1"/>
          </p:cNvSpPr>
          <p:nvPr>
            <p:ph type="dt" sz="half" idx="10"/>
          </p:nvPr>
        </p:nvSpPr>
        <p:spPr/>
        <p:txBody>
          <a:bodyPr/>
          <a:lstStyle>
            <a:lvl1pPr>
              <a:defRPr/>
            </a:lvl1pPr>
          </a:lstStyle>
          <a:p>
            <a:pPr>
              <a:defRPr/>
            </a:pPr>
            <a:r>
              <a:rPr lang="en-US" altLang="en-US"/>
              <a:t>Bordoloi and Bock</a:t>
            </a:r>
            <a:endParaRPr lang="en-US" altLang="en-US">
              <a:solidFill>
                <a:schemeClr val="tx1"/>
              </a:solidFill>
            </a:endParaRPr>
          </a:p>
        </p:txBody>
      </p:sp>
      <p:sp>
        <p:nvSpPr>
          <p:cNvPr id="6" name="Footer Placeholder 4">
            <a:extLst>
              <a:ext uri="{FF2B5EF4-FFF2-40B4-BE49-F238E27FC236}">
                <a16:creationId xmlns:a16="http://schemas.microsoft.com/office/drawing/2014/main" id="{32F74645-B9FF-4644-AFB3-E46819BFC15C}"/>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B95FC318-3042-4554-8167-5BE1F65B88EE}"/>
              </a:ext>
            </a:extLst>
          </p:cNvPr>
          <p:cNvSpPr>
            <a:spLocks noGrp="1"/>
          </p:cNvSpPr>
          <p:nvPr>
            <p:ph type="sldNum" sz="quarter" idx="12"/>
          </p:nvPr>
        </p:nvSpPr>
        <p:spPr/>
        <p:txBody>
          <a:bodyPr/>
          <a:lstStyle>
            <a:lvl1pPr>
              <a:defRPr/>
            </a:lvl1pPr>
          </a:lstStyle>
          <a:p>
            <a:pPr>
              <a:defRPr/>
            </a:pPr>
            <a:fld id="{E86222B7-1067-4A3E-A13B-C2F1EFF6224B}" type="slidenum">
              <a:rPr lang="en-US" altLang="en-US"/>
              <a:pPr>
                <a:defRPr/>
              </a:pPr>
              <a:t>‹#›</a:t>
            </a:fld>
            <a:endParaRPr lang="en-US" altLang="en-US"/>
          </a:p>
        </p:txBody>
      </p:sp>
    </p:spTree>
    <p:extLst>
      <p:ext uri="{BB962C8B-B14F-4D97-AF65-F5344CB8AC3E}">
        <p14:creationId xmlns:p14="http://schemas.microsoft.com/office/powerpoint/2010/main" val="147138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2A890188-D3E0-4FF7-99E4-F0DA7741420B}"/>
              </a:ext>
            </a:extLst>
          </p:cNvPr>
          <p:cNvSpPr>
            <a:spLocks noGrp="1"/>
          </p:cNvSpPr>
          <p:nvPr>
            <p:ph type="dt" sz="half" idx="10"/>
          </p:nvPr>
        </p:nvSpPr>
        <p:spPr/>
        <p:txBody>
          <a:bodyPr/>
          <a:lstStyle>
            <a:lvl1pPr>
              <a:defRPr/>
            </a:lvl1pPr>
          </a:lstStyle>
          <a:p>
            <a:pPr>
              <a:defRPr/>
            </a:pPr>
            <a:r>
              <a:rPr lang="en-US" altLang="en-US"/>
              <a:t>Bordoloi and Bock</a:t>
            </a:r>
            <a:endParaRPr lang="en-US" altLang="en-US">
              <a:solidFill>
                <a:schemeClr val="tx1"/>
              </a:solidFill>
            </a:endParaRPr>
          </a:p>
        </p:txBody>
      </p:sp>
      <p:sp>
        <p:nvSpPr>
          <p:cNvPr id="8" name="Footer Placeholder 4">
            <a:extLst>
              <a:ext uri="{FF2B5EF4-FFF2-40B4-BE49-F238E27FC236}">
                <a16:creationId xmlns:a16="http://schemas.microsoft.com/office/drawing/2014/main" id="{496DE4F6-A0C8-431E-AC20-87D51E2F3769}"/>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8F112981-357F-4CDF-AC95-57F2F765AB30}"/>
              </a:ext>
            </a:extLst>
          </p:cNvPr>
          <p:cNvSpPr>
            <a:spLocks noGrp="1"/>
          </p:cNvSpPr>
          <p:nvPr>
            <p:ph type="sldNum" sz="quarter" idx="12"/>
          </p:nvPr>
        </p:nvSpPr>
        <p:spPr/>
        <p:txBody>
          <a:bodyPr/>
          <a:lstStyle>
            <a:lvl1pPr>
              <a:defRPr/>
            </a:lvl1pPr>
          </a:lstStyle>
          <a:p>
            <a:pPr>
              <a:defRPr/>
            </a:pPr>
            <a:fld id="{84696BA8-89AE-48CE-BC35-088F569B9331}" type="slidenum">
              <a:rPr lang="en-US" altLang="en-US"/>
              <a:pPr>
                <a:defRPr/>
              </a:pPr>
              <a:t>‹#›</a:t>
            </a:fld>
            <a:endParaRPr lang="en-US" altLang="en-US"/>
          </a:p>
        </p:txBody>
      </p:sp>
    </p:spTree>
    <p:extLst>
      <p:ext uri="{BB962C8B-B14F-4D97-AF65-F5344CB8AC3E}">
        <p14:creationId xmlns:p14="http://schemas.microsoft.com/office/powerpoint/2010/main" val="2265096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8C034ECF-81FE-4EC0-9B0E-60314C02AFD8}"/>
              </a:ext>
            </a:extLst>
          </p:cNvPr>
          <p:cNvSpPr>
            <a:spLocks noGrp="1"/>
          </p:cNvSpPr>
          <p:nvPr>
            <p:ph type="dt" sz="half" idx="10"/>
          </p:nvPr>
        </p:nvSpPr>
        <p:spPr/>
        <p:txBody>
          <a:bodyPr/>
          <a:lstStyle>
            <a:lvl1pPr>
              <a:defRPr/>
            </a:lvl1pPr>
          </a:lstStyle>
          <a:p>
            <a:pPr>
              <a:defRPr/>
            </a:pPr>
            <a:r>
              <a:rPr lang="en-US" altLang="en-US"/>
              <a:t>Bordoloi and Bock</a:t>
            </a:r>
            <a:endParaRPr lang="en-US" altLang="en-US">
              <a:solidFill>
                <a:schemeClr val="tx1"/>
              </a:solidFill>
            </a:endParaRPr>
          </a:p>
        </p:txBody>
      </p:sp>
      <p:sp>
        <p:nvSpPr>
          <p:cNvPr id="4" name="Footer Placeholder 4">
            <a:extLst>
              <a:ext uri="{FF2B5EF4-FFF2-40B4-BE49-F238E27FC236}">
                <a16:creationId xmlns:a16="http://schemas.microsoft.com/office/drawing/2014/main" id="{ED88586D-55D3-421B-A822-ADF5358C22B1}"/>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5">
            <a:extLst>
              <a:ext uri="{FF2B5EF4-FFF2-40B4-BE49-F238E27FC236}">
                <a16:creationId xmlns:a16="http://schemas.microsoft.com/office/drawing/2014/main" id="{FA570DB6-9BDE-4C61-86E9-FF1A45801EEB}"/>
              </a:ext>
            </a:extLst>
          </p:cNvPr>
          <p:cNvSpPr>
            <a:spLocks noGrp="1"/>
          </p:cNvSpPr>
          <p:nvPr>
            <p:ph type="sldNum" sz="quarter" idx="12"/>
          </p:nvPr>
        </p:nvSpPr>
        <p:spPr/>
        <p:txBody>
          <a:bodyPr/>
          <a:lstStyle>
            <a:lvl1pPr>
              <a:defRPr/>
            </a:lvl1pPr>
          </a:lstStyle>
          <a:p>
            <a:pPr>
              <a:defRPr/>
            </a:pPr>
            <a:fld id="{FFB0D193-8FA9-4E5F-A247-F9DD33417C9B}" type="slidenum">
              <a:rPr lang="en-US" altLang="en-US"/>
              <a:pPr>
                <a:defRPr/>
              </a:pPr>
              <a:t>‹#›</a:t>
            </a:fld>
            <a:endParaRPr lang="en-US" altLang="en-US"/>
          </a:p>
        </p:txBody>
      </p:sp>
    </p:spTree>
    <p:extLst>
      <p:ext uri="{BB962C8B-B14F-4D97-AF65-F5344CB8AC3E}">
        <p14:creationId xmlns:p14="http://schemas.microsoft.com/office/powerpoint/2010/main" val="450597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9634CC7D-7A0A-4271-898E-CB53DB2C114B}"/>
              </a:ext>
            </a:extLst>
          </p:cNvPr>
          <p:cNvSpPr>
            <a:spLocks noGrp="1"/>
          </p:cNvSpPr>
          <p:nvPr>
            <p:ph type="dt" sz="half" idx="10"/>
          </p:nvPr>
        </p:nvSpPr>
        <p:spPr/>
        <p:txBody>
          <a:bodyPr/>
          <a:lstStyle>
            <a:lvl1pPr>
              <a:defRPr/>
            </a:lvl1pPr>
          </a:lstStyle>
          <a:p>
            <a:pPr>
              <a:defRPr/>
            </a:pPr>
            <a:r>
              <a:rPr lang="en-US" altLang="en-US"/>
              <a:t>Bordoloi and Bock</a:t>
            </a:r>
            <a:endParaRPr lang="en-US" altLang="en-US">
              <a:solidFill>
                <a:schemeClr val="tx1"/>
              </a:solidFill>
            </a:endParaRPr>
          </a:p>
        </p:txBody>
      </p:sp>
      <p:sp>
        <p:nvSpPr>
          <p:cNvPr id="3" name="Footer Placeholder 4">
            <a:extLst>
              <a:ext uri="{FF2B5EF4-FFF2-40B4-BE49-F238E27FC236}">
                <a16:creationId xmlns:a16="http://schemas.microsoft.com/office/drawing/2014/main" id="{A8099755-CC14-423C-8955-DE731B65B608}"/>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5">
            <a:extLst>
              <a:ext uri="{FF2B5EF4-FFF2-40B4-BE49-F238E27FC236}">
                <a16:creationId xmlns:a16="http://schemas.microsoft.com/office/drawing/2014/main" id="{0C5AC622-BC80-4B0A-9EB1-919704462EF2}"/>
              </a:ext>
            </a:extLst>
          </p:cNvPr>
          <p:cNvSpPr>
            <a:spLocks noGrp="1"/>
          </p:cNvSpPr>
          <p:nvPr>
            <p:ph type="sldNum" sz="quarter" idx="12"/>
          </p:nvPr>
        </p:nvSpPr>
        <p:spPr/>
        <p:txBody>
          <a:bodyPr/>
          <a:lstStyle>
            <a:lvl1pPr>
              <a:defRPr/>
            </a:lvl1pPr>
          </a:lstStyle>
          <a:p>
            <a:pPr>
              <a:defRPr/>
            </a:pPr>
            <a:fld id="{B3505C59-6B65-4D21-B82F-8F7401839EF7}" type="slidenum">
              <a:rPr lang="en-US" altLang="en-US"/>
              <a:pPr>
                <a:defRPr/>
              </a:pPr>
              <a:t>‹#›</a:t>
            </a:fld>
            <a:endParaRPr lang="en-US" altLang="en-US"/>
          </a:p>
        </p:txBody>
      </p:sp>
    </p:spTree>
    <p:extLst>
      <p:ext uri="{BB962C8B-B14F-4D97-AF65-F5344CB8AC3E}">
        <p14:creationId xmlns:p14="http://schemas.microsoft.com/office/powerpoint/2010/main" val="908320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id="{66EBACD2-4DC6-49A9-A3A9-2BEAA38DFF92}"/>
              </a:ext>
            </a:extLst>
          </p:cNvPr>
          <p:cNvSpPr>
            <a:spLocks noGrp="1"/>
          </p:cNvSpPr>
          <p:nvPr>
            <p:ph type="dt" sz="half" idx="10"/>
          </p:nvPr>
        </p:nvSpPr>
        <p:spPr/>
        <p:txBody>
          <a:bodyPr/>
          <a:lstStyle>
            <a:lvl1pPr>
              <a:defRPr/>
            </a:lvl1pPr>
          </a:lstStyle>
          <a:p>
            <a:pPr>
              <a:defRPr/>
            </a:pPr>
            <a:r>
              <a:rPr lang="en-US" altLang="en-US"/>
              <a:t>Bordoloi and Bock</a:t>
            </a:r>
            <a:endParaRPr lang="en-US" altLang="en-US">
              <a:solidFill>
                <a:schemeClr val="tx1"/>
              </a:solidFill>
            </a:endParaRPr>
          </a:p>
        </p:txBody>
      </p:sp>
      <p:sp>
        <p:nvSpPr>
          <p:cNvPr id="6" name="Footer Placeholder 4">
            <a:extLst>
              <a:ext uri="{FF2B5EF4-FFF2-40B4-BE49-F238E27FC236}">
                <a16:creationId xmlns:a16="http://schemas.microsoft.com/office/drawing/2014/main" id="{74AD2C9D-A308-470F-9D46-EA9276DA2C80}"/>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6FDFF39C-B3DE-4E57-855B-A86ECC84DA47}"/>
              </a:ext>
            </a:extLst>
          </p:cNvPr>
          <p:cNvSpPr>
            <a:spLocks noGrp="1"/>
          </p:cNvSpPr>
          <p:nvPr>
            <p:ph type="sldNum" sz="quarter" idx="12"/>
          </p:nvPr>
        </p:nvSpPr>
        <p:spPr/>
        <p:txBody>
          <a:bodyPr/>
          <a:lstStyle>
            <a:lvl1pPr>
              <a:defRPr/>
            </a:lvl1pPr>
          </a:lstStyle>
          <a:p>
            <a:pPr>
              <a:defRPr/>
            </a:pPr>
            <a:fld id="{0C1F848B-69C2-416B-9AEB-D6DA410DD5AD}" type="slidenum">
              <a:rPr lang="en-US" altLang="en-US"/>
              <a:pPr>
                <a:defRPr/>
              </a:pPr>
              <a:t>‹#›</a:t>
            </a:fld>
            <a:endParaRPr lang="en-US" altLang="en-US"/>
          </a:p>
        </p:txBody>
      </p:sp>
    </p:spTree>
    <p:extLst>
      <p:ext uri="{BB962C8B-B14F-4D97-AF65-F5344CB8AC3E}">
        <p14:creationId xmlns:p14="http://schemas.microsoft.com/office/powerpoint/2010/main" val="1817762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3">
            <a:extLst>
              <a:ext uri="{FF2B5EF4-FFF2-40B4-BE49-F238E27FC236}">
                <a16:creationId xmlns:a16="http://schemas.microsoft.com/office/drawing/2014/main" id="{7A1D67D6-7C2D-44E4-A4E0-90C1F774194C}"/>
              </a:ext>
            </a:extLst>
          </p:cNvPr>
          <p:cNvSpPr>
            <a:spLocks noGrp="1"/>
          </p:cNvSpPr>
          <p:nvPr>
            <p:ph type="dt" sz="half" idx="10"/>
          </p:nvPr>
        </p:nvSpPr>
        <p:spPr/>
        <p:txBody>
          <a:bodyPr/>
          <a:lstStyle>
            <a:lvl1pPr>
              <a:defRPr/>
            </a:lvl1pPr>
          </a:lstStyle>
          <a:p>
            <a:pPr>
              <a:defRPr/>
            </a:pPr>
            <a:r>
              <a:rPr lang="en-US" altLang="en-US"/>
              <a:t>Bordoloi and Bock</a:t>
            </a:r>
            <a:endParaRPr lang="en-US" altLang="en-US">
              <a:solidFill>
                <a:schemeClr val="tx1"/>
              </a:solidFill>
            </a:endParaRPr>
          </a:p>
        </p:txBody>
      </p:sp>
      <p:sp>
        <p:nvSpPr>
          <p:cNvPr id="6" name="Footer Placeholder 4">
            <a:extLst>
              <a:ext uri="{FF2B5EF4-FFF2-40B4-BE49-F238E27FC236}">
                <a16:creationId xmlns:a16="http://schemas.microsoft.com/office/drawing/2014/main" id="{A9BA9D96-0FBA-4ACD-BC90-5190DE1F3C27}"/>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1FDCD53F-AC0E-481F-A547-C6E50590ECE1}"/>
              </a:ext>
            </a:extLst>
          </p:cNvPr>
          <p:cNvSpPr>
            <a:spLocks noGrp="1"/>
          </p:cNvSpPr>
          <p:nvPr>
            <p:ph type="sldNum" sz="quarter" idx="12"/>
          </p:nvPr>
        </p:nvSpPr>
        <p:spPr/>
        <p:txBody>
          <a:bodyPr/>
          <a:lstStyle>
            <a:lvl1pPr>
              <a:defRPr/>
            </a:lvl1pPr>
          </a:lstStyle>
          <a:p>
            <a:pPr>
              <a:defRPr/>
            </a:pPr>
            <a:fld id="{20C6A382-04C4-4AB0-BE80-D0EBEB0E64CB}" type="slidenum">
              <a:rPr lang="en-US" altLang="en-US"/>
              <a:pPr>
                <a:defRPr/>
              </a:pPr>
              <a:t>‹#›</a:t>
            </a:fld>
            <a:endParaRPr lang="en-US" altLang="en-US"/>
          </a:p>
        </p:txBody>
      </p:sp>
    </p:spTree>
    <p:extLst>
      <p:ext uri="{BB962C8B-B14F-4D97-AF65-F5344CB8AC3E}">
        <p14:creationId xmlns:p14="http://schemas.microsoft.com/office/powerpoint/2010/main" val="1929563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8F634F-034C-4DB7-AD73-6724A214B448}"/>
              </a:ext>
            </a:extLst>
          </p:cNvPr>
          <p:cNvSpPr>
            <a:spLocks noGrp="1"/>
          </p:cNvSpPr>
          <p:nvPr>
            <p:ph type="dt" sz="half" idx="10"/>
          </p:nvPr>
        </p:nvSpPr>
        <p:spPr/>
        <p:txBody>
          <a:bodyPr/>
          <a:lstStyle>
            <a:lvl1pPr>
              <a:defRPr/>
            </a:lvl1pPr>
          </a:lstStyle>
          <a:p>
            <a:pPr>
              <a:defRPr/>
            </a:pPr>
            <a:r>
              <a:rPr lang="en-US" altLang="en-US"/>
              <a:t>Bordoloi and Bock</a:t>
            </a:r>
            <a:endParaRPr lang="en-US" altLang="en-US">
              <a:solidFill>
                <a:schemeClr val="tx1"/>
              </a:solidFill>
            </a:endParaRPr>
          </a:p>
        </p:txBody>
      </p:sp>
      <p:sp>
        <p:nvSpPr>
          <p:cNvPr id="5" name="Footer Placeholder 4">
            <a:extLst>
              <a:ext uri="{FF2B5EF4-FFF2-40B4-BE49-F238E27FC236}">
                <a16:creationId xmlns:a16="http://schemas.microsoft.com/office/drawing/2014/main" id="{7BFDDB84-E8F9-4B80-A7DA-F63A4402E1D2}"/>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2FD0B874-D355-48B7-B8C6-239D099CA215}"/>
              </a:ext>
            </a:extLst>
          </p:cNvPr>
          <p:cNvSpPr>
            <a:spLocks noGrp="1"/>
          </p:cNvSpPr>
          <p:nvPr>
            <p:ph type="sldNum" sz="quarter" idx="12"/>
          </p:nvPr>
        </p:nvSpPr>
        <p:spPr/>
        <p:txBody>
          <a:bodyPr/>
          <a:lstStyle>
            <a:lvl1pPr>
              <a:defRPr/>
            </a:lvl1pPr>
          </a:lstStyle>
          <a:p>
            <a:pPr>
              <a:defRPr/>
            </a:pPr>
            <a:fld id="{2D0D1510-B57F-4B8A-B5FC-EE53236CE83F}" type="slidenum">
              <a:rPr lang="en-US" altLang="en-US"/>
              <a:pPr>
                <a:defRPr/>
              </a:pPr>
              <a:t>‹#›</a:t>
            </a:fld>
            <a:endParaRPr lang="en-US" altLang="en-US"/>
          </a:p>
        </p:txBody>
      </p:sp>
    </p:spTree>
    <p:extLst>
      <p:ext uri="{BB962C8B-B14F-4D97-AF65-F5344CB8AC3E}">
        <p14:creationId xmlns:p14="http://schemas.microsoft.com/office/powerpoint/2010/main" val="2092735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8EF4A3-74A0-4147-BBBB-8991152AC3CF}"/>
              </a:ext>
            </a:extLst>
          </p:cNvPr>
          <p:cNvSpPr>
            <a:spLocks noGrp="1"/>
          </p:cNvSpPr>
          <p:nvPr>
            <p:ph type="dt" sz="half" idx="10"/>
          </p:nvPr>
        </p:nvSpPr>
        <p:spPr/>
        <p:txBody>
          <a:bodyPr/>
          <a:lstStyle>
            <a:lvl1pPr>
              <a:defRPr/>
            </a:lvl1pPr>
          </a:lstStyle>
          <a:p>
            <a:pPr>
              <a:defRPr/>
            </a:pPr>
            <a:r>
              <a:rPr lang="en-US" altLang="en-US"/>
              <a:t>Bordoloi and Bock</a:t>
            </a:r>
            <a:endParaRPr lang="en-US" altLang="en-US">
              <a:solidFill>
                <a:schemeClr val="tx1"/>
              </a:solidFill>
            </a:endParaRPr>
          </a:p>
        </p:txBody>
      </p:sp>
      <p:sp>
        <p:nvSpPr>
          <p:cNvPr id="5" name="Footer Placeholder 4">
            <a:extLst>
              <a:ext uri="{FF2B5EF4-FFF2-40B4-BE49-F238E27FC236}">
                <a16:creationId xmlns:a16="http://schemas.microsoft.com/office/drawing/2014/main" id="{E39544E5-FD50-4CB6-BE5A-34EFAEBE4A27}"/>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3EBFA7D9-5844-41C3-96A1-8B9673993566}"/>
              </a:ext>
            </a:extLst>
          </p:cNvPr>
          <p:cNvSpPr>
            <a:spLocks noGrp="1"/>
          </p:cNvSpPr>
          <p:nvPr>
            <p:ph type="sldNum" sz="quarter" idx="12"/>
          </p:nvPr>
        </p:nvSpPr>
        <p:spPr/>
        <p:txBody>
          <a:bodyPr/>
          <a:lstStyle>
            <a:lvl1pPr>
              <a:defRPr/>
            </a:lvl1pPr>
          </a:lstStyle>
          <a:p>
            <a:pPr>
              <a:defRPr/>
            </a:pPr>
            <a:fld id="{D4096C76-427F-46EE-AF73-CDAA0A22AD34}" type="slidenum">
              <a:rPr lang="en-US" altLang="en-US"/>
              <a:pPr>
                <a:defRPr/>
              </a:pPr>
              <a:t>‹#›</a:t>
            </a:fld>
            <a:endParaRPr lang="en-US" altLang="en-US"/>
          </a:p>
        </p:txBody>
      </p:sp>
    </p:spTree>
    <p:extLst>
      <p:ext uri="{BB962C8B-B14F-4D97-AF65-F5344CB8AC3E}">
        <p14:creationId xmlns:p14="http://schemas.microsoft.com/office/powerpoint/2010/main" val="2123748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1A1103C-78F8-4FFE-8E3D-B6FDA014A501}"/>
              </a:ext>
            </a:extLst>
          </p:cNvPr>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50BA2872-AB3D-4673-9DE8-DE7E7C809D77}"/>
              </a:ext>
            </a:extLst>
          </p:cNvPr>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9003A38-8860-4159-9DE4-6E0C1C93D8AE}"/>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defRPr sz="900">
                <a:solidFill>
                  <a:schemeClr val="tx1">
                    <a:tint val="75000"/>
                  </a:schemeClr>
                </a:solidFill>
              </a:defRPr>
            </a:lvl1pPr>
          </a:lstStyle>
          <a:p>
            <a:pPr>
              <a:defRPr/>
            </a:pPr>
            <a:r>
              <a:rPr lang="en-US" altLang="en-US"/>
              <a:t>Bordoloi and Bock</a:t>
            </a:r>
            <a:endParaRPr lang="en-US" altLang="en-US">
              <a:solidFill>
                <a:schemeClr val="tx1"/>
              </a:solidFill>
            </a:endParaRPr>
          </a:p>
        </p:txBody>
      </p:sp>
      <p:sp>
        <p:nvSpPr>
          <p:cNvPr id="5" name="Footer Placeholder 4">
            <a:extLst>
              <a:ext uri="{FF2B5EF4-FFF2-40B4-BE49-F238E27FC236}">
                <a16:creationId xmlns:a16="http://schemas.microsoft.com/office/drawing/2014/main" id="{083DB843-D1ED-42E6-935D-B9E3A990901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hangingPunct="1">
              <a:defRPr sz="900">
                <a:solidFill>
                  <a:schemeClr val="tx1">
                    <a:tint val="75000"/>
                  </a:schemeClr>
                </a:solidFill>
              </a:defRPr>
            </a:lvl1pPr>
          </a:lstStyle>
          <a:p>
            <a:pPr>
              <a:defRPr/>
            </a:pPr>
            <a:endParaRPr lang="en-US" altLang="en-US"/>
          </a:p>
        </p:txBody>
      </p:sp>
      <p:sp>
        <p:nvSpPr>
          <p:cNvPr id="6" name="Slide Number Placeholder 5">
            <a:extLst>
              <a:ext uri="{FF2B5EF4-FFF2-40B4-BE49-F238E27FC236}">
                <a16:creationId xmlns:a16="http://schemas.microsoft.com/office/drawing/2014/main" id="{4166796C-05B1-4FDC-9806-2CFCBE92276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defRPr sz="900">
                <a:solidFill>
                  <a:schemeClr val="tx1">
                    <a:tint val="75000"/>
                  </a:schemeClr>
                </a:solidFill>
              </a:defRPr>
            </a:lvl1pPr>
          </a:lstStyle>
          <a:p>
            <a:pPr>
              <a:defRPr/>
            </a:pPr>
            <a:fld id="{C60D61EC-431A-4BD5-8631-57B15FB1064C}" type="slidenum">
              <a:rPr lang="en-US" altLang="en-US"/>
              <a:pPr>
                <a:defRPr/>
              </a:pPr>
              <a:t>‹#›</a:t>
            </a:fld>
            <a:endParaRPr lang="en-US" altLang="en-US"/>
          </a:p>
        </p:txBody>
      </p:sp>
      <p:sp>
        <p:nvSpPr>
          <p:cNvPr id="1031" name="MSIPCM411a4775ae81a25d9e519007" descr="{&quot;HashCode&quot;:2133105206,&quot;Placement&quot;:&quot;Footer&quot;,&quot;Top&quot;:524.1047,&quot;Left&quot;:300.843231,&quot;SlideWidth&quot;:720,&quot;SlideHeight&quot;:540}">
            <a:extLst>
              <a:ext uri="{FF2B5EF4-FFF2-40B4-BE49-F238E27FC236}">
                <a16:creationId xmlns:a16="http://schemas.microsoft.com/office/drawing/2014/main" id="{4FB13FD0-D060-4BBF-A375-DD85C717A3B2}"/>
              </a:ext>
            </a:extLst>
          </p:cNvPr>
          <p:cNvSpPr txBox="1">
            <a:spLocks noChangeArrowheads="1"/>
          </p:cNvSpPr>
          <p:nvPr userDrawn="1"/>
        </p:nvSpPr>
        <p:spPr bwMode="auto">
          <a:xfrm>
            <a:off x="3821113" y="6656388"/>
            <a:ext cx="1501775"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sz="2600">
                <a:solidFill>
                  <a:schemeClr val="tx1"/>
                </a:solidFill>
                <a:latin typeface="Times New Roman" panose="02020603050405020304" pitchFamily="18" charset="0"/>
              </a:defRPr>
            </a:lvl1pPr>
            <a:lvl2pPr marL="742950" indent="-285750">
              <a:defRPr sz="2600">
                <a:solidFill>
                  <a:schemeClr val="tx1"/>
                </a:solidFill>
                <a:latin typeface="Times New Roman" panose="02020603050405020304" pitchFamily="18" charset="0"/>
              </a:defRPr>
            </a:lvl2pPr>
            <a:lvl3pPr marL="1143000" indent="-228600">
              <a:defRPr sz="2600">
                <a:solidFill>
                  <a:schemeClr val="tx1"/>
                </a:solidFill>
                <a:latin typeface="Times New Roman" panose="02020603050405020304" pitchFamily="18" charset="0"/>
              </a:defRPr>
            </a:lvl3pPr>
            <a:lvl4pPr marL="1600200" indent="-228600">
              <a:defRPr sz="2600">
                <a:solidFill>
                  <a:schemeClr val="tx1"/>
                </a:solidFill>
                <a:latin typeface="Times New Roman" panose="02020603050405020304" pitchFamily="18" charset="0"/>
              </a:defRPr>
            </a:lvl4pPr>
            <a:lvl5pPr marL="2057400" indent="-228600">
              <a:defRPr sz="2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defRPr>
            </a:lvl9pPr>
          </a:lstStyle>
          <a:p>
            <a:pPr algn="ctr"/>
            <a:r>
              <a:rPr lang="en-US" altLang="en-US" sz="700">
                <a:solidFill>
                  <a:srgbClr val="000000"/>
                </a:solidFill>
                <a:latin typeface="Arial" panose="020B0604020202020204" pitchFamily="34" charset="0"/>
              </a:rPr>
              <a:t>Sensitivity: Internal &amp; Restricted</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hyperlink" Target="http://www.rebellionrider.com/pl-sql-tutorials/block-types-in-pl-sql-by-rebellionrider-manish-sharma.htm"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636A7460-D67E-491C-9D02-E3CC898256D9}"/>
              </a:ext>
            </a:extLst>
          </p:cNvPr>
          <p:cNvSpPr>
            <a:spLocks noGrp="1"/>
          </p:cNvSpPr>
          <p:nvPr>
            <p:ph type="ctrTitle"/>
          </p:nvPr>
        </p:nvSpPr>
        <p:spPr>
          <a:xfrm>
            <a:off x="381000" y="2590800"/>
            <a:ext cx="8382000" cy="838200"/>
          </a:xfrm>
        </p:spPr>
        <p:txBody>
          <a:bodyPr anchor="ctr"/>
          <a:lstStyle/>
          <a:p>
            <a:pPr eaLnBrk="1" hangingPunct="1"/>
            <a:r>
              <a:rPr lang="en-US" altLang="en-US" sz="4000">
                <a:latin typeface="Verdana" panose="020B0604030504040204" pitchFamily="34" charset="0"/>
                <a:ea typeface="Verdana" panose="020B0604030504040204" pitchFamily="34" charset="0"/>
                <a:cs typeface="Verdana" panose="020B0604030504040204" pitchFamily="34" charset="0"/>
              </a:rPr>
              <a:t>PL/SQL PROGRAMMING (L1)</a:t>
            </a:r>
          </a:p>
        </p:txBody>
      </p:sp>
      <p:sp>
        <p:nvSpPr>
          <p:cNvPr id="3" name="Date Placeholder 3">
            <a:extLst>
              <a:ext uri="{FF2B5EF4-FFF2-40B4-BE49-F238E27FC236}">
                <a16:creationId xmlns:a16="http://schemas.microsoft.com/office/drawing/2014/main" id="{79BAC364-AB11-4C40-A574-3729A0D857D5}"/>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
        <p:nvSpPr>
          <p:cNvPr id="3076" name="TextBox 1">
            <a:extLst>
              <a:ext uri="{FF2B5EF4-FFF2-40B4-BE49-F238E27FC236}">
                <a16:creationId xmlns:a16="http://schemas.microsoft.com/office/drawing/2014/main" id="{BD3903E7-9432-4117-A9BA-6BF7D4FA3872}"/>
              </a:ext>
            </a:extLst>
          </p:cNvPr>
          <p:cNvSpPr txBox="1">
            <a:spLocks noChangeArrowheads="1"/>
          </p:cNvSpPr>
          <p:nvPr/>
        </p:nvSpPr>
        <p:spPr bwMode="auto">
          <a:xfrm>
            <a:off x="3733800" y="5486400"/>
            <a:ext cx="45720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defRPr>
            </a:lvl1pPr>
            <a:lvl2pPr marL="742950" indent="-285750">
              <a:defRPr sz="2600">
                <a:solidFill>
                  <a:schemeClr val="tx1"/>
                </a:solidFill>
                <a:latin typeface="Times New Roman" panose="02020603050405020304" pitchFamily="18" charset="0"/>
              </a:defRPr>
            </a:lvl2pPr>
            <a:lvl3pPr marL="1143000" indent="-228600">
              <a:defRPr sz="2600">
                <a:solidFill>
                  <a:schemeClr val="tx1"/>
                </a:solidFill>
                <a:latin typeface="Times New Roman" panose="02020603050405020304" pitchFamily="18" charset="0"/>
              </a:defRPr>
            </a:lvl3pPr>
            <a:lvl4pPr marL="1600200" indent="-228600">
              <a:defRPr sz="2600">
                <a:solidFill>
                  <a:schemeClr val="tx1"/>
                </a:solidFill>
                <a:latin typeface="Times New Roman" panose="02020603050405020304" pitchFamily="18" charset="0"/>
              </a:defRPr>
            </a:lvl4pPr>
            <a:lvl5pPr marL="2057400" indent="-228600">
              <a:defRPr sz="2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defRPr>
            </a:lvl9pPr>
          </a:lstStyle>
          <a:p>
            <a:r>
              <a:rPr lang="en-US" altLang="en-US"/>
              <a:t>AMITABH TIWAR</a:t>
            </a:r>
          </a:p>
          <a:p>
            <a:r>
              <a:rPr lang="en-US" altLang="en-US"/>
              <a:t>PL/SQL DEVELOPER(L1)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2637D081-D517-45B1-B07D-A8F4E66EE808}"/>
              </a:ext>
            </a:extLst>
          </p:cNvPr>
          <p:cNvSpPr>
            <a:spLocks noGrp="1"/>
          </p:cNvSpPr>
          <p:nvPr>
            <p:ph type="title"/>
          </p:nvPr>
        </p:nvSpPr>
        <p:spPr>
          <a:xfrm>
            <a:off x="628650" y="152400"/>
            <a:ext cx="7886700" cy="457200"/>
          </a:xfrm>
        </p:spPr>
        <p:txBody>
          <a:bodyPr/>
          <a:lstStyle/>
          <a:p>
            <a:r>
              <a:rPr lang="en-US" altLang="en-US">
                <a:latin typeface="Verdana" panose="020B0604030504040204" pitchFamily="34" charset="0"/>
                <a:ea typeface="Verdana" panose="020B0604030504040204" pitchFamily="34" charset="0"/>
                <a:cs typeface="Verdana" panose="020B0604030504040204" pitchFamily="34" charset="0"/>
              </a:rPr>
              <a:t>AGENDA:</a:t>
            </a:r>
          </a:p>
        </p:txBody>
      </p:sp>
      <p:sp>
        <p:nvSpPr>
          <p:cNvPr id="3" name="Content Placeholder 2">
            <a:extLst>
              <a:ext uri="{FF2B5EF4-FFF2-40B4-BE49-F238E27FC236}">
                <a16:creationId xmlns:a16="http://schemas.microsoft.com/office/drawing/2014/main" id="{4A4F3F7C-B648-428D-A710-60184BB78FC4}"/>
              </a:ext>
            </a:extLst>
          </p:cNvPr>
          <p:cNvSpPr>
            <a:spLocks noGrp="1"/>
          </p:cNvSpPr>
          <p:nvPr>
            <p:ph idx="1"/>
          </p:nvPr>
        </p:nvSpPr>
        <p:spPr>
          <a:xfrm>
            <a:off x="381000" y="609600"/>
            <a:ext cx="8134350" cy="5567363"/>
          </a:xfrm>
        </p:spPr>
        <p:txBody>
          <a:bodyPr/>
          <a:lstStyle/>
          <a:p>
            <a:pPr marL="457200" indent="-457200">
              <a:buFont typeface="+mj-lt"/>
              <a:buAutoNum type="arabicPeriod"/>
              <a:defRPr/>
            </a:pPr>
            <a:r>
              <a:rPr lang="en-US" sz="2000" dirty="0">
                <a:latin typeface="Verdana" panose="020B0604030504040204" pitchFamily="34" charset="0"/>
                <a:ea typeface="Verdana" panose="020B0604030504040204" pitchFamily="34" charset="0"/>
                <a:cs typeface="Verdana" panose="020B0604030504040204" pitchFamily="34" charset="0"/>
              </a:rPr>
              <a:t>PL/SQL Introduction</a:t>
            </a:r>
          </a:p>
          <a:p>
            <a:pPr marL="457200" indent="-457200">
              <a:buFont typeface="+mj-lt"/>
              <a:buAutoNum type="arabicPeriod"/>
              <a:defRPr/>
            </a:pPr>
            <a:r>
              <a:rPr lang="en-US" sz="2000" dirty="0">
                <a:latin typeface="Verdana" panose="020B0604030504040204" pitchFamily="34" charset="0"/>
                <a:ea typeface="Verdana" panose="020B0604030504040204" pitchFamily="34" charset="0"/>
                <a:cs typeface="Verdana" panose="020B0604030504040204" pitchFamily="34" charset="0"/>
              </a:rPr>
              <a:t>PL/SQL Basic Syntax</a:t>
            </a:r>
          </a:p>
          <a:p>
            <a:pPr marL="457200" indent="-457200">
              <a:buFont typeface="+mj-lt"/>
              <a:buAutoNum type="arabicPeriod"/>
              <a:defRPr/>
            </a:pPr>
            <a:r>
              <a:rPr lang="en-US" sz="2000" dirty="0">
                <a:latin typeface="Verdana" panose="020B0604030504040204" pitchFamily="34" charset="0"/>
                <a:ea typeface="Verdana" panose="020B0604030504040204" pitchFamily="34" charset="0"/>
                <a:cs typeface="Verdana" panose="020B0604030504040204" pitchFamily="34" charset="0"/>
              </a:rPr>
              <a:t>PL/SQL Data Types</a:t>
            </a:r>
          </a:p>
          <a:p>
            <a:pPr marL="457200" indent="-457200">
              <a:buFont typeface="+mj-lt"/>
              <a:buAutoNum type="arabicPeriod"/>
              <a:defRPr/>
            </a:pPr>
            <a:r>
              <a:rPr lang="en-US" sz="2000" dirty="0">
                <a:latin typeface="Verdana" panose="020B0604030504040204" pitchFamily="34" charset="0"/>
                <a:ea typeface="Verdana" panose="020B0604030504040204" pitchFamily="34" charset="0"/>
                <a:cs typeface="Verdana" panose="020B0604030504040204" pitchFamily="34" charset="0"/>
              </a:rPr>
              <a:t>PL/SQL Variables</a:t>
            </a:r>
          </a:p>
          <a:p>
            <a:pPr marL="457200" indent="-457200">
              <a:buFont typeface="+mj-lt"/>
              <a:buAutoNum type="arabicPeriod"/>
              <a:defRPr/>
            </a:pPr>
            <a:r>
              <a:rPr lang="en-US" sz="2000" dirty="0">
                <a:latin typeface="Verdana" panose="020B0604030504040204" pitchFamily="34" charset="0"/>
                <a:ea typeface="Verdana" panose="020B0604030504040204" pitchFamily="34" charset="0"/>
                <a:cs typeface="Verdana" panose="020B0604030504040204" pitchFamily="34" charset="0"/>
              </a:rPr>
              <a:t>PL/SQL Constant</a:t>
            </a:r>
          </a:p>
          <a:p>
            <a:pPr marL="457200" indent="-457200">
              <a:buFont typeface="+mj-lt"/>
              <a:buAutoNum type="arabicPeriod"/>
              <a:defRPr/>
            </a:pPr>
            <a:r>
              <a:rPr lang="en-US" sz="2000" dirty="0">
                <a:latin typeface="Verdana" panose="020B0604030504040204" pitchFamily="34" charset="0"/>
                <a:ea typeface="Verdana" panose="020B0604030504040204" pitchFamily="34" charset="0"/>
                <a:cs typeface="Verdana" panose="020B0604030504040204" pitchFamily="34" charset="0"/>
              </a:rPr>
              <a:t>PL/SQL Operators</a:t>
            </a:r>
          </a:p>
          <a:p>
            <a:pPr marL="457200" indent="-457200">
              <a:buFont typeface="+mj-lt"/>
              <a:buAutoNum type="arabicPeriod"/>
              <a:defRPr/>
            </a:pPr>
            <a:r>
              <a:rPr lang="en-US" sz="2000" dirty="0">
                <a:latin typeface="Verdana" panose="020B0604030504040204" pitchFamily="34" charset="0"/>
                <a:ea typeface="Verdana" panose="020B0604030504040204" pitchFamily="34" charset="0"/>
                <a:cs typeface="Verdana" panose="020B0604030504040204" pitchFamily="34" charset="0"/>
              </a:rPr>
              <a:t>PL/SQL Conditions</a:t>
            </a:r>
          </a:p>
          <a:p>
            <a:pPr marL="457200" indent="-457200">
              <a:buFont typeface="+mj-lt"/>
              <a:buAutoNum type="arabicPeriod"/>
              <a:defRPr/>
            </a:pPr>
            <a:r>
              <a:rPr lang="en-US" sz="2000" dirty="0">
                <a:latin typeface="Verdana" panose="020B0604030504040204" pitchFamily="34" charset="0"/>
                <a:ea typeface="Verdana" panose="020B0604030504040204" pitchFamily="34" charset="0"/>
                <a:cs typeface="Verdana" panose="020B0604030504040204" pitchFamily="34" charset="0"/>
              </a:rPr>
              <a:t>PL/SQL Loops</a:t>
            </a:r>
          </a:p>
          <a:p>
            <a:pPr marL="457200" indent="-457200">
              <a:buFont typeface="+mj-lt"/>
              <a:buAutoNum type="arabicPeriod"/>
              <a:defRPr/>
            </a:pPr>
            <a:r>
              <a:rPr lang="en-US" sz="2000" dirty="0">
                <a:latin typeface="Verdana" panose="020B0604030504040204" pitchFamily="34" charset="0"/>
                <a:ea typeface="Verdana" panose="020B0604030504040204" pitchFamily="34" charset="0"/>
                <a:cs typeface="Verdana" panose="020B0604030504040204" pitchFamily="34" charset="0"/>
              </a:rPr>
              <a:t>PL/SQL Procedures</a:t>
            </a:r>
          </a:p>
          <a:p>
            <a:pPr marL="457200" indent="-457200">
              <a:buFont typeface="+mj-lt"/>
              <a:buAutoNum type="arabicPeriod"/>
              <a:defRPr/>
            </a:pPr>
            <a:r>
              <a:rPr lang="en-US" sz="2000" dirty="0">
                <a:latin typeface="Verdana" panose="020B0604030504040204" pitchFamily="34" charset="0"/>
                <a:ea typeface="Verdana" panose="020B0604030504040204" pitchFamily="34" charset="0"/>
                <a:cs typeface="Verdana" panose="020B0604030504040204" pitchFamily="34" charset="0"/>
              </a:rPr>
              <a:t>PL/SQL Functions</a:t>
            </a:r>
          </a:p>
          <a:p>
            <a:pPr marL="457200" indent="-457200">
              <a:buFont typeface="+mj-lt"/>
              <a:buAutoNum type="arabicPeriod"/>
              <a:defRPr/>
            </a:pPr>
            <a:r>
              <a:rPr lang="en-US" sz="2000" dirty="0">
                <a:latin typeface="Verdana" panose="020B0604030504040204" pitchFamily="34" charset="0"/>
                <a:ea typeface="Verdana" panose="020B0604030504040204" pitchFamily="34" charset="0"/>
                <a:cs typeface="Verdana" panose="020B0604030504040204" pitchFamily="34" charset="0"/>
              </a:rPr>
              <a:t>PL/SQL Cursors</a:t>
            </a:r>
          </a:p>
          <a:p>
            <a:pPr marL="457200" indent="-457200">
              <a:buFont typeface="+mj-lt"/>
              <a:buAutoNum type="arabicPeriod"/>
              <a:defRPr/>
            </a:pPr>
            <a:r>
              <a:rPr lang="en-US" sz="2000" dirty="0">
                <a:latin typeface="Verdana" panose="020B0604030504040204" pitchFamily="34" charset="0"/>
                <a:ea typeface="Verdana" panose="020B0604030504040204" pitchFamily="34" charset="0"/>
                <a:cs typeface="Verdana" panose="020B0604030504040204" pitchFamily="34" charset="0"/>
              </a:rPr>
              <a:t>PL/SQL Exceptions</a:t>
            </a:r>
          </a:p>
          <a:p>
            <a:pPr marL="457200" indent="-457200">
              <a:buFont typeface="+mj-lt"/>
              <a:buAutoNum type="arabicPeriod"/>
              <a:defRPr/>
            </a:pPr>
            <a:r>
              <a:rPr lang="en-US" sz="2000" dirty="0">
                <a:latin typeface="Verdana" panose="020B0604030504040204" pitchFamily="34" charset="0"/>
                <a:ea typeface="Verdana" panose="020B0604030504040204" pitchFamily="34" charset="0"/>
                <a:cs typeface="Verdana" panose="020B0604030504040204" pitchFamily="34" charset="0"/>
              </a:rPr>
              <a:t>PL/SQL Triggers</a:t>
            </a:r>
          </a:p>
          <a:p>
            <a:pPr marL="457200" indent="-457200">
              <a:buFont typeface="+mj-lt"/>
              <a:buAutoNum type="arabicPeriod"/>
              <a:defRPr/>
            </a:pPr>
            <a:r>
              <a:rPr lang="en-US" sz="2000" dirty="0">
                <a:latin typeface="Verdana" panose="020B0604030504040204" pitchFamily="34" charset="0"/>
                <a:ea typeface="Verdana" panose="020B0604030504040204" pitchFamily="34" charset="0"/>
                <a:cs typeface="Verdana" panose="020B0604030504040204" pitchFamily="34" charset="0"/>
              </a:rPr>
              <a:t>PL/SQL Packages</a:t>
            </a:r>
          </a:p>
          <a:p>
            <a:pPr marL="0" indent="0">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081B17D7-ECD5-4882-B067-84A4C4C2414D}"/>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97EEE6FC-D1D3-46EE-B2C0-2F20794E35FC}"/>
              </a:ext>
            </a:extLst>
          </p:cNvPr>
          <p:cNvSpPr>
            <a:spLocks noGrp="1"/>
          </p:cNvSpPr>
          <p:nvPr>
            <p:ph idx="1"/>
          </p:nvPr>
        </p:nvSpPr>
        <p:spPr>
          <a:xfrm>
            <a:off x="628650" y="152400"/>
            <a:ext cx="7886700" cy="6024563"/>
          </a:xfrm>
        </p:spPr>
        <p:txBody>
          <a:bodyPr/>
          <a:lstStyle/>
          <a:p>
            <a:pPr marL="0" indent="0">
              <a:buFont typeface="Arial" panose="020B0604020202020204" pitchFamily="34" charset="0"/>
              <a:buNone/>
            </a:pPr>
            <a:r>
              <a:rPr lang="en-US" altLang="en-US" sz="2000" dirty="0">
                <a:latin typeface="Verdana" panose="020B0604030504040204" pitchFamily="34" charset="0"/>
                <a:ea typeface="Verdana" panose="020B0604030504040204" pitchFamily="34" charset="0"/>
                <a:cs typeface="Verdana" panose="020B0604030504040204" pitchFamily="34" charset="0"/>
              </a:rPr>
              <a:t>15. PL/SQL Date and Time</a:t>
            </a:r>
          </a:p>
          <a:p>
            <a:pPr marL="0" indent="0">
              <a:buFont typeface="Arial" panose="020B0604020202020204" pitchFamily="34" charset="0"/>
              <a:buNone/>
            </a:pPr>
            <a:r>
              <a:rPr lang="en-US" altLang="en-US" sz="2000" dirty="0">
                <a:latin typeface="Verdana" panose="020B0604030504040204" pitchFamily="34" charset="0"/>
                <a:ea typeface="Verdana" panose="020B0604030504040204" pitchFamily="34" charset="0"/>
                <a:cs typeface="Verdana" panose="020B0604030504040204" pitchFamily="34" charset="0"/>
              </a:rPr>
              <a:t>16. PL/SQL Object Oriented</a:t>
            </a:r>
          </a:p>
          <a:p>
            <a:pPr marL="0" indent="0">
              <a:buFont typeface="Arial" panose="020B0604020202020204" pitchFamily="34" charset="0"/>
              <a:buNone/>
            </a:pPr>
            <a:r>
              <a:rPr lang="en-US" altLang="en-US" sz="2000" dirty="0">
                <a:latin typeface="Verdana" panose="020B0604030504040204" pitchFamily="34" charset="0"/>
                <a:ea typeface="Verdana" panose="020B0604030504040204" pitchFamily="34" charset="0"/>
                <a:cs typeface="Verdana" panose="020B0604030504040204" pitchFamily="34" charset="0"/>
              </a:rPr>
              <a:t>17.  PL/SQL Discussion</a:t>
            </a:r>
          </a:p>
        </p:txBody>
      </p:sp>
      <p:sp>
        <p:nvSpPr>
          <p:cNvPr id="4" name="Date Placeholder 3">
            <a:extLst>
              <a:ext uri="{FF2B5EF4-FFF2-40B4-BE49-F238E27FC236}">
                <a16:creationId xmlns:a16="http://schemas.microsoft.com/office/drawing/2014/main" id="{842378F3-1AAA-4018-8E27-85BD93ED3CC9}"/>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929B827-044B-407F-A3E2-0B5C37F7D2F8}"/>
              </a:ext>
            </a:extLst>
          </p:cNvPr>
          <p:cNvSpPr>
            <a:spLocks noGrp="1"/>
          </p:cNvSpPr>
          <p:nvPr>
            <p:ph type="ctrTitle"/>
          </p:nvPr>
        </p:nvSpPr>
        <p:spPr>
          <a:xfrm>
            <a:off x="838200" y="0"/>
            <a:ext cx="8001000" cy="838200"/>
          </a:xfrm>
        </p:spPr>
        <p:txBody>
          <a:bodyPr anchor="ctr"/>
          <a:lstStyle/>
          <a:p>
            <a:pPr algn="l" eaLnBrk="1" hangingPunct="1"/>
            <a:r>
              <a:rPr lang="en-US" altLang="en-US" sz="3600" b="1" u="sng">
                <a:ea typeface="Arial Unicode MS" panose="020B0604020202020204" pitchFamily="34" charset="-128"/>
                <a:cs typeface="Arial Unicode MS" panose="020B0604020202020204" pitchFamily="34" charset="-128"/>
              </a:rPr>
              <a:t>PLSQL:</a:t>
            </a:r>
          </a:p>
        </p:txBody>
      </p:sp>
      <p:sp>
        <p:nvSpPr>
          <p:cNvPr id="353283" name="Rectangle 3">
            <a:extLst>
              <a:ext uri="{FF2B5EF4-FFF2-40B4-BE49-F238E27FC236}">
                <a16:creationId xmlns:a16="http://schemas.microsoft.com/office/drawing/2014/main" id="{35E7B349-BD37-417E-A291-DDF1BBF2AB7F}"/>
              </a:ext>
            </a:extLst>
          </p:cNvPr>
          <p:cNvSpPr>
            <a:spLocks noGrp="1" noChangeArrowheads="1"/>
          </p:cNvSpPr>
          <p:nvPr>
            <p:ph type="subTitle" idx="1"/>
          </p:nvPr>
        </p:nvSpPr>
        <p:spPr>
          <a:xfrm>
            <a:off x="152400" y="685800"/>
            <a:ext cx="8763000" cy="5410200"/>
          </a:xfrm>
        </p:spPr>
        <p:txBody>
          <a:bodyPr rtlCol="0">
            <a:normAutofit/>
          </a:bodyPr>
          <a:lstStyle/>
          <a:p>
            <a:pPr marL="342900" indent="-342900" algn="l" eaLnBrk="1" fontAlgn="auto" hangingPunct="1">
              <a:spcAft>
                <a:spcPts val="0"/>
              </a:spcAft>
              <a:buFont typeface="+mj-lt"/>
              <a:buAutoNum type="arabicPeriod"/>
              <a:defRPr/>
            </a:pPr>
            <a:r>
              <a:rPr lang="en-US" b="1" dirty="0">
                <a:latin typeface="Verdana" panose="020B0604030504040204" pitchFamily="34" charset="0"/>
                <a:ea typeface="Verdana" panose="020B0604030504040204" pitchFamily="34" charset="0"/>
                <a:cs typeface="Verdana" panose="020B0604030504040204" pitchFamily="34" charset="0"/>
              </a:rPr>
              <a:t>PL</a:t>
            </a:r>
            <a:r>
              <a:rPr lang="en-US" dirty="0">
                <a:latin typeface="Verdana" panose="020B0604030504040204" pitchFamily="34" charset="0"/>
                <a:ea typeface="Verdana" panose="020B0604030504040204" pitchFamily="34" charset="0"/>
                <a:cs typeface="Verdana" panose="020B0604030504040204" pitchFamily="34" charset="0"/>
              </a:rPr>
              <a:t>/</a:t>
            </a:r>
            <a:r>
              <a:rPr lang="en-US" b="1" dirty="0">
                <a:latin typeface="Verdana" panose="020B0604030504040204" pitchFamily="34" charset="0"/>
                <a:ea typeface="Verdana" panose="020B0604030504040204" pitchFamily="34" charset="0"/>
                <a:cs typeface="Verdana" panose="020B0604030504040204" pitchFamily="34" charset="0"/>
              </a:rPr>
              <a:t>SQL</a:t>
            </a:r>
            <a:r>
              <a:rPr lang="en-US" dirty="0">
                <a:latin typeface="Verdana" panose="020B0604030504040204" pitchFamily="34" charset="0"/>
                <a:ea typeface="Verdana" panose="020B0604030504040204" pitchFamily="34" charset="0"/>
                <a:cs typeface="Verdana" panose="020B0604030504040204" pitchFamily="34" charset="0"/>
              </a:rPr>
              <a:t> (Procedural Language/Structured Query Language) is Oracle Corporation's procedural extension for </a:t>
            </a:r>
            <a:r>
              <a:rPr lang="en-US" b="1" dirty="0">
                <a:latin typeface="Verdana" panose="020B0604030504040204" pitchFamily="34" charset="0"/>
                <a:ea typeface="Verdana" panose="020B0604030504040204" pitchFamily="34" charset="0"/>
                <a:cs typeface="Verdana" panose="020B0604030504040204" pitchFamily="34" charset="0"/>
              </a:rPr>
              <a:t>SQL</a:t>
            </a:r>
            <a:r>
              <a:rPr lang="en-US" dirty="0">
                <a:latin typeface="Verdana" panose="020B0604030504040204" pitchFamily="34" charset="0"/>
                <a:ea typeface="Verdana" panose="020B0604030504040204" pitchFamily="34" charset="0"/>
                <a:cs typeface="Verdana" panose="020B0604030504040204" pitchFamily="34" charset="0"/>
              </a:rPr>
              <a:t> and the Oracle relational database.</a:t>
            </a:r>
          </a:p>
          <a:p>
            <a:pPr marL="342900" indent="-342900" algn="l" eaLnBrk="1" fontAlgn="auto" hangingPunct="1">
              <a:spcAft>
                <a:spcPts val="0"/>
              </a:spcAft>
              <a:buFont typeface="+mj-lt"/>
              <a:buAutoNum type="arabicPeriod"/>
              <a:defRPr/>
            </a:pPr>
            <a:r>
              <a:rPr lang="en-US" dirty="0">
                <a:latin typeface="Verdana" panose="020B0604030504040204" pitchFamily="34" charset="0"/>
                <a:ea typeface="Verdana" panose="020B0604030504040204" pitchFamily="34" charset="0"/>
                <a:cs typeface="Verdana" panose="020B0604030504040204" pitchFamily="34" charset="0"/>
              </a:rPr>
              <a:t>PL/SQL is a combination of SQL along with the procedural features of programming languages. </a:t>
            </a:r>
          </a:p>
          <a:p>
            <a:pPr marL="342900" indent="-342900" algn="l" eaLnBrk="1" fontAlgn="auto" hangingPunct="1">
              <a:spcAft>
                <a:spcPts val="0"/>
              </a:spcAft>
              <a:buFont typeface="+mj-lt"/>
              <a:buAutoNum type="arabicPeriod"/>
              <a:defRPr/>
            </a:pPr>
            <a:r>
              <a:rPr lang="en-US" dirty="0">
                <a:latin typeface="Verdana" panose="020B0604030504040204" pitchFamily="34" charset="0"/>
                <a:ea typeface="Verdana" panose="020B0604030504040204" pitchFamily="34" charset="0"/>
                <a:cs typeface="Verdana" panose="020B0604030504040204" pitchFamily="34" charset="0"/>
              </a:rPr>
              <a:t>It was developed by Oracle Corporation in the early 90's to enhance the capabilities of SQL. </a:t>
            </a:r>
          </a:p>
          <a:p>
            <a:pPr marL="342900" indent="-342900" algn="l" eaLnBrk="1" fontAlgn="auto" hangingPunct="1">
              <a:spcAft>
                <a:spcPts val="0"/>
              </a:spcAft>
              <a:buFont typeface="+mj-lt"/>
              <a:buAutoNum type="arabicPeriod"/>
              <a:defRPr/>
            </a:pPr>
            <a:r>
              <a:rPr lang="en-US" dirty="0">
                <a:latin typeface="Verdana" panose="020B0604030504040204" pitchFamily="34" charset="0"/>
                <a:ea typeface="Verdana" panose="020B0604030504040204" pitchFamily="34" charset="0"/>
                <a:cs typeface="Verdana" panose="020B0604030504040204" pitchFamily="34" charset="0"/>
              </a:rPr>
              <a:t>PL/SQL is one of three key programming languages embedded in the Oracle Database, along with SQL itself and Java. </a:t>
            </a: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Prerequisites:</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You should have a basic understanding of software basic concepts like what is database, source code, text editor and execution of programs, etc. </a:t>
            </a:r>
          </a:p>
          <a:p>
            <a:pPr marL="171450" algn="l" eaLnBrk="1" fontAlgn="auto" hangingPunct="1">
              <a:spcAft>
                <a:spcPts val="0"/>
              </a:spcAft>
              <a:defRPr/>
            </a:pPr>
            <a:endParaRPr lang="en-US" altLang="en-US" sz="3200" dirty="0">
              <a:ea typeface="Arial Unicode MS" panose="020B0604020202020204" pitchFamily="34" charset="-128"/>
              <a:cs typeface="Arial Unicode MS" panose="020B0604020202020204" pitchFamily="34" charset="-128"/>
            </a:endParaRPr>
          </a:p>
          <a:p>
            <a:pPr marL="742950" indent="-571500" algn="l" eaLnBrk="1" fontAlgn="auto" hangingPunct="1">
              <a:spcAft>
                <a:spcPts val="0"/>
              </a:spcAft>
              <a:buFontTx/>
              <a:buChar char="•"/>
              <a:defRPr/>
            </a:pPr>
            <a:endParaRPr lang="en-US" altLang="en-US" sz="2800" dirty="0">
              <a:ea typeface="Arial Unicode MS" panose="020B0604020202020204" pitchFamily="34" charset="-128"/>
              <a:cs typeface="Arial Unicode MS" panose="020B0604020202020204" pitchFamily="34" charset="-128"/>
            </a:endParaRPr>
          </a:p>
        </p:txBody>
      </p:sp>
      <p:sp>
        <p:nvSpPr>
          <p:cNvPr id="4" name="Date Placeholder 3">
            <a:extLst>
              <a:ext uri="{FF2B5EF4-FFF2-40B4-BE49-F238E27FC236}">
                <a16:creationId xmlns:a16="http://schemas.microsoft.com/office/drawing/2014/main" id="{AC0FFB75-2FD9-40B2-A2E9-E6FD387FDAAF}"/>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5627C97C-45AF-4E72-8A6F-7DFC3ADD6EFD}"/>
              </a:ext>
            </a:extLst>
          </p:cNvPr>
          <p:cNvSpPr>
            <a:spLocks noGrp="1"/>
          </p:cNvSpPr>
          <p:nvPr>
            <p:ph type="title"/>
          </p:nvPr>
        </p:nvSpPr>
        <p:spPr>
          <a:xfrm>
            <a:off x="628650" y="365125"/>
            <a:ext cx="7886700" cy="549275"/>
          </a:xfrm>
        </p:spPr>
        <p:txBody>
          <a:bodyPr/>
          <a:lstStyle/>
          <a:p>
            <a:r>
              <a:rPr lang="en-US" altLang="en-US" sz="2400">
                <a:latin typeface="Verdana" panose="020B0604030504040204" pitchFamily="34" charset="0"/>
                <a:ea typeface="Verdana" panose="020B0604030504040204" pitchFamily="34" charset="0"/>
                <a:cs typeface="Verdana" panose="020B0604030504040204" pitchFamily="34" charset="0"/>
              </a:rPr>
              <a:t>SQL REVISION:</a:t>
            </a:r>
          </a:p>
        </p:txBody>
      </p:sp>
      <p:sp>
        <p:nvSpPr>
          <p:cNvPr id="3" name="Content Placeholder 2">
            <a:extLst>
              <a:ext uri="{FF2B5EF4-FFF2-40B4-BE49-F238E27FC236}">
                <a16:creationId xmlns:a16="http://schemas.microsoft.com/office/drawing/2014/main" id="{7D7418F0-6311-4377-87E3-C209C629AA64}"/>
              </a:ext>
            </a:extLst>
          </p:cNvPr>
          <p:cNvSpPr>
            <a:spLocks noGrp="1"/>
          </p:cNvSpPr>
          <p:nvPr>
            <p:ph idx="1"/>
          </p:nvPr>
        </p:nvSpPr>
        <p:spPr>
          <a:xfrm>
            <a:off x="628650" y="838200"/>
            <a:ext cx="7886700" cy="5518150"/>
          </a:xfrm>
        </p:spPr>
        <p:txBody>
          <a:bodyPr/>
          <a:lstStyle/>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1. </a:t>
            </a:r>
            <a:r>
              <a:rPr lang="en-US" sz="1800" b="1" dirty="0">
                <a:latin typeface="Verdana" panose="020B0604030504040204" pitchFamily="34" charset="0"/>
                <a:ea typeface="Verdana" panose="020B0604030504040204" pitchFamily="34" charset="0"/>
                <a:cs typeface="Verdana" panose="020B0604030504040204" pitchFamily="34" charset="0"/>
              </a:rPr>
              <a:t>DML (Data Manipulation Language)</a:t>
            </a:r>
          </a:p>
          <a:p>
            <a:pPr>
              <a:defRPr/>
            </a:pPr>
            <a:r>
              <a:rPr lang="en-US" sz="1800" dirty="0">
                <a:latin typeface="Verdana" panose="020B0604030504040204" pitchFamily="34" charset="0"/>
                <a:ea typeface="Verdana" panose="020B0604030504040204" pitchFamily="34" charset="0"/>
                <a:cs typeface="Verdana" panose="020B0604030504040204" pitchFamily="34" charset="0"/>
              </a:rPr>
              <a:t>DML statements </a:t>
            </a:r>
            <a:r>
              <a:rPr lang="en-US" sz="1800" b="1" dirty="0">
                <a:highlight>
                  <a:srgbClr val="FFFF00"/>
                </a:highlight>
                <a:latin typeface="Verdana" panose="020B0604030504040204" pitchFamily="34" charset="0"/>
                <a:ea typeface="Verdana" panose="020B0604030504040204" pitchFamily="34" charset="0"/>
                <a:cs typeface="Verdana" panose="020B0604030504040204" pitchFamily="34" charset="0"/>
              </a:rPr>
              <a:t>affect records </a:t>
            </a:r>
            <a:r>
              <a:rPr lang="en-US" sz="1800" dirty="0">
                <a:highlight>
                  <a:srgbClr val="FFFF00"/>
                </a:highlight>
                <a:latin typeface="Verdana" panose="020B0604030504040204" pitchFamily="34" charset="0"/>
                <a:ea typeface="Verdana" panose="020B0604030504040204" pitchFamily="34" charset="0"/>
                <a:cs typeface="Verdana" panose="020B0604030504040204" pitchFamily="34" charset="0"/>
              </a:rPr>
              <a:t>in a table. </a:t>
            </a:r>
            <a:r>
              <a:rPr lang="en-US" sz="1800" dirty="0">
                <a:latin typeface="Verdana" panose="020B0604030504040204" pitchFamily="34" charset="0"/>
                <a:ea typeface="Verdana" panose="020B0604030504040204" pitchFamily="34" charset="0"/>
                <a:cs typeface="Verdana" panose="020B0604030504040204" pitchFamily="34" charset="0"/>
              </a:rPr>
              <a:t>These are basic operations we perform on data such as selecting a few records from a table, inserting new records, deleting unnecessary records, and updating/modifying existing records.</a:t>
            </a:r>
          </a:p>
          <a:p>
            <a:pPr>
              <a:defRPr/>
            </a:pPr>
            <a:r>
              <a:rPr lang="en-US" sz="1800" dirty="0">
                <a:latin typeface="Verdana" panose="020B0604030504040204" pitchFamily="34" charset="0"/>
                <a:ea typeface="Verdana" panose="020B0604030504040204" pitchFamily="34" charset="0"/>
                <a:cs typeface="Verdana" panose="020B0604030504040204" pitchFamily="34" charset="0"/>
              </a:rPr>
              <a:t>DML statements include the following:</a:t>
            </a:r>
          </a:p>
          <a:p>
            <a:pPr>
              <a:defRPr/>
            </a:pPr>
            <a:r>
              <a:rPr lang="en-US" sz="1800" b="1" dirty="0">
                <a:latin typeface="Verdana" panose="020B0604030504040204" pitchFamily="34" charset="0"/>
                <a:ea typeface="Verdana" panose="020B0604030504040204" pitchFamily="34" charset="0"/>
                <a:cs typeface="Verdana" panose="020B0604030504040204" pitchFamily="34" charset="0"/>
              </a:rPr>
              <a:t>SELECT</a:t>
            </a:r>
            <a:r>
              <a:rPr lang="en-US" sz="1800" dirty="0">
                <a:latin typeface="Verdana" panose="020B0604030504040204" pitchFamily="34" charset="0"/>
                <a:ea typeface="Verdana" panose="020B0604030504040204" pitchFamily="34" charset="0"/>
                <a:cs typeface="Verdana" panose="020B0604030504040204" pitchFamily="34" charset="0"/>
              </a:rPr>
              <a:t> – select records from a table</a:t>
            </a:r>
            <a:br>
              <a:rPr lang="en-US" sz="1800" dirty="0">
                <a:latin typeface="Verdana" panose="020B0604030504040204" pitchFamily="34" charset="0"/>
                <a:ea typeface="Verdana" panose="020B0604030504040204" pitchFamily="34" charset="0"/>
                <a:cs typeface="Verdana" panose="020B0604030504040204" pitchFamily="34" charset="0"/>
              </a:rPr>
            </a:br>
            <a:r>
              <a:rPr lang="en-US" sz="1800" b="1" dirty="0">
                <a:latin typeface="Verdana" panose="020B0604030504040204" pitchFamily="34" charset="0"/>
                <a:ea typeface="Verdana" panose="020B0604030504040204" pitchFamily="34" charset="0"/>
                <a:cs typeface="Verdana" panose="020B0604030504040204" pitchFamily="34" charset="0"/>
              </a:rPr>
              <a:t>INSERT</a:t>
            </a:r>
            <a:r>
              <a:rPr lang="en-US" sz="1800" dirty="0">
                <a:latin typeface="Verdana" panose="020B0604030504040204" pitchFamily="34" charset="0"/>
                <a:ea typeface="Verdana" panose="020B0604030504040204" pitchFamily="34" charset="0"/>
                <a:cs typeface="Verdana" panose="020B0604030504040204" pitchFamily="34" charset="0"/>
              </a:rPr>
              <a:t> – insert new records</a:t>
            </a:r>
            <a:br>
              <a:rPr lang="en-US" sz="1800" dirty="0">
                <a:latin typeface="Verdana" panose="020B0604030504040204" pitchFamily="34" charset="0"/>
                <a:ea typeface="Verdana" panose="020B0604030504040204" pitchFamily="34" charset="0"/>
                <a:cs typeface="Verdana" panose="020B0604030504040204" pitchFamily="34" charset="0"/>
              </a:rPr>
            </a:br>
            <a:r>
              <a:rPr lang="en-US" sz="1800" b="1" dirty="0">
                <a:latin typeface="Verdana" panose="020B0604030504040204" pitchFamily="34" charset="0"/>
                <a:ea typeface="Verdana" panose="020B0604030504040204" pitchFamily="34" charset="0"/>
                <a:cs typeface="Verdana" panose="020B0604030504040204" pitchFamily="34" charset="0"/>
              </a:rPr>
              <a:t>UPDATE</a:t>
            </a:r>
            <a:r>
              <a:rPr lang="en-US" sz="1800" dirty="0">
                <a:latin typeface="Verdana" panose="020B0604030504040204" pitchFamily="34" charset="0"/>
                <a:ea typeface="Verdana" panose="020B0604030504040204" pitchFamily="34" charset="0"/>
                <a:cs typeface="Verdana" panose="020B0604030504040204" pitchFamily="34" charset="0"/>
              </a:rPr>
              <a:t> – update/Modify existing records</a:t>
            </a:r>
            <a:br>
              <a:rPr lang="en-US" sz="1800" dirty="0">
                <a:latin typeface="Verdana" panose="020B0604030504040204" pitchFamily="34" charset="0"/>
                <a:ea typeface="Verdana" panose="020B0604030504040204" pitchFamily="34" charset="0"/>
                <a:cs typeface="Verdana" panose="020B0604030504040204" pitchFamily="34" charset="0"/>
              </a:rPr>
            </a:br>
            <a:r>
              <a:rPr lang="en-US" sz="1800" b="1" dirty="0">
                <a:latin typeface="Verdana" panose="020B0604030504040204" pitchFamily="34" charset="0"/>
                <a:ea typeface="Verdana" panose="020B0604030504040204" pitchFamily="34" charset="0"/>
                <a:cs typeface="Verdana" panose="020B0604030504040204" pitchFamily="34" charset="0"/>
              </a:rPr>
              <a:t>DELETE</a:t>
            </a:r>
            <a:r>
              <a:rPr lang="en-US" sz="1800" dirty="0">
                <a:latin typeface="Verdana" panose="020B0604030504040204" pitchFamily="34" charset="0"/>
                <a:ea typeface="Verdana" panose="020B0604030504040204" pitchFamily="34" charset="0"/>
                <a:cs typeface="Verdana" panose="020B0604030504040204" pitchFamily="34" charset="0"/>
              </a:rPr>
              <a:t> – delete existing records</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2 DDL (Data Definition Language)</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DDL statements are used to alter/modify a </a:t>
            </a:r>
            <a:r>
              <a:rPr lang="en-US" sz="1800" b="1" dirty="0">
                <a:highlight>
                  <a:srgbClr val="FFFF00"/>
                </a:highlight>
                <a:latin typeface="Verdana" panose="020B0604030504040204" pitchFamily="34" charset="0"/>
                <a:ea typeface="Verdana" panose="020B0604030504040204" pitchFamily="34" charset="0"/>
                <a:cs typeface="Verdana" panose="020B0604030504040204" pitchFamily="34" charset="0"/>
              </a:rPr>
              <a:t>database or table </a:t>
            </a:r>
            <a:r>
              <a:rPr lang="en-US" sz="1800" dirty="0">
                <a:latin typeface="Verdana" panose="020B0604030504040204" pitchFamily="34" charset="0"/>
                <a:ea typeface="Verdana" panose="020B0604030504040204" pitchFamily="34" charset="0"/>
                <a:cs typeface="Verdana" panose="020B0604030504040204" pitchFamily="34" charset="0"/>
              </a:rPr>
              <a:t>structure and schema. These statements handle the design and storage of database objects.</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CREATE</a:t>
            </a:r>
            <a:r>
              <a:rPr lang="en-US" sz="1800" dirty="0">
                <a:latin typeface="Verdana" panose="020B0604030504040204" pitchFamily="34" charset="0"/>
                <a:ea typeface="Verdana" panose="020B0604030504040204" pitchFamily="34" charset="0"/>
                <a:cs typeface="Verdana" panose="020B0604030504040204" pitchFamily="34" charset="0"/>
              </a:rPr>
              <a:t> – create a new Table, database, schema</a:t>
            </a:r>
            <a:br>
              <a:rPr lang="en-US" sz="1800" dirty="0">
                <a:latin typeface="Verdana" panose="020B0604030504040204" pitchFamily="34" charset="0"/>
                <a:ea typeface="Verdana" panose="020B0604030504040204" pitchFamily="34" charset="0"/>
                <a:cs typeface="Verdana" panose="020B0604030504040204" pitchFamily="34" charset="0"/>
              </a:rPr>
            </a:br>
            <a:r>
              <a:rPr lang="en-US" sz="1800" b="1" dirty="0">
                <a:latin typeface="Verdana" panose="020B0604030504040204" pitchFamily="34" charset="0"/>
                <a:ea typeface="Verdana" panose="020B0604030504040204" pitchFamily="34" charset="0"/>
                <a:cs typeface="Verdana" panose="020B0604030504040204" pitchFamily="34" charset="0"/>
              </a:rPr>
              <a:t>ALTER</a:t>
            </a:r>
            <a:r>
              <a:rPr lang="en-US" sz="1800" dirty="0">
                <a:latin typeface="Verdana" panose="020B0604030504040204" pitchFamily="34" charset="0"/>
                <a:ea typeface="Verdana" panose="020B0604030504040204" pitchFamily="34" charset="0"/>
                <a:cs typeface="Verdana" panose="020B0604030504040204" pitchFamily="34" charset="0"/>
              </a:rPr>
              <a:t> – alter existing table, column description</a:t>
            </a:r>
            <a:br>
              <a:rPr lang="en-US" sz="1800" dirty="0">
                <a:latin typeface="Verdana" panose="020B0604030504040204" pitchFamily="34" charset="0"/>
                <a:ea typeface="Verdana" panose="020B0604030504040204" pitchFamily="34" charset="0"/>
                <a:cs typeface="Verdana" panose="020B0604030504040204" pitchFamily="34" charset="0"/>
              </a:rPr>
            </a:br>
            <a:r>
              <a:rPr lang="en-US" sz="1800" b="1" dirty="0">
                <a:latin typeface="Verdana" panose="020B0604030504040204" pitchFamily="34" charset="0"/>
                <a:ea typeface="Verdana" panose="020B0604030504040204" pitchFamily="34" charset="0"/>
                <a:cs typeface="Verdana" panose="020B0604030504040204" pitchFamily="34" charset="0"/>
              </a:rPr>
              <a:t>DROP</a:t>
            </a:r>
            <a:r>
              <a:rPr lang="en-US" sz="1800" dirty="0">
                <a:latin typeface="Verdana" panose="020B0604030504040204" pitchFamily="34" charset="0"/>
                <a:ea typeface="Verdana" panose="020B0604030504040204" pitchFamily="34" charset="0"/>
                <a:cs typeface="Verdana" panose="020B0604030504040204" pitchFamily="34" charset="0"/>
              </a:rPr>
              <a:t> – delete existing objects from database</a:t>
            </a:r>
          </a:p>
          <a:p>
            <a:pPr marL="0" indent="0">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30F401CE-52F1-49C0-839A-6720B87ACB11}"/>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EE957527-C456-497B-9225-6F0212168C09}"/>
              </a:ext>
            </a:extLst>
          </p:cNvPr>
          <p:cNvSpPr>
            <a:spLocks noGrp="1"/>
          </p:cNvSpPr>
          <p:nvPr>
            <p:ph idx="1"/>
          </p:nvPr>
        </p:nvSpPr>
        <p:spPr>
          <a:xfrm>
            <a:off x="457200" y="381000"/>
            <a:ext cx="8058150" cy="5795963"/>
          </a:xfrm>
        </p:spPr>
        <p:txBody>
          <a:bodyPr/>
          <a:lstStyle/>
          <a:p>
            <a:pPr marL="0" indent="0">
              <a:buFont typeface="Arial" panose="020B0604020202020204" pitchFamily="34" charset="0"/>
              <a:buNone/>
            </a:pPr>
            <a:r>
              <a:rPr lang="en-US" altLang="en-US" sz="1800" b="1" dirty="0">
                <a:latin typeface="Verdana" panose="020B0604030504040204" pitchFamily="34" charset="0"/>
                <a:ea typeface="Verdana" panose="020B0604030504040204" pitchFamily="34" charset="0"/>
                <a:cs typeface="Verdana" panose="020B0604030504040204" pitchFamily="34" charset="0"/>
              </a:rPr>
              <a:t>3. DCL (Data Control Language)</a:t>
            </a:r>
          </a:p>
          <a:p>
            <a:pPr marL="0" indent="0">
              <a:buFont typeface="Arial" panose="020B0604020202020204" pitchFamily="34" charset="0"/>
              <a:buNone/>
            </a:pPr>
            <a:r>
              <a:rPr lang="en-US" altLang="en-US" sz="1800" dirty="0">
                <a:latin typeface="Verdana" panose="020B0604030504040204" pitchFamily="34" charset="0"/>
                <a:ea typeface="Verdana" panose="020B0604030504040204" pitchFamily="34" charset="0"/>
                <a:cs typeface="Verdana" panose="020B0604030504040204" pitchFamily="34" charset="0"/>
              </a:rPr>
              <a:t>DCL statements control the level of access that users have on database objects.</a:t>
            </a:r>
          </a:p>
          <a:p>
            <a:pPr marL="0" indent="0">
              <a:buFont typeface="Arial" panose="020B0604020202020204" pitchFamily="34" charset="0"/>
              <a:buNone/>
            </a:pPr>
            <a:r>
              <a:rPr lang="en-US" altLang="en-US" sz="1800" b="1" dirty="0">
                <a:latin typeface="Verdana" panose="020B0604030504040204" pitchFamily="34" charset="0"/>
                <a:ea typeface="Verdana" panose="020B0604030504040204" pitchFamily="34" charset="0"/>
                <a:cs typeface="Verdana" panose="020B0604030504040204" pitchFamily="34" charset="0"/>
              </a:rPr>
              <a:t>GRANT</a:t>
            </a:r>
            <a:r>
              <a:rPr lang="en-US" altLang="en-US" sz="1800" dirty="0">
                <a:latin typeface="Verdana" panose="020B0604030504040204" pitchFamily="34" charset="0"/>
                <a:ea typeface="Verdana" panose="020B0604030504040204" pitchFamily="34" charset="0"/>
                <a:cs typeface="Verdana" panose="020B0604030504040204" pitchFamily="34" charset="0"/>
              </a:rPr>
              <a:t> – allows users to read/write on certain database objects</a:t>
            </a:r>
            <a:br>
              <a:rPr lang="en-US" altLang="en-US" sz="1800" dirty="0">
                <a:latin typeface="Verdana" panose="020B0604030504040204" pitchFamily="34" charset="0"/>
                <a:ea typeface="Verdana" panose="020B0604030504040204" pitchFamily="34" charset="0"/>
                <a:cs typeface="Verdana" panose="020B0604030504040204" pitchFamily="34" charset="0"/>
              </a:rPr>
            </a:br>
            <a:r>
              <a:rPr lang="en-US" altLang="en-US" sz="1800" b="1" dirty="0">
                <a:latin typeface="Verdana" panose="020B0604030504040204" pitchFamily="34" charset="0"/>
                <a:ea typeface="Verdana" panose="020B0604030504040204" pitchFamily="34" charset="0"/>
                <a:cs typeface="Verdana" panose="020B0604030504040204" pitchFamily="34" charset="0"/>
              </a:rPr>
              <a:t>REVOKE</a:t>
            </a:r>
            <a:r>
              <a:rPr lang="en-US" altLang="en-US" sz="1800" dirty="0">
                <a:latin typeface="Verdana" panose="020B0604030504040204" pitchFamily="34" charset="0"/>
                <a:ea typeface="Verdana" panose="020B0604030504040204" pitchFamily="34" charset="0"/>
                <a:cs typeface="Verdana" panose="020B0604030504040204" pitchFamily="34" charset="0"/>
              </a:rPr>
              <a:t> – keeps users from read/write permission on database objects</a:t>
            </a:r>
          </a:p>
          <a:p>
            <a:pPr marL="0" indent="0">
              <a:buFont typeface="Arial" panose="020B0604020202020204" pitchFamily="34" charset="0"/>
              <a:buNone/>
            </a:pPr>
            <a:r>
              <a:rPr lang="en-US" altLang="en-US" sz="1800" b="1" dirty="0">
                <a:latin typeface="Verdana" panose="020B0604030504040204" pitchFamily="34" charset="0"/>
                <a:ea typeface="Verdana" panose="020B0604030504040204" pitchFamily="34" charset="0"/>
                <a:cs typeface="Verdana" panose="020B0604030504040204" pitchFamily="34" charset="0"/>
              </a:rPr>
              <a:t>4. TCL (Transaction Control Language)</a:t>
            </a:r>
          </a:p>
          <a:p>
            <a:pPr marL="0" indent="0">
              <a:buFont typeface="Arial" panose="020B0604020202020204" pitchFamily="34" charset="0"/>
              <a:buNone/>
            </a:pPr>
            <a:r>
              <a:rPr lang="en-US" altLang="en-US" sz="1800" dirty="0">
                <a:latin typeface="Verdana" panose="020B0604030504040204" pitchFamily="34" charset="0"/>
                <a:ea typeface="Verdana" panose="020B0604030504040204" pitchFamily="34" charset="0"/>
                <a:cs typeface="Verdana" panose="020B0604030504040204" pitchFamily="34" charset="0"/>
              </a:rPr>
              <a:t>TCL statements allow you to control and manage transactions to maintain the integrity of data within SQL statements.</a:t>
            </a:r>
          </a:p>
          <a:p>
            <a:pPr marL="0" indent="0">
              <a:buFont typeface="Arial" panose="020B0604020202020204" pitchFamily="34" charset="0"/>
              <a:buNone/>
            </a:pPr>
            <a:r>
              <a:rPr lang="en-US" altLang="en-US" sz="1800" b="1" dirty="0">
                <a:latin typeface="Verdana" panose="020B0604030504040204" pitchFamily="34" charset="0"/>
                <a:ea typeface="Verdana" panose="020B0604030504040204" pitchFamily="34" charset="0"/>
                <a:cs typeface="Verdana" panose="020B0604030504040204" pitchFamily="34" charset="0"/>
              </a:rPr>
              <a:t>BEGIN Transaction</a:t>
            </a:r>
            <a:r>
              <a:rPr lang="en-US" altLang="en-US" sz="1800" dirty="0">
                <a:latin typeface="Verdana" panose="020B0604030504040204" pitchFamily="34" charset="0"/>
                <a:ea typeface="Verdana" panose="020B0604030504040204" pitchFamily="34" charset="0"/>
                <a:cs typeface="Verdana" panose="020B0604030504040204" pitchFamily="34" charset="0"/>
              </a:rPr>
              <a:t> – opens a transaction</a:t>
            </a:r>
            <a:br>
              <a:rPr lang="en-US" altLang="en-US" sz="1800" dirty="0">
                <a:latin typeface="Verdana" panose="020B0604030504040204" pitchFamily="34" charset="0"/>
                <a:ea typeface="Verdana" panose="020B0604030504040204" pitchFamily="34" charset="0"/>
                <a:cs typeface="Verdana" panose="020B0604030504040204" pitchFamily="34" charset="0"/>
              </a:rPr>
            </a:br>
            <a:r>
              <a:rPr lang="en-US" altLang="en-US" sz="1800" b="1" dirty="0">
                <a:latin typeface="Verdana" panose="020B0604030504040204" pitchFamily="34" charset="0"/>
                <a:ea typeface="Verdana" panose="020B0604030504040204" pitchFamily="34" charset="0"/>
                <a:cs typeface="Verdana" panose="020B0604030504040204" pitchFamily="34" charset="0"/>
              </a:rPr>
              <a:t>COMMIT Transaction</a:t>
            </a:r>
            <a:r>
              <a:rPr lang="en-US" altLang="en-US" sz="1800" dirty="0">
                <a:latin typeface="Verdana" panose="020B0604030504040204" pitchFamily="34" charset="0"/>
                <a:ea typeface="Verdana" panose="020B0604030504040204" pitchFamily="34" charset="0"/>
                <a:cs typeface="Verdana" panose="020B0604030504040204" pitchFamily="34" charset="0"/>
              </a:rPr>
              <a:t> – commits a transaction</a:t>
            </a:r>
            <a:br>
              <a:rPr lang="en-US" altLang="en-US" sz="1800" dirty="0">
                <a:latin typeface="Verdana" panose="020B0604030504040204" pitchFamily="34" charset="0"/>
                <a:ea typeface="Verdana" panose="020B0604030504040204" pitchFamily="34" charset="0"/>
                <a:cs typeface="Verdana" panose="020B0604030504040204" pitchFamily="34" charset="0"/>
              </a:rPr>
            </a:br>
            <a:r>
              <a:rPr lang="en-US" altLang="en-US" sz="1800" b="1" dirty="0">
                <a:latin typeface="Verdana" panose="020B0604030504040204" pitchFamily="34" charset="0"/>
                <a:ea typeface="Verdana" panose="020B0604030504040204" pitchFamily="34" charset="0"/>
                <a:cs typeface="Verdana" panose="020B0604030504040204" pitchFamily="34" charset="0"/>
              </a:rPr>
              <a:t>ROLLBACK Transaction</a:t>
            </a:r>
            <a:r>
              <a:rPr lang="en-US" altLang="en-US" sz="1800" dirty="0">
                <a:latin typeface="Verdana" panose="020B0604030504040204" pitchFamily="34" charset="0"/>
                <a:ea typeface="Verdana" panose="020B0604030504040204" pitchFamily="34" charset="0"/>
                <a:cs typeface="Verdana" panose="020B0604030504040204" pitchFamily="34" charset="0"/>
              </a:rPr>
              <a:t> – ROLLBACK a transaction in case of any error</a:t>
            </a:r>
          </a:p>
          <a:p>
            <a:pPr marL="0" indent="0">
              <a:buFont typeface="Arial" panose="020B0604020202020204" pitchFamily="34" charset="0"/>
              <a:buNone/>
            </a:pPr>
            <a:endParaRPr lang="en-US" altLang="en-US" dirty="0"/>
          </a:p>
          <a:p>
            <a:pPr marL="0" indent="0">
              <a:buFont typeface="Arial" panose="020B0604020202020204" pitchFamily="34" charset="0"/>
              <a:buNone/>
            </a:pPr>
            <a:endParaRPr lang="en-US" altLang="en-US" dirty="0"/>
          </a:p>
        </p:txBody>
      </p:sp>
      <p:sp>
        <p:nvSpPr>
          <p:cNvPr id="4" name="Date Placeholder 3">
            <a:extLst>
              <a:ext uri="{FF2B5EF4-FFF2-40B4-BE49-F238E27FC236}">
                <a16:creationId xmlns:a16="http://schemas.microsoft.com/office/drawing/2014/main" id="{86DA79DA-788C-4C5A-8DA1-EE733968A003}"/>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4846ED-9C4E-4F31-B426-186DB4D82EBB}"/>
              </a:ext>
            </a:extLst>
          </p:cNvPr>
          <p:cNvSpPr>
            <a:spLocks noGrp="1"/>
          </p:cNvSpPr>
          <p:nvPr>
            <p:ph idx="1"/>
          </p:nvPr>
        </p:nvSpPr>
        <p:spPr>
          <a:xfrm>
            <a:off x="457200" y="228600"/>
            <a:ext cx="7886700" cy="5948363"/>
          </a:xfrm>
        </p:spPr>
        <p:txBody>
          <a:bodyPr/>
          <a:lstStyle/>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Alter command</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alter command is used for alteration of table structures. There are various uses of alter command, such as,</a:t>
            </a:r>
          </a:p>
          <a:p>
            <a:pPr marL="0" indent="0">
              <a:buFont typeface="Arial" panose="020B0604020202020204" pitchFamily="34" charset="0"/>
              <a:buNone/>
              <a:defRPr/>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to add a column to existing table</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to rename any existing column</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to change datatype of any column or to modify its size.</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alter is also used to drop a column.</a:t>
            </a:r>
          </a:p>
          <a:p>
            <a:pPr marL="0" indent="0">
              <a:buFont typeface="Arial" panose="020B0604020202020204" pitchFamily="34" charset="0"/>
              <a:buNone/>
              <a:defRPr/>
            </a:pPr>
            <a:r>
              <a:rPr lang="en-US" dirty="0"/>
              <a:t>    Examples: Refer PLSQL_EXAMPLES_DAY_1_2 doc file</a:t>
            </a:r>
          </a:p>
        </p:txBody>
      </p:sp>
      <p:sp>
        <p:nvSpPr>
          <p:cNvPr id="4" name="Date Placeholder 3">
            <a:extLst>
              <a:ext uri="{FF2B5EF4-FFF2-40B4-BE49-F238E27FC236}">
                <a16:creationId xmlns:a16="http://schemas.microsoft.com/office/drawing/2014/main" id="{79DE06AA-A737-494B-B318-0CB5E7729755}"/>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a:extLst>
              <a:ext uri="{FF2B5EF4-FFF2-40B4-BE49-F238E27FC236}">
                <a16:creationId xmlns:a16="http://schemas.microsoft.com/office/drawing/2014/main" id="{87AB8690-0EC6-4C31-B572-CE5787C3DE31}"/>
              </a:ext>
            </a:extLst>
          </p:cNvPr>
          <p:cNvSpPr>
            <a:spLocks noGrp="1"/>
          </p:cNvSpPr>
          <p:nvPr>
            <p:ph idx="1"/>
          </p:nvPr>
        </p:nvSpPr>
        <p:spPr>
          <a:xfrm>
            <a:off x="304800" y="331787"/>
            <a:ext cx="8058150" cy="6024563"/>
          </a:xfrm>
        </p:spPr>
        <p:txBody>
          <a:bodyPr/>
          <a:lstStyle/>
          <a:p>
            <a:pPr marL="0" indent="0">
              <a:buFont typeface="Arial" panose="020B0604020202020204" pitchFamily="34" charset="0"/>
              <a:buNone/>
            </a:pPr>
            <a:r>
              <a:rPr lang="en-US" altLang="en-US" dirty="0">
                <a:highlight>
                  <a:srgbClr val="FFFF00"/>
                </a:highlight>
                <a:latin typeface="Verdana" panose="020B0604030504040204" pitchFamily="34" charset="0"/>
                <a:ea typeface="Verdana" panose="020B0604030504040204" pitchFamily="34" charset="0"/>
                <a:cs typeface="Verdana" panose="020B0604030504040204" pitchFamily="34" charset="0"/>
              </a:rPr>
              <a:t>JOINS:</a:t>
            </a:r>
          </a:p>
          <a:p>
            <a:pPr marL="0" indent="0">
              <a:buFont typeface="Arial" panose="020B0604020202020204" pitchFamily="34" charset="0"/>
              <a:buNone/>
            </a:pPr>
            <a:r>
              <a:rPr lang="en-US" altLang="en-US" sz="1800" b="1" dirty="0">
                <a:latin typeface="Verdana" panose="020B0604030504040204" pitchFamily="34" charset="0"/>
                <a:ea typeface="Verdana" panose="020B0604030504040204" pitchFamily="34" charset="0"/>
                <a:cs typeface="Verdana" panose="020B0604030504040204" pitchFamily="34" charset="0"/>
              </a:rPr>
              <a:t>INNER Join or EQUI Join</a:t>
            </a:r>
          </a:p>
          <a:p>
            <a:pPr marL="0" indent="0">
              <a:buFont typeface="Arial" panose="020B0604020202020204" pitchFamily="34" charset="0"/>
              <a:buNone/>
            </a:pPr>
            <a:r>
              <a:rPr lang="en-US" altLang="en-US" sz="1800" dirty="0">
                <a:latin typeface="Verdana" panose="020B0604030504040204" pitchFamily="34" charset="0"/>
                <a:ea typeface="Verdana" panose="020B0604030504040204" pitchFamily="34" charset="0"/>
                <a:cs typeface="Verdana" panose="020B0604030504040204" pitchFamily="34" charset="0"/>
              </a:rPr>
              <a:t>This is a simple JOIN in which the result is based on matched data as per the equality condition specified in the query.</a:t>
            </a:r>
          </a:p>
          <a:p>
            <a:pPr marL="0" indent="0">
              <a:buFont typeface="Arial" panose="020B0604020202020204" pitchFamily="34" charset="0"/>
              <a:buNone/>
            </a:pPr>
            <a:endParaRPr lang="en-US" alt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dirty="0">
                <a:latin typeface="Verdana" panose="020B0604030504040204" pitchFamily="34" charset="0"/>
                <a:ea typeface="Verdana" panose="020B0604030504040204" pitchFamily="34" charset="0"/>
                <a:cs typeface="Verdana" panose="020B0604030504040204" pitchFamily="34" charset="0"/>
              </a:rPr>
              <a:t>SELECT * from class, </a:t>
            </a:r>
            <a:r>
              <a:rPr lang="en-US" altLang="en-US" sz="1800" dirty="0" err="1">
                <a:latin typeface="Verdana" panose="020B0604030504040204" pitchFamily="34" charset="0"/>
                <a:ea typeface="Verdana" panose="020B0604030504040204" pitchFamily="34" charset="0"/>
                <a:cs typeface="Verdana" panose="020B0604030504040204" pitchFamily="34" charset="0"/>
              </a:rPr>
              <a:t>class_info</a:t>
            </a:r>
            <a:r>
              <a:rPr lang="en-US" altLang="en-US" sz="1800" dirty="0">
                <a:latin typeface="Verdana" panose="020B0604030504040204" pitchFamily="34" charset="0"/>
                <a:ea typeface="Verdana" panose="020B0604030504040204" pitchFamily="34" charset="0"/>
                <a:cs typeface="Verdana" panose="020B0604030504040204" pitchFamily="34" charset="0"/>
              </a:rPr>
              <a:t> where class.id = class_info.id;</a:t>
            </a:r>
          </a:p>
          <a:p>
            <a:pPr marL="0" indent="0">
              <a:buFont typeface="Arial" panose="020B0604020202020204" pitchFamily="34" charset="0"/>
              <a:buNone/>
            </a:pPr>
            <a:endParaRPr lang="en-US" alt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b="1" dirty="0">
                <a:latin typeface="Verdana" panose="020B0604030504040204" pitchFamily="34" charset="0"/>
                <a:ea typeface="Verdana" panose="020B0604030504040204" pitchFamily="34" charset="0"/>
                <a:cs typeface="Verdana" panose="020B0604030504040204" pitchFamily="34" charset="0"/>
              </a:rPr>
              <a:t>NATURAL JOIN:</a:t>
            </a:r>
          </a:p>
          <a:p>
            <a:pPr marL="0" indent="0">
              <a:buFont typeface="Arial" panose="020B0604020202020204" pitchFamily="34" charset="0"/>
              <a:buNone/>
            </a:pPr>
            <a:r>
              <a:rPr lang="en-US" altLang="en-US" sz="1800" dirty="0">
                <a:latin typeface="Verdana" panose="020B0604030504040204" pitchFamily="34" charset="0"/>
                <a:ea typeface="Verdana" panose="020B0604030504040204" pitchFamily="34" charset="0"/>
                <a:cs typeface="Verdana" panose="020B0604030504040204" pitchFamily="34" charset="0"/>
              </a:rPr>
              <a:t>Natural Join is a type of Inner join which is based on column having same name and same datatype present in both the tables to be joined.</a:t>
            </a:r>
          </a:p>
          <a:p>
            <a:pPr marL="0" indent="0">
              <a:buFont typeface="Arial" panose="020B0604020202020204" pitchFamily="34" charset="0"/>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dirty="0">
                <a:latin typeface="Verdana" panose="020B0604030504040204" pitchFamily="34" charset="0"/>
                <a:ea typeface="Verdana" panose="020B0604030504040204" pitchFamily="34" charset="0"/>
                <a:cs typeface="Verdana" panose="020B0604030504040204" pitchFamily="34" charset="0"/>
              </a:rPr>
              <a:t>SELECT * from class NATURAL JOIN </a:t>
            </a:r>
            <a:r>
              <a:rPr lang="en-US" altLang="en-US" sz="1800" dirty="0" err="1">
                <a:latin typeface="Verdana" panose="020B0604030504040204" pitchFamily="34" charset="0"/>
                <a:ea typeface="Verdana" panose="020B0604030504040204" pitchFamily="34" charset="0"/>
                <a:cs typeface="Verdana" panose="020B0604030504040204" pitchFamily="34" charset="0"/>
              </a:rPr>
              <a:t>class_info</a:t>
            </a:r>
            <a:r>
              <a:rPr lang="en-US" altLang="en-US" sz="18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endParaRPr lang="en-US" alt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endParaRPr lang="en-US" altLang="en-US" dirty="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836A7C44-2BA2-46FC-AAD9-CE4414FBBBBE}"/>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111041-7F4D-4C58-AB7F-3F80C1DEC663}"/>
              </a:ext>
            </a:extLst>
          </p:cNvPr>
          <p:cNvSpPr>
            <a:spLocks noGrp="1"/>
          </p:cNvSpPr>
          <p:nvPr>
            <p:ph idx="1"/>
          </p:nvPr>
        </p:nvSpPr>
        <p:spPr>
          <a:xfrm>
            <a:off x="628650" y="228600"/>
            <a:ext cx="7886700" cy="5948363"/>
          </a:xfrm>
        </p:spPr>
        <p:txBody>
          <a:bodyPr/>
          <a:lstStyle/>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OUTER JOIN:</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Outer Join is based on both matched and unmatched data. Outer Joins subdivide further into,</a:t>
            </a:r>
          </a:p>
          <a:p>
            <a:pPr marL="342900" indent="-342900">
              <a:buFont typeface="+mj-lt"/>
              <a:buAutoNum type="arabicPeriod"/>
              <a:defRPr/>
            </a:pPr>
            <a:r>
              <a:rPr lang="en-US" sz="1800" b="1" dirty="0">
                <a:latin typeface="Verdana" panose="020B0604030504040204" pitchFamily="34" charset="0"/>
                <a:ea typeface="Verdana" panose="020B0604030504040204" pitchFamily="34" charset="0"/>
                <a:cs typeface="Verdana" panose="020B0604030504040204" pitchFamily="34" charset="0"/>
              </a:rPr>
              <a:t>Left Outer Join</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The left outer join returns a result table with the matched data of two tables then remaining rows of the left able and null for the right table's column.</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SELECT * FROM class LEFT OUTER JOIN </a:t>
            </a:r>
            <a:r>
              <a:rPr lang="en-US" sz="1800" dirty="0" err="1">
                <a:latin typeface="Verdana" panose="020B0604030504040204" pitchFamily="34" charset="0"/>
                <a:ea typeface="Verdana" panose="020B0604030504040204" pitchFamily="34" charset="0"/>
                <a:cs typeface="Verdana" panose="020B0604030504040204" pitchFamily="34" charset="0"/>
              </a:rPr>
              <a:t>class_info</a:t>
            </a:r>
            <a:r>
              <a:rPr lang="en-US" sz="1800" dirty="0">
                <a:latin typeface="Verdana" panose="020B0604030504040204" pitchFamily="34" charset="0"/>
                <a:ea typeface="Verdana" panose="020B0604030504040204" pitchFamily="34" charset="0"/>
                <a:cs typeface="Verdana" panose="020B0604030504040204" pitchFamily="34" charset="0"/>
              </a:rPr>
              <a:t> ON (class.id=class_info.id);</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2. </a:t>
            </a:r>
            <a:r>
              <a:rPr lang="en-US" sz="1800" b="1" dirty="0">
                <a:latin typeface="Verdana" panose="020B0604030504040204" pitchFamily="34" charset="0"/>
                <a:ea typeface="Verdana" panose="020B0604030504040204" pitchFamily="34" charset="0"/>
                <a:cs typeface="Verdana" panose="020B0604030504040204" pitchFamily="34" charset="0"/>
              </a:rPr>
              <a:t>Right Outer Join</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The right outer join returns a result table with the matched data of two tables then remaining rows of the right table and null for the left table's columns.</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SELECT * FROM class RIGHT OUTER JOIN </a:t>
            </a:r>
            <a:r>
              <a:rPr lang="en-US" sz="1800" dirty="0" err="1">
                <a:latin typeface="Verdana" panose="020B0604030504040204" pitchFamily="34" charset="0"/>
                <a:ea typeface="Verdana" panose="020B0604030504040204" pitchFamily="34" charset="0"/>
                <a:cs typeface="Verdana" panose="020B0604030504040204" pitchFamily="34" charset="0"/>
              </a:rPr>
              <a:t>class_info</a:t>
            </a:r>
            <a:r>
              <a:rPr lang="en-US" sz="1800" dirty="0">
                <a:latin typeface="Verdana" panose="020B0604030504040204" pitchFamily="34" charset="0"/>
                <a:ea typeface="Verdana" panose="020B0604030504040204" pitchFamily="34" charset="0"/>
                <a:cs typeface="Verdana" panose="020B0604030504040204" pitchFamily="34" charset="0"/>
              </a:rPr>
              <a:t> on (class.id=class_info.id);</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3. </a:t>
            </a:r>
            <a:r>
              <a:rPr lang="en-US" sz="1800" b="1" dirty="0">
                <a:latin typeface="Verdana" panose="020B0604030504040204" pitchFamily="34" charset="0"/>
                <a:ea typeface="Verdana" panose="020B0604030504040204" pitchFamily="34" charset="0"/>
                <a:cs typeface="Verdana" panose="020B0604030504040204" pitchFamily="34" charset="0"/>
              </a:rPr>
              <a:t>Full Outer Join</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SELECT * FROM class FULL OUTER JOIN </a:t>
            </a:r>
            <a:r>
              <a:rPr lang="en-US" sz="1800" dirty="0" err="1">
                <a:latin typeface="Verdana" panose="020B0604030504040204" pitchFamily="34" charset="0"/>
                <a:ea typeface="Verdana" panose="020B0604030504040204" pitchFamily="34" charset="0"/>
                <a:cs typeface="Verdana" panose="020B0604030504040204" pitchFamily="34" charset="0"/>
              </a:rPr>
              <a:t>class_info</a:t>
            </a:r>
            <a:r>
              <a:rPr lang="en-US" sz="1800" dirty="0">
                <a:latin typeface="Verdana" panose="020B0604030504040204" pitchFamily="34" charset="0"/>
                <a:ea typeface="Verdana" panose="020B0604030504040204" pitchFamily="34" charset="0"/>
                <a:cs typeface="Verdana" panose="020B0604030504040204" pitchFamily="34" charset="0"/>
              </a:rPr>
              <a:t> on (class.id=class_info.id);</a:t>
            </a:r>
          </a:p>
          <a:p>
            <a:pPr marL="0" indent="0">
              <a:buFont typeface="Arial" panose="020B0604020202020204" pitchFamily="34" charset="0"/>
              <a:buNone/>
              <a:defRPr/>
            </a:pPr>
            <a:endParaRPr lang="en-US" sz="1800" dirty="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E57F212F-53ED-49F2-A9CF-80D299D0DA03}"/>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a:extLst>
              <a:ext uri="{FF2B5EF4-FFF2-40B4-BE49-F238E27FC236}">
                <a16:creationId xmlns:a16="http://schemas.microsoft.com/office/drawing/2014/main" id="{1F1C885D-1176-4CC0-B900-22D20BCBD314}"/>
              </a:ext>
            </a:extLst>
          </p:cNvPr>
          <p:cNvSpPr>
            <a:spLocks noGrp="1" noChangeArrowheads="1"/>
          </p:cNvSpPr>
          <p:nvPr>
            <p:ph type="ctrTitle"/>
          </p:nvPr>
        </p:nvSpPr>
        <p:spPr>
          <a:xfrm>
            <a:off x="838200" y="0"/>
            <a:ext cx="8001000" cy="669925"/>
          </a:xfrm>
        </p:spPr>
        <p:txBody>
          <a:bodyPr rtlCol="0" anchor="ctr">
            <a:normAutofit fontScale="90000"/>
          </a:bodyPr>
          <a:lstStyle/>
          <a:p>
            <a:pPr algn="l" eaLnBrk="1" fontAlgn="auto" hangingPunct="1">
              <a:spcAft>
                <a:spcPts val="0"/>
              </a:spcAft>
              <a:defRPr/>
            </a:pPr>
            <a:br>
              <a:rPr lang="en-US" sz="3600" b="1" dirty="0"/>
            </a:br>
            <a:r>
              <a:rPr lang="en-US" sz="2200" b="1" u="sng" dirty="0">
                <a:latin typeface="Verdana" panose="020B0604030504040204" pitchFamily="34" charset="0"/>
                <a:ea typeface="Verdana" panose="020B0604030504040204" pitchFamily="34" charset="0"/>
                <a:cs typeface="Verdana" panose="020B0604030504040204" pitchFamily="34" charset="0"/>
              </a:rPr>
              <a:t>Features of PL/SQL</a:t>
            </a:r>
            <a:br>
              <a:rPr lang="en-US" sz="2200" b="1" u="sng" dirty="0">
                <a:latin typeface="Verdana" panose="020B0604030504040204" pitchFamily="34" charset="0"/>
                <a:ea typeface="Verdana" panose="020B0604030504040204" pitchFamily="34" charset="0"/>
                <a:cs typeface="Verdana" panose="020B0604030504040204" pitchFamily="34" charset="0"/>
              </a:rPr>
            </a:br>
            <a:endParaRPr lang="en-US" altLang="en-US" sz="2200" b="1" u="sng" dirty="0">
              <a:latin typeface="Verdana" panose="020B0604030504040204" pitchFamily="34" charset="0"/>
              <a:ea typeface="Verdana" panose="020B0604030504040204" pitchFamily="34" charset="0"/>
              <a:cs typeface="Verdana" panose="020B0604030504040204" pitchFamily="34" charset="0"/>
            </a:endParaRPr>
          </a:p>
        </p:txBody>
      </p:sp>
      <p:sp>
        <p:nvSpPr>
          <p:cNvPr id="15363" name="Rectangle 3">
            <a:extLst>
              <a:ext uri="{FF2B5EF4-FFF2-40B4-BE49-F238E27FC236}">
                <a16:creationId xmlns:a16="http://schemas.microsoft.com/office/drawing/2014/main" id="{1FB9D6EC-99EE-4A3C-8DF6-77B9EE5C604A}"/>
              </a:ext>
            </a:extLst>
          </p:cNvPr>
          <p:cNvSpPr>
            <a:spLocks noGrp="1"/>
          </p:cNvSpPr>
          <p:nvPr>
            <p:ph type="subTitle" idx="1"/>
          </p:nvPr>
        </p:nvSpPr>
        <p:spPr>
          <a:xfrm>
            <a:off x="152400" y="669925"/>
            <a:ext cx="8077200" cy="5730875"/>
          </a:xfrm>
        </p:spPr>
        <p:txBody>
          <a:bodyPr/>
          <a:lstStyle/>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PL/SQL has the following features −</a:t>
            </a:r>
          </a:p>
          <a:p>
            <a:pPr algn="l" eaLnBrk="1" hangingPunct="1">
              <a:buFont typeface="Calibri Light" panose="020F0302020204030204" pitchFamily="34" charset="0"/>
              <a:buAutoNum type="arabicPeriod"/>
            </a:pPr>
            <a:r>
              <a:rPr lang="en-US" altLang="en-US">
                <a:latin typeface="Verdana" panose="020B0604030504040204" pitchFamily="34" charset="0"/>
                <a:ea typeface="Verdana" panose="020B0604030504040204" pitchFamily="34" charset="0"/>
                <a:cs typeface="Verdana" panose="020B0604030504040204" pitchFamily="34" charset="0"/>
              </a:rPr>
              <a:t>PL/SQL is tightly integrated with SQL.</a:t>
            </a:r>
          </a:p>
          <a:p>
            <a:pPr algn="l" eaLnBrk="1" hangingPunct="1">
              <a:buFont typeface="Calibri Light" panose="020F0302020204030204" pitchFamily="34" charset="0"/>
              <a:buAutoNum type="arabicPeriod"/>
            </a:pPr>
            <a:r>
              <a:rPr lang="en-US" altLang="en-US">
                <a:latin typeface="Verdana" panose="020B0604030504040204" pitchFamily="34" charset="0"/>
                <a:ea typeface="Verdana" panose="020B0604030504040204" pitchFamily="34" charset="0"/>
                <a:cs typeface="Verdana" panose="020B0604030504040204" pitchFamily="34" charset="0"/>
              </a:rPr>
              <a:t>It offers extensive error checking.</a:t>
            </a:r>
          </a:p>
          <a:p>
            <a:pPr algn="l" eaLnBrk="1" hangingPunct="1">
              <a:buFont typeface="Calibri Light" panose="020F0302020204030204" pitchFamily="34" charset="0"/>
              <a:buAutoNum type="arabicPeriod"/>
            </a:pPr>
            <a:r>
              <a:rPr lang="en-US" altLang="en-US">
                <a:latin typeface="Verdana" panose="020B0604030504040204" pitchFamily="34" charset="0"/>
                <a:ea typeface="Verdana" panose="020B0604030504040204" pitchFamily="34" charset="0"/>
                <a:cs typeface="Verdana" panose="020B0604030504040204" pitchFamily="34" charset="0"/>
              </a:rPr>
              <a:t>It offers numerous data types.</a:t>
            </a:r>
          </a:p>
          <a:p>
            <a:pPr algn="l" eaLnBrk="1" hangingPunct="1">
              <a:buFont typeface="Calibri Light" panose="020F0302020204030204" pitchFamily="34" charset="0"/>
              <a:buAutoNum type="arabicPeriod"/>
            </a:pPr>
            <a:r>
              <a:rPr lang="en-US" altLang="en-US">
                <a:latin typeface="Verdana" panose="020B0604030504040204" pitchFamily="34" charset="0"/>
                <a:ea typeface="Verdana" panose="020B0604030504040204" pitchFamily="34" charset="0"/>
                <a:cs typeface="Verdana" panose="020B0604030504040204" pitchFamily="34" charset="0"/>
              </a:rPr>
              <a:t>It offers a variety of programming structures.</a:t>
            </a:r>
          </a:p>
          <a:p>
            <a:pPr algn="l" eaLnBrk="1" hangingPunct="1">
              <a:buFont typeface="Calibri Light" panose="020F0302020204030204" pitchFamily="34" charset="0"/>
              <a:buAutoNum type="arabicPeriod"/>
            </a:pPr>
            <a:r>
              <a:rPr lang="en-US" altLang="en-US">
                <a:latin typeface="Verdana" panose="020B0604030504040204" pitchFamily="34" charset="0"/>
                <a:ea typeface="Verdana" panose="020B0604030504040204" pitchFamily="34" charset="0"/>
                <a:cs typeface="Verdana" panose="020B0604030504040204" pitchFamily="34" charset="0"/>
              </a:rPr>
              <a:t>It supports structured programming through functions and procedures.</a:t>
            </a:r>
          </a:p>
          <a:p>
            <a:pPr algn="l" eaLnBrk="1" hangingPunct="1">
              <a:buFont typeface="Calibri Light" panose="020F0302020204030204" pitchFamily="34" charset="0"/>
              <a:buAutoNum type="arabicPeriod"/>
            </a:pPr>
            <a:r>
              <a:rPr lang="en-US" altLang="en-US">
                <a:latin typeface="Verdana" panose="020B0604030504040204" pitchFamily="34" charset="0"/>
                <a:ea typeface="Verdana" panose="020B0604030504040204" pitchFamily="34" charset="0"/>
                <a:cs typeface="Verdana" panose="020B0604030504040204" pitchFamily="34" charset="0"/>
              </a:rPr>
              <a:t>It supports object-oriented programming.</a:t>
            </a:r>
          </a:p>
          <a:p>
            <a:pPr algn="l" eaLnBrk="1" hangingPunct="1">
              <a:buFont typeface="Calibri Light" panose="020F0302020204030204" pitchFamily="34" charset="0"/>
              <a:buAutoNum type="arabicPeriod"/>
            </a:pPr>
            <a:r>
              <a:rPr lang="en-US" altLang="en-US">
                <a:latin typeface="Verdana" panose="020B0604030504040204" pitchFamily="34" charset="0"/>
                <a:ea typeface="Verdana" panose="020B0604030504040204" pitchFamily="34" charset="0"/>
                <a:cs typeface="Verdana" panose="020B0604030504040204" pitchFamily="34" charset="0"/>
              </a:rPr>
              <a:t>It supports the development of web applications and server pages.</a:t>
            </a:r>
          </a:p>
          <a:p>
            <a:pPr algn="just" eaLnBrk="1" hangingPunct="1"/>
            <a:endParaRPr lang="en-US" altLang="en-US" sz="2800">
              <a:ea typeface="Arial Unicode MS" panose="020B0604020202020204" pitchFamily="34" charset="-128"/>
              <a:cs typeface="Arial Unicode MS" panose="020B0604020202020204" pitchFamily="34" charset="-128"/>
            </a:endParaRPr>
          </a:p>
        </p:txBody>
      </p:sp>
      <p:sp>
        <p:nvSpPr>
          <p:cNvPr id="4" name="Date Placeholder 3">
            <a:extLst>
              <a:ext uri="{FF2B5EF4-FFF2-40B4-BE49-F238E27FC236}">
                <a16:creationId xmlns:a16="http://schemas.microsoft.com/office/drawing/2014/main" id="{895E3CCF-61F3-4072-9722-A035F25C10BA}"/>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D9C4051-1C47-4A10-B298-6C67BEA4976C}"/>
              </a:ext>
            </a:extLst>
          </p:cNvPr>
          <p:cNvSpPr>
            <a:spLocks noGrp="1"/>
          </p:cNvSpPr>
          <p:nvPr>
            <p:ph type="ctrTitle"/>
          </p:nvPr>
        </p:nvSpPr>
        <p:spPr>
          <a:xfrm>
            <a:off x="228600" y="0"/>
            <a:ext cx="8610600" cy="760413"/>
          </a:xfrm>
        </p:spPr>
        <p:txBody>
          <a:bodyPr anchor="ctr"/>
          <a:lstStyle/>
          <a:p>
            <a:pPr algn="l" eaLnBrk="1" hangingPunct="1"/>
            <a:r>
              <a:rPr lang="en-US" altLang="en-US" sz="2000" u="sng">
                <a:latin typeface="Verdana" panose="020B0604030504040204" pitchFamily="34" charset="0"/>
                <a:ea typeface="Verdana" panose="020B0604030504040204" pitchFamily="34" charset="0"/>
                <a:cs typeface="Verdana" panose="020B0604030504040204" pitchFamily="34" charset="0"/>
              </a:rPr>
              <a:t>PL/SQL – BASIC SYNTAX:</a:t>
            </a:r>
          </a:p>
        </p:txBody>
      </p:sp>
      <p:sp>
        <p:nvSpPr>
          <p:cNvPr id="16387" name="Rectangle 3">
            <a:extLst>
              <a:ext uri="{FF2B5EF4-FFF2-40B4-BE49-F238E27FC236}">
                <a16:creationId xmlns:a16="http://schemas.microsoft.com/office/drawing/2014/main" id="{8FBAE6F6-CB1F-4BB1-B8E0-AC3805288750}"/>
              </a:ext>
            </a:extLst>
          </p:cNvPr>
          <p:cNvSpPr>
            <a:spLocks noGrp="1"/>
          </p:cNvSpPr>
          <p:nvPr>
            <p:ph type="subTitle" idx="1"/>
          </p:nvPr>
        </p:nvSpPr>
        <p:spPr>
          <a:xfrm>
            <a:off x="152400" y="533400"/>
            <a:ext cx="8458200" cy="5638800"/>
          </a:xfrm>
        </p:spPr>
        <p:txBody>
          <a:bodyPr/>
          <a:lstStyle/>
          <a:p>
            <a:pPr marL="781050" indent="-609600" algn="l" eaLnBrk="1" hangingPunct="1"/>
            <a:r>
              <a:rPr lang="en-US" altLang="en-US">
                <a:latin typeface="Verdana" panose="020B0604030504040204" pitchFamily="34" charset="0"/>
                <a:ea typeface="Verdana" panose="020B0604030504040204" pitchFamily="34" charset="0"/>
                <a:cs typeface="Verdana" panose="020B0604030504040204" pitchFamily="34" charset="0"/>
              </a:rPr>
              <a:t>The Basic Syntax of PL/SQL which is a </a:t>
            </a:r>
            <a:r>
              <a:rPr lang="en-US" altLang="en-US" b="1">
                <a:latin typeface="Verdana" panose="020B0604030504040204" pitchFamily="34" charset="0"/>
                <a:ea typeface="Verdana" panose="020B0604030504040204" pitchFamily="34" charset="0"/>
                <a:cs typeface="Verdana" panose="020B0604030504040204" pitchFamily="34" charset="0"/>
              </a:rPr>
              <a:t>block-</a:t>
            </a:r>
          </a:p>
          <a:p>
            <a:pPr marL="781050" indent="-609600" algn="l" eaLnBrk="1" hangingPunct="1"/>
            <a:r>
              <a:rPr lang="en-US" altLang="en-US" b="1">
                <a:latin typeface="Verdana" panose="020B0604030504040204" pitchFamily="34" charset="0"/>
                <a:ea typeface="Verdana" panose="020B0604030504040204" pitchFamily="34" charset="0"/>
                <a:cs typeface="Verdana" panose="020B0604030504040204" pitchFamily="34" charset="0"/>
              </a:rPr>
              <a:t>structured</a:t>
            </a:r>
            <a:r>
              <a:rPr lang="en-US" altLang="en-US">
                <a:latin typeface="Verdana" panose="020B0604030504040204" pitchFamily="34" charset="0"/>
                <a:ea typeface="Verdana" panose="020B0604030504040204" pitchFamily="34" charset="0"/>
                <a:cs typeface="Verdana" panose="020B0604030504040204" pitchFamily="34" charset="0"/>
              </a:rPr>
              <a:t> language; this means that the PL/SQL programs are</a:t>
            </a:r>
          </a:p>
          <a:p>
            <a:pPr marL="781050" indent="-609600" algn="l" eaLnBrk="1" hangingPunct="1"/>
            <a:r>
              <a:rPr lang="en-US" altLang="en-US">
                <a:latin typeface="Verdana" panose="020B0604030504040204" pitchFamily="34" charset="0"/>
                <a:ea typeface="Verdana" panose="020B0604030504040204" pitchFamily="34" charset="0"/>
                <a:cs typeface="Verdana" panose="020B0604030504040204" pitchFamily="34" charset="0"/>
              </a:rPr>
              <a:t>divided and written in logical blocks of code. Each block consist</a:t>
            </a:r>
          </a:p>
          <a:p>
            <a:pPr marL="781050" indent="-609600" algn="l" eaLnBrk="1" hangingPunct="1"/>
            <a:r>
              <a:rPr lang="en-US" altLang="en-US">
                <a:latin typeface="Verdana" panose="020B0604030504040204" pitchFamily="34" charset="0"/>
                <a:ea typeface="Verdana" panose="020B0604030504040204" pitchFamily="34" charset="0"/>
                <a:cs typeface="Verdana" panose="020B0604030504040204" pitchFamily="34" charset="0"/>
              </a:rPr>
              <a:t>of three sub-parts –</a:t>
            </a:r>
          </a:p>
          <a:p>
            <a:pPr marL="781050" indent="-609600" algn="l" eaLnBrk="1" hangingPunct="1"/>
            <a:endParaRPr lang="en-US" altLang="en-US" sz="2000">
              <a:latin typeface="Verdana" panose="020B0604030504040204" pitchFamily="34" charset="0"/>
              <a:ea typeface="Verdana" panose="020B0604030504040204" pitchFamily="34" charset="0"/>
              <a:cs typeface="Verdana" panose="020B0604030504040204" pitchFamily="34" charset="0"/>
            </a:endParaRPr>
          </a:p>
          <a:p>
            <a:pPr marL="781050" indent="-609600" algn="l" eaLnBrk="1" hangingPunct="1"/>
            <a:endParaRPr lang="en-US" altLang="en-US">
              <a:ea typeface="Arial Unicode MS" panose="020B0604020202020204" pitchFamily="34" charset="-128"/>
              <a:cs typeface="Arial Unicode MS" panose="020B0604020202020204" pitchFamily="34" charset="-128"/>
            </a:endParaRPr>
          </a:p>
        </p:txBody>
      </p:sp>
      <p:sp>
        <p:nvSpPr>
          <p:cNvPr id="4" name="Date Placeholder 3">
            <a:extLst>
              <a:ext uri="{FF2B5EF4-FFF2-40B4-BE49-F238E27FC236}">
                <a16:creationId xmlns:a16="http://schemas.microsoft.com/office/drawing/2014/main" id="{69B172C1-904F-4DDD-AD89-59DBF7C13651}"/>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graphicFrame>
        <p:nvGraphicFramePr>
          <p:cNvPr id="3" name="Table 2">
            <a:extLst>
              <a:ext uri="{FF2B5EF4-FFF2-40B4-BE49-F238E27FC236}">
                <a16:creationId xmlns:a16="http://schemas.microsoft.com/office/drawing/2014/main" id="{FF7DE305-F4CA-4523-9C56-31C56111C318}"/>
              </a:ext>
            </a:extLst>
          </p:cNvPr>
          <p:cNvGraphicFramePr>
            <a:graphicFrameLocks noGrp="1"/>
          </p:cNvGraphicFramePr>
          <p:nvPr/>
        </p:nvGraphicFramePr>
        <p:xfrm>
          <a:off x="457200" y="1905000"/>
          <a:ext cx="8534400" cy="4267200"/>
        </p:xfrm>
        <a:graphic>
          <a:graphicData uri="http://schemas.openxmlformats.org/drawingml/2006/table">
            <a:tbl>
              <a:tblPr firstRow="1" firstCol="1" bandRow="1">
                <a:tableStyleId>{5C22544A-7EE6-4342-B048-85BDC9FD1C3A}</a:tableStyleId>
              </a:tblPr>
              <a:tblGrid>
                <a:gridCol w="685800">
                  <a:extLst>
                    <a:ext uri="{9D8B030D-6E8A-4147-A177-3AD203B41FA5}">
                      <a16:colId xmlns:a16="http://schemas.microsoft.com/office/drawing/2014/main" val="20000"/>
                    </a:ext>
                  </a:extLst>
                </a:gridCol>
                <a:gridCol w="7848600">
                  <a:extLst>
                    <a:ext uri="{9D8B030D-6E8A-4147-A177-3AD203B41FA5}">
                      <a16:colId xmlns:a16="http://schemas.microsoft.com/office/drawing/2014/main" val="20001"/>
                    </a:ext>
                  </a:extLst>
                </a:gridCol>
              </a:tblGrid>
              <a:tr h="503355">
                <a:tc>
                  <a:txBody>
                    <a:bodyPr/>
                    <a:lstStyle/>
                    <a:p>
                      <a:pPr marL="0" marR="0">
                        <a:lnSpc>
                          <a:spcPct val="107000"/>
                        </a:lnSpc>
                        <a:spcBef>
                          <a:spcPts val="0"/>
                        </a:spcBef>
                        <a:spcAft>
                          <a:spcPts val="0"/>
                        </a:spcAft>
                      </a:pPr>
                      <a:r>
                        <a:rPr lang="en-US" sz="1500" dirty="0" err="1">
                          <a:effectLst/>
                          <a:latin typeface="Verdana" panose="020B0604030504040204" pitchFamily="34" charset="0"/>
                          <a:ea typeface="Verdana" panose="020B0604030504040204" pitchFamily="34" charset="0"/>
                          <a:cs typeface="Verdana" panose="020B0604030504040204" pitchFamily="34" charset="0"/>
                        </a:rPr>
                        <a:t>S.No</a:t>
                      </a:r>
                      <a:endParaRPr lang="en-US" sz="1500" dirty="0">
                        <a:effectLst/>
                        <a:latin typeface="Verdana" panose="020B0604030504040204" pitchFamily="34" charset="0"/>
                        <a:ea typeface="Verdana" panose="020B0604030504040204" pitchFamily="34" charset="0"/>
                        <a:cs typeface="Verdana" panose="020B0604030504040204" pitchFamily="34" charset="0"/>
                      </a:endParaRPr>
                    </a:p>
                  </a:txBody>
                  <a:tcPr marL="76200" marR="76200" marT="76189" marB="76189"/>
                </a:tc>
                <a:tc>
                  <a:txBody>
                    <a:bodyPr/>
                    <a:lstStyle/>
                    <a:p>
                      <a:pPr marL="0" marR="0">
                        <a:lnSpc>
                          <a:spcPct val="107000"/>
                        </a:lnSpc>
                        <a:spcBef>
                          <a:spcPts val="0"/>
                        </a:spcBef>
                        <a:spcAft>
                          <a:spcPts val="0"/>
                        </a:spcAft>
                      </a:pPr>
                      <a:r>
                        <a:rPr lang="en-US" sz="1500">
                          <a:effectLst/>
                          <a:latin typeface="Verdana" panose="020B0604030504040204" pitchFamily="34" charset="0"/>
                          <a:ea typeface="Verdana" panose="020B0604030504040204" pitchFamily="34" charset="0"/>
                          <a:cs typeface="Verdana" panose="020B0604030504040204" pitchFamily="34" charset="0"/>
                        </a:rPr>
                        <a:t>Sections &amp; Description</a:t>
                      </a:r>
                    </a:p>
                  </a:txBody>
                  <a:tcPr marL="76200" marR="76200" marT="76189" marB="76189"/>
                </a:tc>
                <a:extLst>
                  <a:ext uri="{0D108BD9-81ED-4DB2-BD59-A6C34878D82A}">
                    <a16:rowId xmlns:a16="http://schemas.microsoft.com/office/drawing/2014/main" val="10000"/>
                  </a:ext>
                </a:extLst>
              </a:tr>
              <a:tr h="1217211">
                <a:tc>
                  <a:txBody>
                    <a:bodyPr/>
                    <a:lstStyle/>
                    <a:p>
                      <a:pPr marL="0" marR="0">
                        <a:lnSpc>
                          <a:spcPct val="107000"/>
                        </a:lnSpc>
                        <a:spcBef>
                          <a:spcPts val="0"/>
                        </a:spcBef>
                        <a:spcAft>
                          <a:spcPts val="0"/>
                        </a:spcAft>
                      </a:pPr>
                      <a:r>
                        <a:rPr lang="en-US" sz="1500" dirty="0">
                          <a:effectLst/>
                          <a:latin typeface="Verdana" panose="020B0604030504040204" pitchFamily="34" charset="0"/>
                          <a:ea typeface="Verdana" panose="020B0604030504040204" pitchFamily="34" charset="0"/>
                          <a:cs typeface="Verdana" panose="020B0604030504040204" pitchFamily="34" charset="0"/>
                        </a:rPr>
                        <a:t>1</a:t>
                      </a:r>
                    </a:p>
                  </a:txBody>
                  <a:tcPr marL="76200" marR="76200" marT="76189" marB="76189" anchor="ctr"/>
                </a:tc>
                <a:tc>
                  <a:txBody>
                    <a:bodyPr/>
                    <a:lstStyle/>
                    <a:p>
                      <a:pPr marL="0" marR="0">
                        <a:lnSpc>
                          <a:spcPct val="107000"/>
                        </a:lnSpc>
                        <a:spcBef>
                          <a:spcPts val="0"/>
                        </a:spcBef>
                        <a:spcAft>
                          <a:spcPts val="0"/>
                        </a:spcAft>
                      </a:pPr>
                      <a:r>
                        <a:rPr lang="en-US" sz="1500" b="1" dirty="0">
                          <a:effectLst/>
                          <a:latin typeface="Verdana" panose="020B0604030504040204" pitchFamily="34" charset="0"/>
                          <a:ea typeface="Verdana" panose="020B0604030504040204" pitchFamily="34" charset="0"/>
                          <a:cs typeface="Verdana" panose="020B0604030504040204" pitchFamily="34" charset="0"/>
                        </a:rPr>
                        <a:t>Declarations</a:t>
                      </a:r>
                    </a:p>
                    <a:p>
                      <a:pPr marL="0" marR="0">
                        <a:lnSpc>
                          <a:spcPct val="107000"/>
                        </a:lnSpc>
                        <a:spcBef>
                          <a:spcPts val="0"/>
                        </a:spcBef>
                        <a:spcAft>
                          <a:spcPts val="0"/>
                        </a:spcAft>
                      </a:pPr>
                      <a:r>
                        <a:rPr lang="en-US" sz="1500" b="1" dirty="0">
                          <a:effectLst/>
                          <a:latin typeface="Verdana" panose="020B0604030504040204" pitchFamily="34" charset="0"/>
                          <a:ea typeface="Verdana" panose="020B0604030504040204" pitchFamily="34" charset="0"/>
                          <a:cs typeface="Verdana" panose="020B0604030504040204" pitchFamily="34" charset="0"/>
                        </a:rPr>
                        <a:t>T</a:t>
                      </a:r>
                      <a:r>
                        <a:rPr lang="en-US" sz="1500" dirty="0">
                          <a:effectLst/>
                          <a:latin typeface="Verdana" panose="020B0604030504040204" pitchFamily="34" charset="0"/>
                          <a:ea typeface="Verdana" panose="020B0604030504040204" pitchFamily="34" charset="0"/>
                          <a:cs typeface="Verdana" panose="020B0604030504040204" pitchFamily="34" charset="0"/>
                        </a:rPr>
                        <a:t>his section starts with the keyword DECLARE. It is an optional section and defines all variables, cursors, subprograms, and other elements to be used in the program.</a:t>
                      </a:r>
                    </a:p>
                  </a:txBody>
                  <a:tcPr marL="76200" marR="76200" marT="76189" marB="76189"/>
                </a:tc>
                <a:extLst>
                  <a:ext uri="{0D108BD9-81ED-4DB2-BD59-A6C34878D82A}">
                    <a16:rowId xmlns:a16="http://schemas.microsoft.com/office/drawing/2014/main" val="10001"/>
                  </a:ext>
                </a:extLst>
              </a:tr>
              <a:tr h="1485642">
                <a:tc>
                  <a:txBody>
                    <a:bodyPr/>
                    <a:lstStyle/>
                    <a:p>
                      <a:pPr marL="0" marR="0">
                        <a:lnSpc>
                          <a:spcPct val="107000"/>
                        </a:lnSpc>
                        <a:spcBef>
                          <a:spcPts val="0"/>
                        </a:spcBef>
                        <a:spcAft>
                          <a:spcPts val="0"/>
                        </a:spcAft>
                      </a:pPr>
                      <a:r>
                        <a:rPr lang="en-US" sz="1500">
                          <a:effectLst/>
                          <a:latin typeface="Verdana" panose="020B0604030504040204" pitchFamily="34" charset="0"/>
                          <a:ea typeface="Verdana" panose="020B0604030504040204" pitchFamily="34" charset="0"/>
                          <a:cs typeface="Verdana" panose="020B0604030504040204" pitchFamily="34" charset="0"/>
                        </a:rPr>
                        <a:t>2</a:t>
                      </a:r>
                    </a:p>
                  </a:txBody>
                  <a:tcPr marL="76200" marR="76200" marT="76189" marB="76189" anchor="ctr"/>
                </a:tc>
                <a:tc>
                  <a:txBody>
                    <a:bodyPr/>
                    <a:lstStyle/>
                    <a:p>
                      <a:pPr marL="0" marR="0">
                        <a:lnSpc>
                          <a:spcPct val="107000"/>
                        </a:lnSpc>
                        <a:spcBef>
                          <a:spcPts val="0"/>
                        </a:spcBef>
                        <a:spcAft>
                          <a:spcPts val="0"/>
                        </a:spcAft>
                      </a:pPr>
                      <a:r>
                        <a:rPr lang="en-US" sz="1500" b="1" dirty="0">
                          <a:effectLst/>
                          <a:latin typeface="Verdana" panose="020B0604030504040204" pitchFamily="34" charset="0"/>
                          <a:ea typeface="Verdana" panose="020B0604030504040204" pitchFamily="34" charset="0"/>
                          <a:cs typeface="Verdana" panose="020B0604030504040204" pitchFamily="34" charset="0"/>
                        </a:rPr>
                        <a:t>Executable Commands</a:t>
                      </a:r>
                    </a:p>
                    <a:p>
                      <a:pPr marL="0" marR="0">
                        <a:lnSpc>
                          <a:spcPct val="107000"/>
                        </a:lnSpc>
                        <a:spcBef>
                          <a:spcPts val="0"/>
                        </a:spcBef>
                        <a:spcAft>
                          <a:spcPts val="0"/>
                        </a:spcAft>
                      </a:pPr>
                      <a:r>
                        <a:rPr lang="en-US" sz="1500" dirty="0">
                          <a:effectLst/>
                          <a:latin typeface="Verdana" panose="020B0604030504040204" pitchFamily="34" charset="0"/>
                          <a:ea typeface="Verdana" panose="020B0604030504040204" pitchFamily="34" charset="0"/>
                          <a:cs typeface="Verdana" panose="020B0604030504040204" pitchFamily="34" charset="0"/>
                        </a:rPr>
                        <a:t>This section is enclosed between the keywords BEGIN and END and it is a mandatory section. It consists of the executable PL/SQL statements of the program. It should have at least one executable line of code, which may be just a NULL command to indicate that nothing should be executed.</a:t>
                      </a:r>
                    </a:p>
                  </a:txBody>
                  <a:tcPr marL="76200" marR="76200" marT="76189" marB="76189"/>
                </a:tc>
                <a:extLst>
                  <a:ext uri="{0D108BD9-81ED-4DB2-BD59-A6C34878D82A}">
                    <a16:rowId xmlns:a16="http://schemas.microsoft.com/office/drawing/2014/main" val="10002"/>
                  </a:ext>
                </a:extLst>
              </a:tr>
              <a:tr h="1060992">
                <a:tc>
                  <a:txBody>
                    <a:bodyPr/>
                    <a:lstStyle/>
                    <a:p>
                      <a:pPr marL="0" marR="0">
                        <a:lnSpc>
                          <a:spcPct val="107000"/>
                        </a:lnSpc>
                        <a:spcBef>
                          <a:spcPts val="0"/>
                        </a:spcBef>
                        <a:spcAft>
                          <a:spcPts val="0"/>
                        </a:spcAft>
                      </a:pPr>
                      <a:r>
                        <a:rPr lang="en-US" sz="1500">
                          <a:effectLst/>
                          <a:latin typeface="Verdana" panose="020B0604030504040204" pitchFamily="34" charset="0"/>
                          <a:ea typeface="Verdana" panose="020B0604030504040204" pitchFamily="34" charset="0"/>
                          <a:cs typeface="Verdana" panose="020B0604030504040204" pitchFamily="34" charset="0"/>
                        </a:rPr>
                        <a:t>3</a:t>
                      </a:r>
                    </a:p>
                  </a:txBody>
                  <a:tcPr marL="76200" marR="76200" marT="76189" marB="76189" anchor="ctr"/>
                </a:tc>
                <a:tc>
                  <a:txBody>
                    <a:bodyPr/>
                    <a:lstStyle/>
                    <a:p>
                      <a:pPr marL="0" marR="0">
                        <a:lnSpc>
                          <a:spcPct val="107000"/>
                        </a:lnSpc>
                        <a:spcBef>
                          <a:spcPts val="0"/>
                        </a:spcBef>
                        <a:spcAft>
                          <a:spcPts val="0"/>
                        </a:spcAft>
                      </a:pPr>
                      <a:r>
                        <a:rPr lang="en-US" sz="1500" b="1" dirty="0">
                          <a:effectLst/>
                          <a:latin typeface="Verdana" panose="020B0604030504040204" pitchFamily="34" charset="0"/>
                          <a:ea typeface="Verdana" panose="020B0604030504040204" pitchFamily="34" charset="0"/>
                          <a:cs typeface="Verdana" panose="020B0604030504040204" pitchFamily="34" charset="0"/>
                        </a:rPr>
                        <a:t>Exception Handling</a:t>
                      </a:r>
                    </a:p>
                    <a:p>
                      <a:pPr marL="0" marR="0">
                        <a:lnSpc>
                          <a:spcPct val="107000"/>
                        </a:lnSpc>
                        <a:spcBef>
                          <a:spcPts val="0"/>
                        </a:spcBef>
                        <a:spcAft>
                          <a:spcPts val="0"/>
                        </a:spcAft>
                      </a:pPr>
                      <a:r>
                        <a:rPr lang="en-US" sz="1500" b="1" dirty="0">
                          <a:effectLst/>
                          <a:latin typeface="Verdana" panose="020B0604030504040204" pitchFamily="34" charset="0"/>
                          <a:ea typeface="Verdana" panose="020B0604030504040204" pitchFamily="34" charset="0"/>
                          <a:cs typeface="Verdana" panose="020B0604030504040204" pitchFamily="34" charset="0"/>
                        </a:rPr>
                        <a:t>T</a:t>
                      </a:r>
                      <a:r>
                        <a:rPr lang="en-US" sz="1500" dirty="0">
                          <a:effectLst/>
                          <a:latin typeface="Verdana" panose="020B0604030504040204" pitchFamily="34" charset="0"/>
                          <a:ea typeface="Verdana" panose="020B0604030504040204" pitchFamily="34" charset="0"/>
                          <a:cs typeface="Verdana" panose="020B0604030504040204" pitchFamily="34" charset="0"/>
                        </a:rPr>
                        <a:t>his section starts with the keyword EXCEPTION. This optional section contains exception(s) that handle errors in the program.</a:t>
                      </a:r>
                    </a:p>
                  </a:txBody>
                  <a:tcPr marL="76200" marR="76200" marT="76189" marB="76189"/>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95EC580E-ABF6-45E0-A049-CD48DAA5910F}"/>
              </a:ext>
            </a:extLst>
          </p:cNvPr>
          <p:cNvSpPr>
            <a:spLocks noGrp="1"/>
          </p:cNvSpPr>
          <p:nvPr>
            <p:ph type="ctrTitle"/>
          </p:nvPr>
        </p:nvSpPr>
        <p:spPr>
          <a:xfrm>
            <a:off x="381000" y="228600"/>
            <a:ext cx="8610600" cy="533400"/>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BASIC STRUCTURE OF PL/SQL BOLCK:</a:t>
            </a:r>
          </a:p>
        </p:txBody>
      </p:sp>
      <p:sp>
        <p:nvSpPr>
          <p:cNvPr id="580611" name="Rectangle 3">
            <a:extLst>
              <a:ext uri="{FF2B5EF4-FFF2-40B4-BE49-F238E27FC236}">
                <a16:creationId xmlns:a16="http://schemas.microsoft.com/office/drawing/2014/main" id="{BEED80DF-6C15-4F5C-ABD6-1E1D3FD1405A}"/>
              </a:ext>
            </a:extLst>
          </p:cNvPr>
          <p:cNvSpPr>
            <a:spLocks noGrp="1" noChangeArrowheads="1"/>
          </p:cNvSpPr>
          <p:nvPr>
            <p:ph type="subTitle" idx="1"/>
          </p:nvPr>
        </p:nvSpPr>
        <p:spPr>
          <a:xfrm>
            <a:off x="152400" y="762000"/>
            <a:ext cx="8686800" cy="5638800"/>
          </a:xfrm>
        </p:spPr>
        <p:txBody>
          <a:bodyPr rtlCol="0">
            <a:normAutofit/>
          </a:bodyPr>
          <a:lstStyle/>
          <a:p>
            <a:pPr marL="781050" indent="-609600"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Every PL/SQL statement ends with a semicolon (;). PL/SQL blocks can </a:t>
            </a:r>
          </a:p>
          <a:p>
            <a:pPr marL="781050" indent="-609600"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be nested within other PL/SQL blocks using </a:t>
            </a:r>
            <a:r>
              <a:rPr lang="en-US" b="1" dirty="0">
                <a:latin typeface="Verdana" panose="020B0604030504040204" pitchFamily="34" charset="0"/>
                <a:ea typeface="Verdana" panose="020B0604030504040204" pitchFamily="34" charset="0"/>
                <a:cs typeface="Verdana" panose="020B0604030504040204" pitchFamily="34" charset="0"/>
              </a:rPr>
              <a:t>BEGIN</a:t>
            </a:r>
            <a:r>
              <a:rPr lang="en-US" dirty="0">
                <a:latin typeface="Verdana" panose="020B0604030504040204" pitchFamily="34" charset="0"/>
                <a:ea typeface="Verdana" panose="020B0604030504040204" pitchFamily="34" charset="0"/>
                <a:cs typeface="Verdana" panose="020B0604030504040204" pitchFamily="34" charset="0"/>
              </a:rPr>
              <a:t> and </a:t>
            </a:r>
            <a:r>
              <a:rPr lang="en-US" b="1" dirty="0">
                <a:latin typeface="Verdana" panose="020B0604030504040204" pitchFamily="34" charset="0"/>
                <a:ea typeface="Verdana" panose="020B0604030504040204" pitchFamily="34" charset="0"/>
                <a:cs typeface="Verdana" panose="020B0604030504040204" pitchFamily="34" charset="0"/>
              </a:rPr>
              <a:t>END</a:t>
            </a:r>
            <a:r>
              <a:rPr lang="en-US" dirty="0">
                <a:latin typeface="Verdana" panose="020B0604030504040204" pitchFamily="34" charset="0"/>
                <a:ea typeface="Verdana" panose="020B0604030504040204" pitchFamily="34" charset="0"/>
                <a:cs typeface="Verdana" panose="020B0604030504040204" pitchFamily="34" charset="0"/>
              </a:rPr>
              <a:t>. Following </a:t>
            </a:r>
          </a:p>
          <a:p>
            <a:pPr marL="781050" indent="-609600"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is the basic structure of a PL/SQL block -</a:t>
            </a:r>
          </a:p>
          <a:p>
            <a:pPr algn="l" eaLnBrk="1" fontAlgn="auto" hangingPunct="1">
              <a:spcAft>
                <a:spcPts val="0"/>
              </a:spcAft>
              <a:defRPr/>
            </a:pPr>
            <a:r>
              <a:rPr lang="en-US" sz="1600" b="1" dirty="0">
                <a:latin typeface="Verdana" panose="020B0604030504040204" pitchFamily="34" charset="0"/>
                <a:ea typeface="Verdana" panose="020B0604030504040204" pitchFamily="34" charset="0"/>
                <a:cs typeface="Verdana" panose="020B0604030504040204" pitchFamily="34" charset="0"/>
              </a:rPr>
              <a:t>DECLARE </a:t>
            </a:r>
          </a:p>
          <a:p>
            <a:pPr algn="l" eaLnBrk="1" fontAlgn="auto" hangingPunct="1">
              <a:spcAft>
                <a:spcPts val="0"/>
              </a:spcAft>
              <a:defRPr/>
            </a:pPr>
            <a:r>
              <a:rPr lang="en-US" sz="1600" b="1" dirty="0">
                <a:latin typeface="Verdana" panose="020B0604030504040204" pitchFamily="34" charset="0"/>
                <a:ea typeface="Verdana" panose="020B0604030504040204" pitchFamily="34" charset="0"/>
                <a:cs typeface="Verdana" panose="020B0604030504040204" pitchFamily="34" charset="0"/>
              </a:rPr>
              <a:t>   &lt;declarations section&gt; </a:t>
            </a:r>
          </a:p>
          <a:p>
            <a:pPr algn="l" eaLnBrk="1" fontAlgn="auto" hangingPunct="1">
              <a:spcAft>
                <a:spcPts val="0"/>
              </a:spcAft>
              <a:defRPr/>
            </a:pPr>
            <a:r>
              <a:rPr lang="en-US" sz="1600" b="1" dirty="0">
                <a:latin typeface="Verdana" panose="020B0604030504040204" pitchFamily="34" charset="0"/>
                <a:ea typeface="Verdana" panose="020B0604030504040204" pitchFamily="34" charset="0"/>
                <a:cs typeface="Verdana" panose="020B0604030504040204" pitchFamily="34" charset="0"/>
              </a:rPr>
              <a:t>BEGIN </a:t>
            </a:r>
          </a:p>
          <a:p>
            <a:pPr algn="l" eaLnBrk="1" fontAlgn="auto" hangingPunct="1">
              <a:spcAft>
                <a:spcPts val="0"/>
              </a:spcAft>
              <a:defRPr/>
            </a:pPr>
            <a:r>
              <a:rPr lang="en-US" sz="1600" b="1" dirty="0">
                <a:latin typeface="Verdana" panose="020B0604030504040204" pitchFamily="34" charset="0"/>
                <a:ea typeface="Verdana" panose="020B0604030504040204" pitchFamily="34" charset="0"/>
                <a:cs typeface="Verdana" panose="020B0604030504040204" pitchFamily="34" charset="0"/>
              </a:rPr>
              <a:t>   &lt;executable command(s)&gt;</a:t>
            </a:r>
          </a:p>
          <a:p>
            <a:pPr algn="l" eaLnBrk="1" fontAlgn="auto" hangingPunct="1">
              <a:spcAft>
                <a:spcPts val="0"/>
              </a:spcAft>
              <a:defRPr/>
            </a:pPr>
            <a:r>
              <a:rPr lang="en-US" sz="1600" b="1" dirty="0">
                <a:latin typeface="Verdana" panose="020B0604030504040204" pitchFamily="34" charset="0"/>
                <a:ea typeface="Verdana" panose="020B0604030504040204" pitchFamily="34" charset="0"/>
                <a:cs typeface="Verdana" panose="020B0604030504040204" pitchFamily="34" charset="0"/>
              </a:rPr>
              <a:t>EXCEPTION </a:t>
            </a:r>
          </a:p>
          <a:p>
            <a:pPr algn="l" eaLnBrk="1" fontAlgn="auto" hangingPunct="1">
              <a:spcAft>
                <a:spcPts val="0"/>
              </a:spcAft>
              <a:defRPr/>
            </a:pPr>
            <a:r>
              <a:rPr lang="en-US" sz="1600" b="1" dirty="0">
                <a:latin typeface="Verdana" panose="020B0604030504040204" pitchFamily="34" charset="0"/>
                <a:ea typeface="Verdana" panose="020B0604030504040204" pitchFamily="34" charset="0"/>
                <a:cs typeface="Verdana" panose="020B0604030504040204" pitchFamily="34" charset="0"/>
              </a:rPr>
              <a:t>   &lt;exception handling&gt; </a:t>
            </a:r>
          </a:p>
          <a:p>
            <a:pPr algn="l" eaLnBrk="1" fontAlgn="auto" hangingPunct="1">
              <a:spcAft>
                <a:spcPts val="0"/>
              </a:spcAft>
              <a:defRPr/>
            </a:pPr>
            <a:r>
              <a:rPr lang="en-US" sz="1600" b="1" dirty="0">
                <a:latin typeface="Verdana" panose="020B0604030504040204" pitchFamily="34" charset="0"/>
                <a:ea typeface="Verdana" panose="020B0604030504040204" pitchFamily="34" charset="0"/>
                <a:cs typeface="Verdana" panose="020B0604030504040204" pitchFamily="34" charset="0"/>
              </a:rPr>
              <a:t>END;</a:t>
            </a: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The 'Hello World' Example</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DECLARE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message  varchar2(20):= 'Hello, World!';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BEGIN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a:t>
            </a:r>
            <a:r>
              <a:rPr lang="en-US" dirty="0" err="1">
                <a:latin typeface="Verdana" panose="020B0604030504040204" pitchFamily="34" charset="0"/>
                <a:ea typeface="Verdana" panose="020B0604030504040204" pitchFamily="34" charset="0"/>
                <a:cs typeface="Verdana" panose="020B0604030504040204" pitchFamily="34" charset="0"/>
              </a:rPr>
              <a:t>dbms_output.put_line</a:t>
            </a:r>
            <a:r>
              <a:rPr lang="en-US" dirty="0">
                <a:latin typeface="Verdana" panose="020B0604030504040204" pitchFamily="34" charset="0"/>
                <a:ea typeface="Verdana" panose="020B0604030504040204" pitchFamily="34" charset="0"/>
                <a:cs typeface="Verdana" panose="020B0604030504040204" pitchFamily="34" charset="0"/>
              </a:rPr>
              <a:t>(message);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END; /</a:t>
            </a:r>
          </a:p>
          <a:p>
            <a:pPr algn="l" eaLnBrk="1" fontAlgn="auto" hangingPunct="1">
              <a:spcAft>
                <a:spcPts val="0"/>
              </a:spcAft>
              <a:defRPr/>
            </a:pPr>
            <a:endParaRPr lang="en-US" b="1"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endParaRPr lang="en-US" b="1"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endParaRPr lang="en-US" b="1"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endParaRPr lang="en-US" b="1"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endParaRPr lang="en-US" b="1"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endParaRPr lang="en-US" b="1"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endParaRPr lang="en-US" b="1" dirty="0">
              <a:latin typeface="Verdana" panose="020B0604030504040204" pitchFamily="34" charset="0"/>
              <a:ea typeface="Verdana" panose="020B0604030504040204" pitchFamily="34" charset="0"/>
              <a:cs typeface="Verdana" panose="020B0604030504040204" pitchFamily="34" charset="0"/>
            </a:endParaRPr>
          </a:p>
          <a:p>
            <a:pPr marL="781050" indent="-609600" algn="l" eaLnBrk="1" fontAlgn="auto" hangingPunct="1">
              <a:spcAft>
                <a:spcPts val="0"/>
              </a:spcAft>
              <a:defRPr/>
            </a:pPr>
            <a:endParaRPr lang="en-US" altLang="en-US" dirty="0">
              <a:ea typeface="Arial Unicode MS" panose="020B0604020202020204" pitchFamily="34" charset="-128"/>
              <a:cs typeface="Arial Unicode MS" panose="020B0604020202020204" pitchFamily="34" charset="-128"/>
            </a:endParaRPr>
          </a:p>
        </p:txBody>
      </p:sp>
      <p:sp>
        <p:nvSpPr>
          <p:cNvPr id="4" name="Date Placeholder 3">
            <a:extLst>
              <a:ext uri="{FF2B5EF4-FFF2-40B4-BE49-F238E27FC236}">
                <a16:creationId xmlns:a16="http://schemas.microsoft.com/office/drawing/2014/main" id="{96045A1F-29A0-4167-B41E-F0C54BFCF4E3}"/>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F1BE988A-3C68-4F6D-9ED2-BA04A9AB4EF4}"/>
              </a:ext>
            </a:extLst>
          </p:cNvPr>
          <p:cNvSpPr>
            <a:spLocks noGrp="1"/>
          </p:cNvSpPr>
          <p:nvPr>
            <p:ph type="ctrTitle"/>
          </p:nvPr>
        </p:nvSpPr>
        <p:spPr>
          <a:xfrm>
            <a:off x="228600" y="288925"/>
            <a:ext cx="8610600" cy="549275"/>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BASIC STRUCTURE OF PL/SQL BOLCK:</a:t>
            </a:r>
          </a:p>
        </p:txBody>
      </p:sp>
      <p:sp>
        <p:nvSpPr>
          <p:cNvPr id="18435" name="Rectangle 3">
            <a:extLst>
              <a:ext uri="{FF2B5EF4-FFF2-40B4-BE49-F238E27FC236}">
                <a16:creationId xmlns:a16="http://schemas.microsoft.com/office/drawing/2014/main" id="{2C463230-12AC-4A1C-AB37-B3A0BA0B4A67}"/>
              </a:ext>
            </a:extLst>
          </p:cNvPr>
          <p:cNvSpPr>
            <a:spLocks noGrp="1"/>
          </p:cNvSpPr>
          <p:nvPr>
            <p:ph type="subTitle" idx="1"/>
          </p:nvPr>
        </p:nvSpPr>
        <p:spPr>
          <a:xfrm>
            <a:off x="152400" y="990600"/>
            <a:ext cx="8686800" cy="5410200"/>
          </a:xfrm>
        </p:spPr>
        <p:txBody>
          <a:bodyPr/>
          <a:lstStyle/>
          <a:p>
            <a:pPr marL="781050" indent="-609600" algn="l" eaLnBrk="1" hangingPunct="1"/>
            <a:r>
              <a:rPr lang="en-US" altLang="en-US" sz="2000">
                <a:latin typeface="Verdana" panose="020B0604030504040204" pitchFamily="34" charset="0"/>
                <a:ea typeface="Verdana" panose="020B0604030504040204" pitchFamily="34" charset="0"/>
                <a:cs typeface="Verdana" panose="020B0604030504040204" pitchFamily="34" charset="0"/>
              </a:rPr>
              <a:t>The end; line signals the end of the PL/SQL block. To run the </a:t>
            </a:r>
          </a:p>
          <a:p>
            <a:pPr marL="781050" indent="-609600" algn="l" eaLnBrk="1" hangingPunct="1"/>
            <a:r>
              <a:rPr lang="en-US" altLang="en-US" sz="2000">
                <a:latin typeface="Verdana" panose="020B0604030504040204" pitchFamily="34" charset="0"/>
                <a:ea typeface="Verdana" panose="020B0604030504040204" pitchFamily="34" charset="0"/>
                <a:cs typeface="Verdana" panose="020B0604030504040204" pitchFamily="34" charset="0"/>
              </a:rPr>
              <a:t>code from the SQL command line, you may need to type / at the </a:t>
            </a:r>
          </a:p>
          <a:p>
            <a:pPr marL="781050" indent="-609600" algn="l" eaLnBrk="1" hangingPunct="1"/>
            <a:r>
              <a:rPr lang="en-US" altLang="en-US" sz="2000">
                <a:latin typeface="Verdana" panose="020B0604030504040204" pitchFamily="34" charset="0"/>
                <a:ea typeface="Verdana" panose="020B0604030504040204" pitchFamily="34" charset="0"/>
                <a:cs typeface="Verdana" panose="020B0604030504040204" pitchFamily="34" charset="0"/>
              </a:rPr>
              <a:t>beginning of the first blank line after the last line of the code. </a:t>
            </a:r>
          </a:p>
          <a:p>
            <a:pPr marL="781050" indent="-609600" algn="l" eaLnBrk="1" hangingPunct="1"/>
            <a:r>
              <a:rPr lang="en-US" altLang="en-US" sz="2000">
                <a:latin typeface="Verdana" panose="020B0604030504040204" pitchFamily="34" charset="0"/>
                <a:ea typeface="Verdana" panose="020B0604030504040204" pitchFamily="34" charset="0"/>
                <a:cs typeface="Verdana" panose="020B0604030504040204" pitchFamily="34" charset="0"/>
              </a:rPr>
              <a:t>When the above code is executed at the SQL prompt, it </a:t>
            </a:r>
          </a:p>
          <a:p>
            <a:pPr marL="781050" indent="-609600" algn="l" eaLnBrk="1" hangingPunct="1"/>
            <a:r>
              <a:rPr lang="en-US" altLang="en-US" sz="2000">
                <a:latin typeface="Verdana" panose="020B0604030504040204" pitchFamily="34" charset="0"/>
                <a:ea typeface="Verdana" panose="020B0604030504040204" pitchFamily="34" charset="0"/>
                <a:cs typeface="Verdana" panose="020B0604030504040204" pitchFamily="34" charset="0"/>
              </a:rPr>
              <a:t>produces the following result −</a:t>
            </a:r>
          </a:p>
          <a:p>
            <a:pPr marL="781050" indent="-609600" algn="l" eaLnBrk="1" hangingPunct="1"/>
            <a:r>
              <a:rPr lang="en-US" altLang="en-US" sz="2000" b="1">
                <a:latin typeface="Verdana" panose="020B0604030504040204" pitchFamily="34" charset="0"/>
                <a:ea typeface="Verdana" panose="020B0604030504040204" pitchFamily="34" charset="0"/>
                <a:cs typeface="Verdana" panose="020B0604030504040204" pitchFamily="34" charset="0"/>
              </a:rPr>
              <a:t>OUTPUT:</a:t>
            </a:r>
          </a:p>
          <a:p>
            <a:pPr marL="781050" indent="-609600" algn="l" eaLnBrk="1" hangingPunct="1"/>
            <a:r>
              <a:rPr lang="en-US" altLang="en-US" sz="2800"/>
              <a:t>Hello World  </a:t>
            </a:r>
          </a:p>
          <a:p>
            <a:pPr marL="781050" indent="-609600" algn="l" eaLnBrk="1" hangingPunct="1"/>
            <a:r>
              <a:rPr lang="en-US" altLang="en-US" sz="2800"/>
              <a:t> </a:t>
            </a:r>
          </a:p>
          <a:p>
            <a:pPr marL="781050" indent="-609600" algn="l" eaLnBrk="1" hangingPunct="1"/>
            <a:r>
              <a:rPr lang="en-US" altLang="en-US" sz="2800"/>
              <a:t>PL/SQL procedure successfully completed.</a:t>
            </a:r>
          </a:p>
          <a:p>
            <a:pPr marL="781050" indent="-609600" algn="just" eaLnBrk="1" hangingPunct="1"/>
            <a:endParaRPr lang="en-US" altLang="en-US" sz="2800">
              <a:ea typeface="Arial Unicode MS" panose="020B0604020202020204" pitchFamily="34" charset="-128"/>
              <a:cs typeface="Arial Unicode MS" panose="020B0604020202020204" pitchFamily="34" charset="-128"/>
            </a:endParaRPr>
          </a:p>
        </p:txBody>
      </p:sp>
      <p:sp>
        <p:nvSpPr>
          <p:cNvPr id="4" name="Date Placeholder 3">
            <a:extLst>
              <a:ext uri="{FF2B5EF4-FFF2-40B4-BE49-F238E27FC236}">
                <a16:creationId xmlns:a16="http://schemas.microsoft.com/office/drawing/2014/main" id="{B3BDCBDC-EB75-4F70-81B5-843AD3A4F04A}"/>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29C8E2B-18CE-49FC-B1EC-0D14639D0FEE}"/>
              </a:ext>
            </a:extLst>
          </p:cNvPr>
          <p:cNvSpPr>
            <a:spLocks noGrp="1"/>
          </p:cNvSpPr>
          <p:nvPr>
            <p:ph type="ctrTitle"/>
          </p:nvPr>
        </p:nvSpPr>
        <p:spPr>
          <a:xfrm>
            <a:off x="838200" y="152400"/>
            <a:ext cx="8001000" cy="762000"/>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The PL/SQL Comments</a:t>
            </a:r>
          </a:p>
        </p:txBody>
      </p:sp>
      <p:sp>
        <p:nvSpPr>
          <p:cNvPr id="582659" name="Rectangle 3">
            <a:extLst>
              <a:ext uri="{FF2B5EF4-FFF2-40B4-BE49-F238E27FC236}">
                <a16:creationId xmlns:a16="http://schemas.microsoft.com/office/drawing/2014/main" id="{8412BA91-AFDD-42AF-B518-74F6004AE2EB}"/>
              </a:ext>
            </a:extLst>
          </p:cNvPr>
          <p:cNvSpPr>
            <a:spLocks noGrp="1" noChangeArrowheads="1"/>
          </p:cNvSpPr>
          <p:nvPr>
            <p:ph type="subTitle" idx="1"/>
          </p:nvPr>
        </p:nvSpPr>
        <p:spPr>
          <a:xfrm>
            <a:off x="152400" y="990600"/>
            <a:ext cx="8077200" cy="5410200"/>
          </a:xfrm>
        </p:spPr>
        <p:txBody>
          <a:bodyPr rtlCol="0">
            <a:normAutofit/>
          </a:bodyPr>
          <a:lstStyle/>
          <a:p>
            <a:pPr marL="457200" indent="-457200" algn="l" eaLnBrk="1" fontAlgn="auto" hangingPunct="1">
              <a:spcAft>
                <a:spcPts val="0"/>
              </a:spcAft>
              <a:buFont typeface="+mj-lt"/>
              <a:buAutoNum type="arabicPeriod"/>
              <a:defRPr/>
            </a:pPr>
            <a:r>
              <a:rPr lang="en-US" sz="1900" dirty="0">
                <a:latin typeface="Verdana" panose="020B0604030504040204" pitchFamily="34" charset="0"/>
                <a:ea typeface="Verdana" panose="020B0604030504040204" pitchFamily="34" charset="0"/>
                <a:cs typeface="Verdana" panose="020B0604030504040204" pitchFamily="34" charset="0"/>
              </a:rPr>
              <a:t>Program comments are explanatory statements that can be included in the PL/SQL code that you write and helps anyone reading its source code. </a:t>
            </a:r>
          </a:p>
          <a:p>
            <a:pPr marL="457200" indent="-457200" algn="l" eaLnBrk="1" fontAlgn="auto" hangingPunct="1">
              <a:spcAft>
                <a:spcPts val="0"/>
              </a:spcAft>
              <a:buFont typeface="+mj-lt"/>
              <a:buAutoNum type="arabicPeriod"/>
              <a:defRPr/>
            </a:pPr>
            <a:r>
              <a:rPr lang="en-US" sz="1900" dirty="0">
                <a:latin typeface="Verdana" panose="020B0604030504040204" pitchFamily="34" charset="0"/>
                <a:ea typeface="Verdana" panose="020B0604030504040204" pitchFamily="34" charset="0"/>
                <a:cs typeface="Verdana" panose="020B0604030504040204" pitchFamily="34" charset="0"/>
              </a:rPr>
              <a:t>All programming languages allow some form of comments.</a:t>
            </a:r>
          </a:p>
          <a:p>
            <a:pPr marL="457200" indent="-457200" algn="l" eaLnBrk="1" fontAlgn="auto" hangingPunct="1">
              <a:spcAft>
                <a:spcPts val="0"/>
              </a:spcAft>
              <a:buFont typeface="+mj-lt"/>
              <a:buAutoNum type="arabicPeriod"/>
              <a:defRPr/>
            </a:pPr>
            <a:r>
              <a:rPr lang="en-US" sz="1900" dirty="0">
                <a:latin typeface="Verdana" panose="020B0604030504040204" pitchFamily="34" charset="0"/>
                <a:ea typeface="Verdana" panose="020B0604030504040204" pitchFamily="34" charset="0"/>
                <a:cs typeface="Verdana" panose="020B0604030504040204" pitchFamily="34" charset="0"/>
              </a:rPr>
              <a:t>The PL/SQL supports single-line and multi-line comments. </a:t>
            </a:r>
          </a:p>
          <a:p>
            <a:pPr marL="457200" indent="-457200" algn="l" eaLnBrk="1" fontAlgn="auto" hangingPunct="1">
              <a:spcAft>
                <a:spcPts val="0"/>
              </a:spcAft>
              <a:buFont typeface="+mj-lt"/>
              <a:buAutoNum type="arabicPeriod"/>
              <a:defRPr/>
            </a:pPr>
            <a:r>
              <a:rPr lang="en-US" sz="1900" dirty="0">
                <a:latin typeface="Verdana" panose="020B0604030504040204" pitchFamily="34" charset="0"/>
                <a:ea typeface="Verdana" panose="020B0604030504040204" pitchFamily="34" charset="0"/>
                <a:cs typeface="Verdana" panose="020B0604030504040204" pitchFamily="34" charset="0"/>
              </a:rPr>
              <a:t>All characters available inside any comment are ignored by the PL/SQL compiler. </a:t>
            </a:r>
          </a:p>
          <a:p>
            <a:pPr marL="457200" indent="-457200" algn="l" eaLnBrk="1" fontAlgn="auto" hangingPunct="1">
              <a:spcAft>
                <a:spcPts val="0"/>
              </a:spcAft>
              <a:buFont typeface="+mj-lt"/>
              <a:buAutoNum type="arabicPeriod"/>
              <a:defRPr/>
            </a:pPr>
            <a:r>
              <a:rPr lang="en-US" sz="1900" dirty="0">
                <a:latin typeface="Verdana" panose="020B0604030504040204" pitchFamily="34" charset="0"/>
                <a:ea typeface="Verdana" panose="020B0604030504040204" pitchFamily="34" charset="0"/>
                <a:cs typeface="Verdana" panose="020B0604030504040204" pitchFamily="34" charset="0"/>
              </a:rPr>
              <a:t>The PL/SQL single-line comments start with the delimiter -- (double hyphen) and multi-line comments are enclosed by /* and */.</a:t>
            </a:r>
          </a:p>
          <a:p>
            <a:pPr marL="171450" algn="just" eaLnBrk="1" fontAlgn="auto" hangingPunct="1">
              <a:spcAft>
                <a:spcPts val="0"/>
              </a:spcAft>
              <a:defRPr/>
            </a:pPr>
            <a:endParaRPr lang="en-US" altLang="en-US" sz="2800" dirty="0">
              <a:ea typeface="Arial Unicode MS" panose="020B0604020202020204" pitchFamily="34" charset="-128"/>
              <a:cs typeface="Arial Unicode MS" panose="020B0604020202020204" pitchFamily="34" charset="-128"/>
            </a:endParaRPr>
          </a:p>
        </p:txBody>
      </p:sp>
      <p:sp>
        <p:nvSpPr>
          <p:cNvPr id="4" name="Date Placeholder 3">
            <a:extLst>
              <a:ext uri="{FF2B5EF4-FFF2-40B4-BE49-F238E27FC236}">
                <a16:creationId xmlns:a16="http://schemas.microsoft.com/office/drawing/2014/main" id="{BD00ECC6-1EEB-4481-A4FA-C073FBA27BB1}"/>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8A8EDF2-2E41-4705-9ABD-10CABFB009A8}"/>
              </a:ext>
            </a:extLst>
          </p:cNvPr>
          <p:cNvSpPr>
            <a:spLocks noGrp="1"/>
          </p:cNvSpPr>
          <p:nvPr>
            <p:ph type="ctrTitle"/>
          </p:nvPr>
        </p:nvSpPr>
        <p:spPr>
          <a:xfrm>
            <a:off x="838200" y="0"/>
            <a:ext cx="8001000" cy="838200"/>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The PL/SQL Comments</a:t>
            </a:r>
          </a:p>
        </p:txBody>
      </p:sp>
      <p:sp>
        <p:nvSpPr>
          <p:cNvPr id="4" name="Date Placeholder 3">
            <a:extLst>
              <a:ext uri="{FF2B5EF4-FFF2-40B4-BE49-F238E27FC236}">
                <a16:creationId xmlns:a16="http://schemas.microsoft.com/office/drawing/2014/main" id="{72F54377-F10C-447C-BFE3-23C537992BD6}"/>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
        <p:nvSpPr>
          <p:cNvPr id="20484" name="Subtitle 1">
            <a:extLst>
              <a:ext uri="{FF2B5EF4-FFF2-40B4-BE49-F238E27FC236}">
                <a16:creationId xmlns:a16="http://schemas.microsoft.com/office/drawing/2014/main" id="{A0854614-C6E3-4B15-8FD1-E50611FC5F21}"/>
              </a:ext>
            </a:extLst>
          </p:cNvPr>
          <p:cNvSpPr>
            <a:spLocks noGrp="1"/>
          </p:cNvSpPr>
          <p:nvPr>
            <p:ph type="subTitle" idx="1"/>
          </p:nvPr>
        </p:nvSpPr>
        <p:spPr>
          <a:xfrm>
            <a:off x="628650" y="838200"/>
            <a:ext cx="7829550" cy="5518150"/>
          </a:xfrm>
        </p:spPr>
        <p:txBody>
          <a:bodyPr/>
          <a:lstStyle/>
          <a:p>
            <a:pPr algn="l" eaLnBrk="1" hangingPunct="1"/>
            <a:r>
              <a:rPr lang="en-US" altLang="en-US" b="1">
                <a:latin typeface="Verdana" panose="020B0604030504040204" pitchFamily="34" charset="0"/>
                <a:ea typeface="Verdana" panose="020B0604030504040204" pitchFamily="34" charset="0"/>
                <a:cs typeface="Verdana" panose="020B0604030504040204" pitchFamily="34" charset="0"/>
              </a:rPr>
              <a:t>DECLARE</a:t>
            </a:r>
            <a:r>
              <a:rPr lang="en-US" altLang="en-US">
                <a:latin typeface="Verdana" panose="020B0604030504040204" pitchFamily="34" charset="0"/>
                <a:ea typeface="Verdana" panose="020B0604030504040204" pitchFamily="34" charset="0"/>
                <a:cs typeface="Verdana" panose="020B0604030504040204" pitchFamily="34" charset="0"/>
              </a:rPr>
              <a:t> </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   -- variable declaration </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   message  varchar2(20):= 'Hello, World!'; </a:t>
            </a:r>
          </a:p>
          <a:p>
            <a:pPr algn="l" eaLnBrk="1" hangingPunct="1"/>
            <a:r>
              <a:rPr lang="en-US" altLang="en-US" b="1">
                <a:latin typeface="Verdana" panose="020B0604030504040204" pitchFamily="34" charset="0"/>
                <a:ea typeface="Verdana" panose="020B0604030504040204" pitchFamily="34" charset="0"/>
                <a:cs typeface="Verdana" panose="020B0604030504040204" pitchFamily="34" charset="0"/>
              </a:rPr>
              <a:t>BEGIN </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   /* </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     PL/SQL executable statement(s) </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   */ </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   dbms_output.put_line(message); </a:t>
            </a:r>
          </a:p>
          <a:p>
            <a:pPr algn="l" eaLnBrk="1" hangingPunct="1"/>
            <a:r>
              <a:rPr lang="en-US" altLang="en-US" b="1">
                <a:latin typeface="Verdana" panose="020B0604030504040204" pitchFamily="34" charset="0"/>
                <a:ea typeface="Verdana" panose="020B0604030504040204" pitchFamily="34" charset="0"/>
                <a:cs typeface="Verdana" panose="020B0604030504040204" pitchFamily="34" charset="0"/>
              </a:rPr>
              <a:t>END;</a:t>
            </a:r>
            <a:r>
              <a:rPr lang="en-US" altLang="en-US">
                <a:latin typeface="Verdana" panose="020B0604030504040204" pitchFamily="34" charset="0"/>
                <a:ea typeface="Verdana" panose="020B0604030504040204" pitchFamily="34" charset="0"/>
                <a:cs typeface="Verdana" panose="020B0604030504040204" pitchFamily="34" charset="0"/>
              </a:rPr>
              <a:t> </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When the above code is executed at the SQL prompt, it produces the following result −</a:t>
            </a:r>
          </a:p>
          <a:p>
            <a:pPr algn="l" eaLnBrk="1" hangingPunct="1"/>
            <a:r>
              <a:rPr lang="en-US" altLang="en-US" b="1">
                <a:latin typeface="Verdana" panose="020B0604030504040204" pitchFamily="34" charset="0"/>
                <a:ea typeface="Verdana" panose="020B0604030504040204" pitchFamily="34" charset="0"/>
                <a:cs typeface="Verdana" panose="020B0604030504040204" pitchFamily="34" charset="0"/>
              </a:rPr>
              <a:t>Hello World</a:t>
            </a:r>
          </a:p>
          <a:p>
            <a:pPr algn="l" eaLnBrk="1" hangingPunct="1"/>
            <a:r>
              <a:rPr lang="en-US" altLang="en-US" b="1">
                <a:latin typeface="Verdana" panose="020B0604030504040204" pitchFamily="34" charset="0"/>
                <a:ea typeface="Verdana" panose="020B0604030504040204" pitchFamily="34" charset="0"/>
                <a:cs typeface="Verdana" panose="020B0604030504040204" pitchFamily="34" charset="0"/>
              </a:rPr>
              <a:t> </a:t>
            </a:r>
          </a:p>
          <a:p>
            <a:pPr algn="l" eaLnBrk="1" hangingPunct="1"/>
            <a:r>
              <a:rPr lang="en-US" altLang="en-US" b="1">
                <a:latin typeface="Verdana" panose="020B0604030504040204" pitchFamily="34" charset="0"/>
                <a:ea typeface="Verdana" panose="020B0604030504040204" pitchFamily="34" charset="0"/>
                <a:cs typeface="Verdana" panose="020B0604030504040204" pitchFamily="34" charset="0"/>
              </a:rPr>
              <a:t>PL/SQL procedure successfully completed.</a:t>
            </a:r>
          </a:p>
          <a:p>
            <a:pPr algn="l" eaLnBrk="1" hangingPunct="1"/>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Content Placeholder 4">
            <a:extLst>
              <a:ext uri="{FF2B5EF4-FFF2-40B4-BE49-F238E27FC236}">
                <a16:creationId xmlns:a16="http://schemas.microsoft.com/office/drawing/2014/main" id="{5DB6F733-996F-47E6-99CA-7FF20052B7C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4800" y="0"/>
            <a:ext cx="8458200" cy="6356350"/>
          </a:xfrm>
        </p:spPr>
      </p:pic>
      <p:sp>
        <p:nvSpPr>
          <p:cNvPr id="4" name="Date Placeholder 3">
            <a:extLst>
              <a:ext uri="{FF2B5EF4-FFF2-40B4-BE49-F238E27FC236}">
                <a16:creationId xmlns:a16="http://schemas.microsoft.com/office/drawing/2014/main" id="{FF8C520E-C1E6-4D89-97BB-B0A4BA6D4C59}"/>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6692AD4E-E7D3-41D9-A8BC-7E2764AB3D0A}"/>
              </a:ext>
            </a:extLst>
          </p:cNvPr>
          <p:cNvSpPr>
            <a:spLocks noGrp="1"/>
          </p:cNvSpPr>
          <p:nvPr>
            <p:ph type="ctrTitle"/>
          </p:nvPr>
        </p:nvSpPr>
        <p:spPr>
          <a:xfrm>
            <a:off x="228600" y="150813"/>
            <a:ext cx="8001000" cy="838200"/>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PL/SQL VARIABLES:</a:t>
            </a:r>
          </a:p>
        </p:txBody>
      </p:sp>
      <p:sp>
        <p:nvSpPr>
          <p:cNvPr id="584707" name="Rectangle 3">
            <a:extLst>
              <a:ext uri="{FF2B5EF4-FFF2-40B4-BE49-F238E27FC236}">
                <a16:creationId xmlns:a16="http://schemas.microsoft.com/office/drawing/2014/main" id="{983FBD9E-C06E-44AB-97FA-3229DDF4960A}"/>
              </a:ext>
            </a:extLst>
          </p:cNvPr>
          <p:cNvSpPr>
            <a:spLocks noGrp="1" noChangeArrowheads="1"/>
          </p:cNvSpPr>
          <p:nvPr>
            <p:ph type="subTitle" idx="1"/>
          </p:nvPr>
        </p:nvSpPr>
        <p:spPr>
          <a:xfrm>
            <a:off x="152400" y="990600"/>
            <a:ext cx="8077200" cy="5410200"/>
          </a:xfrm>
        </p:spPr>
        <p:txBody>
          <a:bodyPr rtlCol="0">
            <a:normAutofit/>
          </a:bodyPr>
          <a:lstStyle/>
          <a:p>
            <a:pPr marL="457200" indent="-457200" algn="l" eaLnBrk="1" fontAlgn="auto" hangingPunct="1">
              <a:spcAft>
                <a:spcPts val="0"/>
              </a:spcAft>
              <a:buFont typeface="+mj-lt"/>
              <a:buAutoNum type="arabicPeriod"/>
              <a:defRPr/>
            </a:pPr>
            <a:r>
              <a:rPr lang="en-US" sz="1900" dirty="0">
                <a:latin typeface="Verdana" panose="020B0604030504040204" pitchFamily="34" charset="0"/>
                <a:ea typeface="Verdana" panose="020B0604030504040204" pitchFamily="34" charset="0"/>
                <a:cs typeface="Verdana" panose="020B0604030504040204" pitchFamily="34" charset="0"/>
              </a:rPr>
              <a:t>A variable is nothing but a name given to a storage area that our programs can manipulate.</a:t>
            </a:r>
          </a:p>
          <a:p>
            <a:pPr marL="457200" indent="-457200" algn="l" eaLnBrk="1" fontAlgn="auto" hangingPunct="1">
              <a:spcAft>
                <a:spcPts val="0"/>
              </a:spcAft>
              <a:buFont typeface="+mj-lt"/>
              <a:buAutoNum type="arabicPeriod"/>
              <a:defRPr/>
            </a:pPr>
            <a:r>
              <a:rPr lang="en-US" sz="1900" dirty="0">
                <a:latin typeface="Verdana" panose="020B0604030504040204" pitchFamily="34" charset="0"/>
                <a:ea typeface="Verdana" panose="020B0604030504040204" pitchFamily="34" charset="0"/>
                <a:cs typeface="Verdana" panose="020B0604030504040204" pitchFamily="34" charset="0"/>
              </a:rPr>
              <a:t>A variable is a meaningful name which facilitates a programmer to store data temporarily during the execution of code. </a:t>
            </a:r>
          </a:p>
          <a:p>
            <a:pPr marL="457200" indent="-457200" algn="l" eaLnBrk="1" fontAlgn="auto" hangingPunct="1">
              <a:spcAft>
                <a:spcPts val="0"/>
              </a:spcAft>
              <a:buFont typeface="+mj-lt"/>
              <a:buAutoNum type="arabicPeriod"/>
              <a:defRPr/>
            </a:pPr>
            <a:r>
              <a:rPr lang="en-US" sz="1900" dirty="0">
                <a:latin typeface="Verdana" panose="020B0604030504040204" pitchFamily="34" charset="0"/>
                <a:ea typeface="Verdana" panose="020B0604030504040204" pitchFamily="34" charset="0"/>
                <a:cs typeface="Verdana" panose="020B0604030504040204" pitchFamily="34" charset="0"/>
              </a:rPr>
              <a:t>A variable should not exceed 30 characters. Its letter optionally followed by more letters, dollar signs, numerals, underscore etc.</a:t>
            </a:r>
          </a:p>
          <a:p>
            <a:pPr marL="171450" algn="l" eaLnBrk="1" fontAlgn="auto" hangingPunct="1">
              <a:spcAft>
                <a:spcPts val="0"/>
              </a:spcAft>
              <a:defRPr/>
            </a:pPr>
            <a:r>
              <a:rPr lang="en-US" altLang="en-US" sz="2800" dirty="0">
                <a:ea typeface="Arial Unicode MS" panose="020B0604020202020204" pitchFamily="34" charset="-128"/>
                <a:cs typeface="Arial Unicode MS" panose="020B0604020202020204" pitchFamily="34" charset="-128"/>
              </a:rPr>
              <a:t>NOTE:</a:t>
            </a:r>
          </a:p>
          <a:p>
            <a:pPr marL="285750" indent="-285750" algn="l" eaLnBrk="1" fontAlgn="auto" hangingPunct="1">
              <a:spcAft>
                <a:spcPts val="0"/>
              </a:spcAft>
              <a:buFont typeface="Wingdings" panose="05000000000000000000" pitchFamily="2" charset="2"/>
              <a:buChar char="v"/>
              <a:defRPr/>
            </a:pPr>
            <a:r>
              <a:rPr lang="en-US" i="1" dirty="0">
                <a:latin typeface="Verdana" panose="020B0604030504040204" pitchFamily="34" charset="0"/>
                <a:ea typeface="Verdana" panose="020B0604030504040204" pitchFamily="34" charset="0"/>
                <a:cs typeface="Verdana" panose="020B0604030504040204" pitchFamily="34" charset="0"/>
              </a:rPr>
              <a:t>It needs to declare the variable first in the declaration section of a PL/SQL block before using it.</a:t>
            </a:r>
          </a:p>
          <a:p>
            <a:pPr marL="285750" indent="-285750" algn="l" eaLnBrk="1" fontAlgn="auto" hangingPunct="1">
              <a:spcAft>
                <a:spcPts val="0"/>
              </a:spcAft>
              <a:buFont typeface="Wingdings" panose="05000000000000000000" pitchFamily="2" charset="2"/>
              <a:buChar char="v"/>
              <a:defRPr/>
            </a:pPr>
            <a:r>
              <a:rPr lang="en-US" i="1" dirty="0">
                <a:latin typeface="Verdana" panose="020B0604030504040204" pitchFamily="34" charset="0"/>
                <a:ea typeface="Verdana" panose="020B0604030504040204" pitchFamily="34" charset="0"/>
                <a:cs typeface="Verdana" panose="020B0604030504040204" pitchFamily="34" charset="0"/>
              </a:rPr>
              <a:t> By default, variable names are not case sensitive. A reserved PL/SQL keyword cannot be used as a variable name.</a:t>
            </a:r>
          </a:p>
          <a:p>
            <a:pPr marL="171450" algn="l" eaLnBrk="1" fontAlgn="auto" hangingPunct="1">
              <a:spcAft>
                <a:spcPts val="0"/>
              </a:spcAft>
              <a:defRPr/>
            </a:pPr>
            <a:endParaRPr lang="en-US" altLang="en-US" sz="2800" dirty="0">
              <a:ea typeface="Arial Unicode MS" panose="020B0604020202020204" pitchFamily="34" charset="-128"/>
              <a:cs typeface="Arial Unicode MS" panose="020B0604020202020204" pitchFamily="34" charset="-128"/>
            </a:endParaRPr>
          </a:p>
        </p:txBody>
      </p:sp>
      <p:sp>
        <p:nvSpPr>
          <p:cNvPr id="4" name="Date Placeholder 3">
            <a:extLst>
              <a:ext uri="{FF2B5EF4-FFF2-40B4-BE49-F238E27FC236}">
                <a16:creationId xmlns:a16="http://schemas.microsoft.com/office/drawing/2014/main" id="{85E9D1D8-8105-4B28-B1F7-09165E0F08DB}"/>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4ECD298-710D-4D18-A567-4F4BE324C07C}"/>
              </a:ext>
            </a:extLst>
          </p:cNvPr>
          <p:cNvSpPr>
            <a:spLocks noGrp="1"/>
          </p:cNvSpPr>
          <p:nvPr>
            <p:ph type="ctrTitle"/>
          </p:nvPr>
        </p:nvSpPr>
        <p:spPr>
          <a:xfrm>
            <a:off x="0" y="152400"/>
            <a:ext cx="9144000" cy="838200"/>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PL/SQL VARIABLES:</a:t>
            </a:r>
            <a:endParaRPr lang="en-US" altLang="en-US" sz="2000" u="sng">
              <a:latin typeface="Verdana" panose="020B0604030504040204" pitchFamily="34" charset="0"/>
              <a:ea typeface="Verdana" panose="020B0604030504040204" pitchFamily="34" charset="0"/>
              <a:cs typeface="Verdana" panose="020B0604030504040204" pitchFamily="34" charset="0"/>
            </a:endParaRPr>
          </a:p>
        </p:txBody>
      </p:sp>
      <p:sp>
        <p:nvSpPr>
          <p:cNvPr id="585731" name="Rectangle 3">
            <a:extLst>
              <a:ext uri="{FF2B5EF4-FFF2-40B4-BE49-F238E27FC236}">
                <a16:creationId xmlns:a16="http://schemas.microsoft.com/office/drawing/2014/main" id="{4A77F834-BE9B-43D4-87BA-970715FD01C7}"/>
              </a:ext>
            </a:extLst>
          </p:cNvPr>
          <p:cNvSpPr>
            <a:spLocks noGrp="1" noChangeArrowheads="1"/>
          </p:cNvSpPr>
          <p:nvPr>
            <p:ph type="subTitle" idx="1"/>
          </p:nvPr>
        </p:nvSpPr>
        <p:spPr>
          <a:xfrm>
            <a:off x="152400" y="990600"/>
            <a:ext cx="8077200" cy="5410200"/>
          </a:xfrm>
        </p:spPr>
        <p:txBody>
          <a:bodyPr rtlCol="0">
            <a:normAutofit/>
          </a:bodyPr>
          <a:lstStyle/>
          <a:p>
            <a:pPr marL="171450"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Naming rules for PL/SQL variables:</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The variable in PL/SQL must follow some naming rules like other programming languages.</a:t>
            </a:r>
          </a:p>
          <a:p>
            <a:pPr marL="342900" indent="-342900" algn="l" eaLnBrk="1" fontAlgn="auto" hangingPunct="1">
              <a:spcAft>
                <a:spcPts val="0"/>
              </a:spcAft>
              <a:buFont typeface="+mj-lt"/>
              <a:buAutoNum type="arabicPeriod"/>
              <a:defRPr/>
            </a:pPr>
            <a:r>
              <a:rPr lang="en-US" dirty="0">
                <a:latin typeface="Verdana" panose="020B0604030504040204" pitchFamily="34" charset="0"/>
                <a:ea typeface="Verdana" panose="020B0604030504040204" pitchFamily="34" charset="0"/>
                <a:cs typeface="Verdana" panose="020B0604030504040204" pitchFamily="34" charset="0"/>
              </a:rPr>
              <a:t>The variable name should not exceed 30 characters.</a:t>
            </a:r>
          </a:p>
          <a:p>
            <a:pPr marL="342900" indent="-342900" algn="l" eaLnBrk="1" fontAlgn="auto" hangingPunct="1">
              <a:spcAft>
                <a:spcPts val="0"/>
              </a:spcAft>
              <a:buFont typeface="+mj-lt"/>
              <a:buAutoNum type="arabicPeriod"/>
              <a:defRPr/>
            </a:pPr>
            <a:r>
              <a:rPr lang="en-US" dirty="0">
                <a:latin typeface="Verdana" panose="020B0604030504040204" pitchFamily="34" charset="0"/>
                <a:ea typeface="Verdana" panose="020B0604030504040204" pitchFamily="34" charset="0"/>
                <a:cs typeface="Verdana" panose="020B0604030504040204" pitchFamily="34" charset="0"/>
              </a:rPr>
              <a:t>The name of the variable must begin with ASCII letter. The PL/SQL is not case sensitive so it could be either lowercase or uppercase. For example: </a:t>
            </a:r>
            <a:r>
              <a:rPr lang="en-US" b="1" dirty="0" err="1">
                <a:highlight>
                  <a:srgbClr val="FFFF00"/>
                </a:highlight>
                <a:latin typeface="Verdana" panose="020B0604030504040204" pitchFamily="34" charset="0"/>
                <a:ea typeface="Verdana" panose="020B0604030504040204" pitchFamily="34" charset="0"/>
                <a:cs typeface="Verdana" panose="020B0604030504040204" pitchFamily="34" charset="0"/>
              </a:rPr>
              <a:t>v_data</a:t>
            </a:r>
            <a:r>
              <a:rPr lang="en-US" b="1" dirty="0">
                <a:highlight>
                  <a:srgbClr val="FFFF00"/>
                </a:highlight>
                <a:latin typeface="Verdana" panose="020B0604030504040204" pitchFamily="34" charset="0"/>
                <a:ea typeface="Verdana" panose="020B0604030504040204" pitchFamily="34" charset="0"/>
                <a:cs typeface="Verdana" panose="020B0604030504040204" pitchFamily="34" charset="0"/>
              </a:rPr>
              <a:t> and V_DATA </a:t>
            </a:r>
            <a:r>
              <a:rPr lang="en-US" dirty="0">
                <a:highlight>
                  <a:srgbClr val="FFFF00"/>
                </a:highlight>
                <a:latin typeface="Verdana" panose="020B0604030504040204" pitchFamily="34" charset="0"/>
                <a:ea typeface="Verdana" panose="020B0604030504040204" pitchFamily="34" charset="0"/>
                <a:cs typeface="Verdana" panose="020B0604030504040204" pitchFamily="34" charset="0"/>
              </a:rPr>
              <a:t>refer to the same variables.</a:t>
            </a:r>
          </a:p>
          <a:p>
            <a:pPr marL="342900" indent="-342900" algn="l" eaLnBrk="1" fontAlgn="auto" hangingPunct="1">
              <a:spcAft>
                <a:spcPts val="0"/>
              </a:spcAft>
              <a:buFont typeface="+mj-lt"/>
              <a:buAutoNum type="arabicPeriod"/>
              <a:defRPr/>
            </a:pPr>
            <a:r>
              <a:rPr lang="en-US" dirty="0">
                <a:latin typeface="Verdana" panose="020B0604030504040204" pitchFamily="34" charset="0"/>
                <a:ea typeface="Verdana" panose="020B0604030504040204" pitchFamily="34" charset="0"/>
                <a:cs typeface="Verdana" panose="020B0604030504040204" pitchFamily="34" charset="0"/>
              </a:rPr>
              <a:t>You should make your variable easy to read and understand, after the first character, it may be any number, underscore (_) or dollar sign ($).</a:t>
            </a:r>
          </a:p>
          <a:p>
            <a:pPr algn="l" eaLnBrk="1" fontAlgn="auto" hangingPunct="1">
              <a:spcAft>
                <a:spcPts val="0"/>
              </a:spcAft>
              <a:defRPr/>
            </a:pPr>
            <a:endParaRPr lang="en-US" dirty="0">
              <a:latin typeface="Verdana" panose="020B0604030504040204" pitchFamily="34" charset="0"/>
              <a:ea typeface="Verdana" panose="020B0604030504040204" pitchFamily="34" charset="0"/>
              <a:cs typeface="Verdana" panose="020B0604030504040204" pitchFamily="34" charset="0"/>
            </a:endParaRPr>
          </a:p>
          <a:p>
            <a:pPr marL="171450" algn="l" eaLnBrk="1" fontAlgn="auto" hangingPunct="1">
              <a:spcAft>
                <a:spcPts val="0"/>
              </a:spcAft>
              <a:defRPr/>
            </a:pPr>
            <a:endParaRPr lang="en-US" altLang="en-US" dirty="0">
              <a:ea typeface="Arial Unicode MS" panose="020B0604020202020204" pitchFamily="34" charset="-128"/>
              <a:cs typeface="Arial Unicode MS" panose="020B0604020202020204" pitchFamily="34" charset="-128"/>
            </a:endParaRPr>
          </a:p>
          <a:p>
            <a:pPr marL="781050" indent="-609600" algn="just" eaLnBrk="1" fontAlgn="auto" hangingPunct="1">
              <a:spcAft>
                <a:spcPts val="0"/>
              </a:spcAft>
              <a:buFontTx/>
              <a:buChar char="•"/>
              <a:defRPr/>
            </a:pPr>
            <a:endParaRPr lang="en-US" altLang="en-US" sz="2800" dirty="0">
              <a:ea typeface="Arial Unicode MS" panose="020B0604020202020204" pitchFamily="34" charset="-128"/>
              <a:cs typeface="Arial Unicode MS" panose="020B0604020202020204" pitchFamily="34" charset="-128"/>
            </a:endParaRPr>
          </a:p>
        </p:txBody>
      </p:sp>
      <p:sp>
        <p:nvSpPr>
          <p:cNvPr id="4" name="Date Placeholder 3">
            <a:extLst>
              <a:ext uri="{FF2B5EF4-FFF2-40B4-BE49-F238E27FC236}">
                <a16:creationId xmlns:a16="http://schemas.microsoft.com/office/drawing/2014/main" id="{9131F807-011D-463A-8F28-5CBAC9650DA9}"/>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075C554F-A9BE-4490-A5A2-32CDC439E384}"/>
              </a:ext>
            </a:extLst>
          </p:cNvPr>
          <p:cNvSpPr>
            <a:spLocks noGrp="1"/>
          </p:cNvSpPr>
          <p:nvPr>
            <p:ph type="ctrTitle"/>
          </p:nvPr>
        </p:nvSpPr>
        <p:spPr>
          <a:xfrm>
            <a:off x="0" y="152400"/>
            <a:ext cx="9144000" cy="838200"/>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PL/SQL VARIABLE:</a:t>
            </a:r>
          </a:p>
        </p:txBody>
      </p:sp>
      <p:sp>
        <p:nvSpPr>
          <p:cNvPr id="4" name="Date Placeholder 3">
            <a:extLst>
              <a:ext uri="{FF2B5EF4-FFF2-40B4-BE49-F238E27FC236}">
                <a16:creationId xmlns:a16="http://schemas.microsoft.com/office/drawing/2014/main" id="{2589FC17-14A8-4EF3-A98B-09A7278EE487}"/>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
        <p:nvSpPr>
          <p:cNvPr id="24580" name="Subtitle 1">
            <a:extLst>
              <a:ext uri="{FF2B5EF4-FFF2-40B4-BE49-F238E27FC236}">
                <a16:creationId xmlns:a16="http://schemas.microsoft.com/office/drawing/2014/main" id="{073963BD-AB40-47C7-B5A1-E3EA5BED2899}"/>
              </a:ext>
            </a:extLst>
          </p:cNvPr>
          <p:cNvSpPr>
            <a:spLocks noGrp="1"/>
          </p:cNvSpPr>
          <p:nvPr>
            <p:ph type="subTitle" idx="1"/>
          </p:nvPr>
        </p:nvSpPr>
        <p:spPr>
          <a:xfrm>
            <a:off x="304800" y="990600"/>
            <a:ext cx="8305800" cy="5365750"/>
          </a:xfrm>
        </p:spPr>
        <p:txBody>
          <a:bodyPr/>
          <a:lstStyle/>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lang="en-US" altLang="en-US">
                <a:latin typeface="Verdana" panose="020B0604030504040204" pitchFamily="34" charset="0"/>
                <a:ea typeface="Verdana" panose="020B0604030504040204" pitchFamily="34" charset="0"/>
                <a:cs typeface="Verdana" panose="020B0604030504040204" pitchFamily="34" charset="0"/>
              </a:rPr>
              <a:t>For example, if you want to store the current salary of an employee, you can use a variable.</a:t>
            </a:r>
          </a:p>
          <a:p>
            <a:pPr algn="l" eaLnBrk="1" hangingPunct="1"/>
            <a:r>
              <a:rPr lang="en-US" altLang="en-US" b="1">
                <a:latin typeface="Verdana" panose="020B0604030504040204" pitchFamily="34" charset="0"/>
                <a:ea typeface="Verdana" panose="020B0604030504040204" pitchFamily="34" charset="0"/>
                <a:cs typeface="Verdana" panose="020B0604030504040204" pitchFamily="34" charset="0"/>
              </a:rPr>
              <a:t>DECLARE</a:t>
            </a:r>
          </a:p>
          <a:p>
            <a:pPr algn="l" eaLnBrk="1" hangingPunct="1"/>
            <a:r>
              <a:rPr lang="en-US" altLang="en-US" b="1">
                <a:latin typeface="Verdana" panose="020B0604030504040204" pitchFamily="34" charset="0"/>
                <a:ea typeface="Verdana" panose="020B0604030504040204" pitchFamily="34" charset="0"/>
                <a:cs typeface="Verdana" panose="020B0604030504040204" pitchFamily="34" charset="0"/>
              </a:rPr>
              <a:t>salary  number (6);</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 “salary” is a variable of datatype number and of length 6.</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lang="en-US" altLang="en-US">
                <a:latin typeface="Verdana" panose="020B0604030504040204" pitchFamily="34" charset="0"/>
                <a:ea typeface="Verdana" panose="020B0604030504040204" pitchFamily="34" charset="0"/>
                <a:cs typeface="Verdana" panose="020B0604030504040204" pitchFamily="34" charset="0"/>
              </a:rPr>
              <a:t>When a variable is specified as NOT NULL, you must initialize the variable when it is declared.</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For example: The below example declares two variables, one of which is a not null.</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DECLARE</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salary number(4);</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dept varchar2(10) NOT NULL := “HR Dept”;</a:t>
            </a:r>
          </a:p>
          <a:p>
            <a:pPr algn="l" eaLnBrk="1" hangingPunct="1"/>
            <a:endParaRPr lang="en-US" altLang="en-US">
              <a:latin typeface="Verdana" panose="020B0604030504040204" pitchFamily="34" charset="0"/>
              <a:ea typeface="Verdana" panose="020B0604030504040204" pitchFamily="34" charset="0"/>
              <a:cs typeface="Verdana" panose="020B0604030504040204" pitchFamily="34" charset="0"/>
            </a:endParaRPr>
          </a:p>
          <a:p>
            <a:pPr algn="l" eaLnBrk="1" hangingPunct="1"/>
            <a:endParaRPr lang="en-US" altLang="en-US">
              <a:latin typeface="Verdana" panose="020B0604030504040204" pitchFamily="34" charset="0"/>
              <a:ea typeface="Verdana" panose="020B0604030504040204" pitchFamily="34" charset="0"/>
              <a:cs typeface="Verdana" panose="020B0604030504040204" pitchFamily="34" charset="0"/>
            </a:endParaRPr>
          </a:p>
          <a:p>
            <a:pPr algn="l" eaLnBrk="1" hangingPunct="1"/>
            <a:endParaRPr lang="en-US" altLang="en-US"/>
          </a:p>
          <a:p>
            <a:pPr algn="l" eaLnBrk="1" hangingPunct="1"/>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8F804168-8031-4F6C-82BB-D6509012FD76}"/>
              </a:ext>
            </a:extLst>
          </p:cNvPr>
          <p:cNvSpPr>
            <a:spLocks noGrp="1"/>
          </p:cNvSpPr>
          <p:nvPr>
            <p:ph type="ctrTitle"/>
          </p:nvPr>
        </p:nvSpPr>
        <p:spPr>
          <a:xfrm>
            <a:off x="228600" y="0"/>
            <a:ext cx="8610600" cy="838200"/>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PL/SQL VARIABLE:</a:t>
            </a:r>
          </a:p>
        </p:txBody>
      </p:sp>
      <p:sp>
        <p:nvSpPr>
          <p:cNvPr id="25603" name="Rectangle 3">
            <a:extLst>
              <a:ext uri="{FF2B5EF4-FFF2-40B4-BE49-F238E27FC236}">
                <a16:creationId xmlns:a16="http://schemas.microsoft.com/office/drawing/2014/main" id="{456652A9-C9AB-4003-8DD0-6964FB100D06}"/>
              </a:ext>
            </a:extLst>
          </p:cNvPr>
          <p:cNvSpPr>
            <a:spLocks noGrp="1"/>
          </p:cNvSpPr>
          <p:nvPr>
            <p:ph type="subTitle" idx="1"/>
          </p:nvPr>
        </p:nvSpPr>
        <p:spPr>
          <a:xfrm>
            <a:off x="228600" y="762000"/>
            <a:ext cx="8915400" cy="5334000"/>
          </a:xfrm>
        </p:spPr>
        <p:txBody>
          <a:bodyPr/>
          <a:lstStyle/>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The value of a variable can change in the execution or exception section of the PL/SQL Block. We can assign values to variables in the two ways given below.</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1) We can directly assign values to variables. </a:t>
            </a:r>
            <a:br>
              <a:rPr lang="en-US" altLang="en-US">
                <a:latin typeface="Verdana" panose="020B0604030504040204" pitchFamily="34" charset="0"/>
                <a:ea typeface="Verdana" panose="020B0604030504040204" pitchFamily="34" charset="0"/>
                <a:cs typeface="Verdana" panose="020B0604030504040204" pitchFamily="34" charset="0"/>
              </a:rPr>
            </a:br>
            <a:r>
              <a:rPr lang="en-US" altLang="en-US">
                <a:latin typeface="Verdana" panose="020B0604030504040204" pitchFamily="34" charset="0"/>
                <a:ea typeface="Verdana" panose="020B0604030504040204" pitchFamily="34" charset="0"/>
                <a:cs typeface="Verdana" panose="020B0604030504040204" pitchFamily="34" charset="0"/>
              </a:rPr>
              <a:t>    The General Syntax is:         </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  variable_name:=  value;</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2) We can assign values to variables directly from the database columns by using a SELECT.. INTO statement. The General Syntax is:</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SELECT column_name</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INTO variable_name </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FROM table_name </a:t>
            </a:r>
          </a:p>
          <a:p>
            <a:pPr algn="l" eaLnBrk="1" hangingPunct="1"/>
            <a:r>
              <a:rPr lang="en-US" altLang="en-US">
                <a:latin typeface="Verdana" panose="020B0604030504040204" pitchFamily="34" charset="0"/>
                <a:ea typeface="Verdana" panose="020B0604030504040204" pitchFamily="34" charset="0"/>
                <a:cs typeface="Verdana" panose="020B0604030504040204" pitchFamily="34" charset="0"/>
              </a:rPr>
              <a:t>[WHERE condition]; </a:t>
            </a:r>
          </a:p>
        </p:txBody>
      </p:sp>
      <p:sp>
        <p:nvSpPr>
          <p:cNvPr id="4" name="Date Placeholder 3">
            <a:extLst>
              <a:ext uri="{FF2B5EF4-FFF2-40B4-BE49-F238E27FC236}">
                <a16:creationId xmlns:a16="http://schemas.microsoft.com/office/drawing/2014/main" id="{6A0CE21C-54FA-4EF0-A3D9-DBF0BC25E196}"/>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256B0C68-A7D3-482C-96B8-D42021252606}"/>
              </a:ext>
            </a:extLst>
          </p:cNvPr>
          <p:cNvSpPr>
            <a:spLocks noGrp="1"/>
          </p:cNvSpPr>
          <p:nvPr>
            <p:ph type="ctrTitle"/>
          </p:nvPr>
        </p:nvSpPr>
        <p:spPr>
          <a:xfrm>
            <a:off x="533400" y="228600"/>
            <a:ext cx="8305800" cy="381000"/>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PL/SQL VARIABLE:</a:t>
            </a:r>
          </a:p>
        </p:txBody>
      </p:sp>
      <p:sp>
        <p:nvSpPr>
          <p:cNvPr id="590851" name="Rectangle 3">
            <a:extLst>
              <a:ext uri="{FF2B5EF4-FFF2-40B4-BE49-F238E27FC236}">
                <a16:creationId xmlns:a16="http://schemas.microsoft.com/office/drawing/2014/main" id="{DACEF71C-F484-4FC3-9893-39964D36CFDC}"/>
              </a:ext>
            </a:extLst>
          </p:cNvPr>
          <p:cNvSpPr>
            <a:spLocks noGrp="1" noChangeArrowheads="1"/>
          </p:cNvSpPr>
          <p:nvPr>
            <p:ph type="subTitle" idx="1"/>
          </p:nvPr>
        </p:nvSpPr>
        <p:spPr>
          <a:xfrm>
            <a:off x="228600" y="762000"/>
            <a:ext cx="8686800" cy="5334000"/>
          </a:xfrm>
        </p:spPr>
        <p:txBody>
          <a:bodyPr rtlCol="0">
            <a:normAutofit/>
          </a:bodyPr>
          <a:lstStyle/>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Example: The below program will get the salary of an employee with id '1116' and display it on the screen.</a:t>
            </a: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DECLARE</a:t>
            </a:r>
            <a:r>
              <a:rPr lang="en-US" dirty="0">
                <a:latin typeface="Verdana" panose="020B0604030504040204" pitchFamily="34" charset="0"/>
                <a:ea typeface="Verdana" panose="020B0604030504040204" pitchFamily="34" charset="0"/>
                <a:cs typeface="Verdana" panose="020B0604030504040204" pitchFamily="34" charset="0"/>
              </a:rPr>
              <a:t>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var_salary number(6);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a:t>
            </a:r>
            <a:r>
              <a:rPr lang="en-US" dirty="0" err="1">
                <a:latin typeface="Verdana" panose="020B0604030504040204" pitchFamily="34" charset="0"/>
                <a:ea typeface="Verdana" panose="020B0604030504040204" pitchFamily="34" charset="0"/>
                <a:cs typeface="Verdana" panose="020B0604030504040204" pitchFamily="34" charset="0"/>
              </a:rPr>
              <a:t>var_emp_id</a:t>
            </a:r>
            <a:r>
              <a:rPr lang="en-US" dirty="0">
                <a:latin typeface="Verdana" panose="020B0604030504040204" pitchFamily="34" charset="0"/>
                <a:ea typeface="Verdana" panose="020B0604030504040204" pitchFamily="34" charset="0"/>
                <a:cs typeface="Verdana" panose="020B0604030504040204" pitchFamily="34" charset="0"/>
              </a:rPr>
              <a:t> number(6) = 1116; 	</a:t>
            </a: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BEGIN</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SELECT salary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INTO var_salary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FROM employee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WHERE </a:t>
            </a:r>
            <a:r>
              <a:rPr lang="en-US" dirty="0" err="1">
                <a:latin typeface="Verdana" panose="020B0604030504040204" pitchFamily="34" charset="0"/>
                <a:ea typeface="Verdana" panose="020B0604030504040204" pitchFamily="34" charset="0"/>
                <a:cs typeface="Verdana" panose="020B0604030504040204" pitchFamily="34" charset="0"/>
              </a:rPr>
              <a:t>emp_id</a:t>
            </a:r>
            <a:r>
              <a:rPr lang="en-US" dirty="0">
                <a:latin typeface="Verdana" panose="020B0604030504040204" pitchFamily="34" charset="0"/>
                <a:ea typeface="Verdana" panose="020B0604030504040204" pitchFamily="34" charset="0"/>
                <a:cs typeface="Verdana" panose="020B0604030504040204" pitchFamily="34" charset="0"/>
              </a:rPr>
              <a:t> = var_emp_id;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a:t>
            </a:r>
            <a:r>
              <a:rPr lang="en-US" dirty="0" err="1">
                <a:latin typeface="Verdana" panose="020B0604030504040204" pitchFamily="34" charset="0"/>
                <a:ea typeface="Verdana" panose="020B0604030504040204" pitchFamily="34" charset="0"/>
                <a:cs typeface="Verdana" panose="020B0604030504040204" pitchFamily="34" charset="0"/>
              </a:rPr>
              <a:t>dbms_output.put_line</a:t>
            </a:r>
            <a:r>
              <a:rPr lang="en-US" dirty="0">
                <a:latin typeface="Verdana" panose="020B0604030504040204" pitchFamily="34" charset="0"/>
                <a:ea typeface="Verdana" panose="020B0604030504040204" pitchFamily="34" charset="0"/>
                <a:cs typeface="Verdana" panose="020B0604030504040204" pitchFamily="34" charset="0"/>
              </a:rPr>
              <a:t>(</a:t>
            </a:r>
            <a:r>
              <a:rPr lang="en-US" dirty="0" err="1">
                <a:latin typeface="Verdana" panose="020B0604030504040204" pitchFamily="34" charset="0"/>
                <a:ea typeface="Verdana" panose="020B0604030504040204" pitchFamily="34" charset="0"/>
                <a:cs typeface="Verdana" panose="020B0604030504040204" pitchFamily="34" charset="0"/>
              </a:rPr>
              <a:t>var_salary</a:t>
            </a:r>
            <a:r>
              <a:rPr lang="en-US" dirty="0">
                <a:latin typeface="Verdana" panose="020B0604030504040204" pitchFamily="34" charset="0"/>
                <a:ea typeface="Verdana" panose="020B0604030504040204" pitchFamily="34" charset="0"/>
                <a:cs typeface="Verdana" panose="020B0604030504040204" pitchFamily="34" charset="0"/>
              </a:rPr>
              <a:t>);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dbms_output.put_line('The employee '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 var_emp_id || ' has  salary  ' || var_salary); </a:t>
            </a: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END;</a:t>
            </a:r>
            <a:r>
              <a:rPr lang="en-US" dirty="0">
                <a:latin typeface="Verdana" panose="020B0604030504040204" pitchFamily="34" charset="0"/>
                <a:ea typeface="Verdana" panose="020B0604030504040204" pitchFamily="34" charset="0"/>
                <a:cs typeface="Verdana" panose="020B0604030504040204" pitchFamily="34" charset="0"/>
              </a:rPr>
              <a:t>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a:t>
            </a:r>
          </a:p>
          <a:p>
            <a:pPr marL="171450" algn="l" eaLnBrk="1" fontAlgn="auto" hangingPunct="1">
              <a:lnSpc>
                <a:spcPct val="80000"/>
              </a:lnSpc>
              <a:spcAft>
                <a:spcPts val="0"/>
              </a:spcAft>
              <a:defRPr/>
            </a:pPr>
            <a:endParaRPr lang="en-US" altLang="en-US" sz="2800" dirty="0">
              <a:ea typeface="Arial Unicode MS" panose="020B0604020202020204" pitchFamily="34" charset="-128"/>
              <a:cs typeface="Arial Unicode MS" panose="020B0604020202020204" pitchFamily="34" charset="-128"/>
            </a:endParaRPr>
          </a:p>
        </p:txBody>
      </p:sp>
      <p:sp>
        <p:nvSpPr>
          <p:cNvPr id="4" name="Date Placeholder 3">
            <a:extLst>
              <a:ext uri="{FF2B5EF4-FFF2-40B4-BE49-F238E27FC236}">
                <a16:creationId xmlns:a16="http://schemas.microsoft.com/office/drawing/2014/main" id="{B8B1A060-7754-4C27-8EFC-7C1D31D0A0D9}"/>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72D9FAB-4237-42AC-9725-C2860A9743AE}"/>
              </a:ext>
            </a:extLst>
          </p:cNvPr>
          <p:cNvSpPr>
            <a:spLocks noGrp="1"/>
          </p:cNvSpPr>
          <p:nvPr>
            <p:ph type="ctrTitle"/>
          </p:nvPr>
        </p:nvSpPr>
        <p:spPr>
          <a:xfrm>
            <a:off x="304800" y="228600"/>
            <a:ext cx="8382000" cy="381000"/>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VARIABLE SCOPE IN PL/SQL</a:t>
            </a:r>
          </a:p>
        </p:txBody>
      </p:sp>
      <p:sp>
        <p:nvSpPr>
          <p:cNvPr id="591875" name="Rectangle 3">
            <a:extLst>
              <a:ext uri="{FF2B5EF4-FFF2-40B4-BE49-F238E27FC236}">
                <a16:creationId xmlns:a16="http://schemas.microsoft.com/office/drawing/2014/main" id="{39F2BF5A-B4F9-43BA-9756-852A573EFFA2}"/>
              </a:ext>
            </a:extLst>
          </p:cNvPr>
          <p:cNvSpPr>
            <a:spLocks noGrp="1" noChangeArrowheads="1"/>
          </p:cNvSpPr>
          <p:nvPr>
            <p:ph type="subTitle" idx="1"/>
          </p:nvPr>
        </p:nvSpPr>
        <p:spPr>
          <a:xfrm>
            <a:off x="304800" y="762000"/>
            <a:ext cx="8610600" cy="5334000"/>
          </a:xfrm>
        </p:spPr>
        <p:txBody>
          <a:bodyPr rtlCol="0">
            <a:normAutofit/>
          </a:bodyPr>
          <a:lstStyle/>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PL/SQL allows nesting of blocks. A program block can contain another inner block. If you declare a variable within an inner block, it is not accessible to an outer block. There are two types of variable scope:</a:t>
            </a:r>
          </a:p>
          <a:p>
            <a:pPr marL="342900" indent="-342900" algn="l" eaLnBrk="1" fontAlgn="auto" hangingPunct="1">
              <a:spcAft>
                <a:spcPts val="0"/>
              </a:spcAft>
              <a:buFont typeface="+mj-lt"/>
              <a:buAutoNum type="arabicPeriod"/>
              <a:defRPr/>
            </a:pPr>
            <a:r>
              <a:rPr lang="en-US" b="1" dirty="0">
                <a:latin typeface="Verdana" panose="020B0604030504040204" pitchFamily="34" charset="0"/>
                <a:ea typeface="Verdana" panose="020B0604030504040204" pitchFamily="34" charset="0"/>
                <a:cs typeface="Verdana" panose="020B0604030504040204" pitchFamily="34" charset="0"/>
              </a:rPr>
              <a:t>Local Variable:</a:t>
            </a:r>
            <a:r>
              <a:rPr lang="en-US" dirty="0">
                <a:latin typeface="Verdana" panose="020B0604030504040204" pitchFamily="34" charset="0"/>
                <a:ea typeface="Verdana" panose="020B0604030504040204" pitchFamily="34" charset="0"/>
                <a:cs typeface="Verdana" panose="020B0604030504040204" pitchFamily="34" charset="0"/>
              </a:rPr>
              <a:t> Local variables are the inner block variables which are not accessible to outer blocks.</a:t>
            </a:r>
          </a:p>
          <a:p>
            <a:pPr marL="342900" indent="-342900" algn="l" eaLnBrk="1" fontAlgn="auto" hangingPunct="1">
              <a:spcAft>
                <a:spcPts val="0"/>
              </a:spcAft>
              <a:buFont typeface="+mj-lt"/>
              <a:buAutoNum type="arabicPeriod"/>
              <a:defRPr/>
            </a:pPr>
            <a:r>
              <a:rPr lang="en-US" b="1" dirty="0">
                <a:latin typeface="Verdana" panose="020B0604030504040204" pitchFamily="34" charset="0"/>
                <a:ea typeface="Verdana" panose="020B0604030504040204" pitchFamily="34" charset="0"/>
                <a:cs typeface="Verdana" panose="020B0604030504040204" pitchFamily="34" charset="0"/>
              </a:rPr>
              <a:t>Global Variable:</a:t>
            </a:r>
            <a:r>
              <a:rPr lang="en-US" dirty="0">
                <a:latin typeface="Verdana" panose="020B0604030504040204" pitchFamily="34" charset="0"/>
                <a:ea typeface="Verdana" panose="020B0604030504040204" pitchFamily="34" charset="0"/>
                <a:cs typeface="Verdana" panose="020B0604030504040204" pitchFamily="34" charset="0"/>
              </a:rPr>
              <a:t> Global variables are declared in outermost block.</a:t>
            </a: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Example of Local and Global variables</a:t>
            </a:r>
          </a:p>
          <a:p>
            <a:pPr marL="171450" algn="l" eaLnBrk="1" fontAlgn="auto" hangingPunct="1">
              <a:lnSpc>
                <a:spcPct val="80000"/>
              </a:lnSpc>
              <a:spcAft>
                <a:spcPts val="0"/>
              </a:spcAft>
              <a:defRPr/>
            </a:pPr>
            <a:endParaRPr lang="en-US" altLang="en-US" sz="3200" b="1" dirty="0">
              <a:ea typeface="Arial Unicode MS" panose="020B0604020202020204" pitchFamily="34" charset="-128"/>
              <a:cs typeface="Arial Unicode MS" panose="020B0604020202020204" pitchFamily="34" charset="-128"/>
            </a:endParaRPr>
          </a:p>
        </p:txBody>
      </p:sp>
      <p:sp>
        <p:nvSpPr>
          <p:cNvPr id="4" name="Date Placeholder 3">
            <a:extLst>
              <a:ext uri="{FF2B5EF4-FFF2-40B4-BE49-F238E27FC236}">
                <a16:creationId xmlns:a16="http://schemas.microsoft.com/office/drawing/2014/main" id="{5B19B392-1D2F-4333-A608-0BB027125B86}"/>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9049858F-A809-41EC-AEEA-9012C5638CF0}"/>
              </a:ext>
            </a:extLst>
          </p:cNvPr>
          <p:cNvSpPr>
            <a:spLocks noGrp="1"/>
          </p:cNvSpPr>
          <p:nvPr>
            <p:ph type="ctrTitle"/>
          </p:nvPr>
        </p:nvSpPr>
        <p:spPr>
          <a:xfrm>
            <a:off x="838200" y="0"/>
            <a:ext cx="8001000" cy="838200"/>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Example</a:t>
            </a:r>
          </a:p>
        </p:txBody>
      </p:sp>
      <p:sp>
        <p:nvSpPr>
          <p:cNvPr id="592899" name="Rectangle 3">
            <a:extLst>
              <a:ext uri="{FF2B5EF4-FFF2-40B4-BE49-F238E27FC236}">
                <a16:creationId xmlns:a16="http://schemas.microsoft.com/office/drawing/2014/main" id="{444A2566-03C0-4B11-8144-CBD8CD36B2D3}"/>
              </a:ext>
            </a:extLst>
          </p:cNvPr>
          <p:cNvSpPr>
            <a:spLocks noGrp="1" noChangeArrowheads="1"/>
          </p:cNvSpPr>
          <p:nvPr>
            <p:ph type="subTitle" idx="1"/>
          </p:nvPr>
        </p:nvSpPr>
        <p:spPr>
          <a:xfrm>
            <a:off x="304800" y="908050"/>
            <a:ext cx="8839200" cy="5334000"/>
          </a:xfrm>
        </p:spPr>
        <p:txBody>
          <a:bodyPr rtlCol="0">
            <a:normAutofit fontScale="92500" lnSpcReduction="10000"/>
          </a:bodyPr>
          <a:lstStyle/>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DECLARE</a:t>
            </a:r>
            <a:r>
              <a:rPr lang="en-US"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a:t>
            </a:r>
            <a:r>
              <a:rPr lang="en-US" b="1" dirty="0">
                <a:latin typeface="Verdana" panose="020B0604030504040204" pitchFamily="34" charset="0"/>
                <a:ea typeface="Verdana" panose="020B0604030504040204" pitchFamily="34" charset="0"/>
                <a:cs typeface="Verdana" panose="020B0604030504040204" pitchFamily="34" charset="0"/>
              </a:rPr>
              <a:t>-- Global variables </a:t>
            </a:r>
            <a:r>
              <a:rPr lang="en-US"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num1 number := 95;   </a:t>
            </a:r>
            <a:endParaRPr lang="en-US" sz="2400"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num2 number := 85;   </a:t>
            </a:r>
            <a:endParaRPr lang="en-US" sz="2400"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BEGIN</a:t>
            </a:r>
            <a:r>
              <a:rPr lang="en-US"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dbms_output.put_line('Outer Variable num1: ' || num1);  </a:t>
            </a:r>
            <a:endParaRPr lang="en-US" sz="2400"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dbms_output.put_line('Outer Variable num2: ' || num2);  </a:t>
            </a:r>
            <a:endParaRPr lang="en-US" sz="2400"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a:t>
            </a:r>
            <a:r>
              <a:rPr lang="en-US" b="1" dirty="0">
                <a:latin typeface="Verdana" panose="020B0604030504040204" pitchFamily="34" charset="0"/>
                <a:ea typeface="Verdana" panose="020B0604030504040204" pitchFamily="34" charset="0"/>
                <a:cs typeface="Verdana" panose="020B0604030504040204" pitchFamily="34" charset="0"/>
              </a:rPr>
              <a:t>DECLARE</a:t>
            </a:r>
            <a:r>
              <a:rPr lang="en-US"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a:t>
            </a:r>
            <a:r>
              <a:rPr lang="en-US" b="1" dirty="0">
                <a:latin typeface="Verdana" panose="020B0604030504040204" pitchFamily="34" charset="0"/>
                <a:ea typeface="Verdana" panose="020B0604030504040204" pitchFamily="34" charset="0"/>
                <a:cs typeface="Verdana" panose="020B0604030504040204" pitchFamily="34" charset="0"/>
              </a:rPr>
              <a:t>-- Local variables</a:t>
            </a:r>
            <a:r>
              <a:rPr lang="en-US"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num1 number := 195;   </a:t>
            </a:r>
            <a:endParaRPr lang="en-US" sz="2400"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num2 number := 185;   </a:t>
            </a:r>
            <a:endParaRPr lang="en-US" sz="2400"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a:t>
            </a:r>
            <a:r>
              <a:rPr lang="en-US" b="1" dirty="0">
                <a:latin typeface="Verdana" panose="020B0604030504040204" pitchFamily="34" charset="0"/>
                <a:ea typeface="Verdana" panose="020B0604030504040204" pitchFamily="34" charset="0"/>
                <a:cs typeface="Verdana" panose="020B0604030504040204" pitchFamily="34" charset="0"/>
              </a:rPr>
              <a:t>BEGIN</a:t>
            </a:r>
            <a:r>
              <a:rPr lang="en-US"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dbms_output.put_line('Inner Variable num1: ' || num1);  </a:t>
            </a:r>
            <a:endParaRPr lang="en-US" sz="2400"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dbms_output.put_line('Inner Variable num2: ' || num2);  </a:t>
            </a:r>
            <a:endParaRPr lang="en-US" sz="2400"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a:t>
            </a:r>
            <a:r>
              <a:rPr lang="en-US" b="1" dirty="0">
                <a:latin typeface="Verdana" panose="020B0604030504040204" pitchFamily="34" charset="0"/>
                <a:ea typeface="Verdana" panose="020B0604030504040204" pitchFamily="34" charset="0"/>
                <a:cs typeface="Verdana" panose="020B0604030504040204" pitchFamily="34" charset="0"/>
              </a:rPr>
              <a:t>END</a:t>
            </a:r>
            <a:r>
              <a:rPr lang="en-US"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END</a:t>
            </a:r>
            <a:r>
              <a:rPr lang="en-US"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7A61706F-BA4E-42AA-B783-57EBED3AA185}"/>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4566FFF4-E078-4253-B27D-FD9523E0C977}"/>
              </a:ext>
            </a:extLst>
          </p:cNvPr>
          <p:cNvSpPr>
            <a:spLocks noGrp="1"/>
          </p:cNvSpPr>
          <p:nvPr>
            <p:ph type="ctrTitle"/>
          </p:nvPr>
        </p:nvSpPr>
        <p:spPr>
          <a:xfrm>
            <a:off x="457200" y="0"/>
            <a:ext cx="8305800" cy="838200"/>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PL/SQL - Constants:</a:t>
            </a:r>
          </a:p>
        </p:txBody>
      </p:sp>
      <p:sp>
        <p:nvSpPr>
          <p:cNvPr id="593923" name="Rectangle 3">
            <a:extLst>
              <a:ext uri="{FF2B5EF4-FFF2-40B4-BE49-F238E27FC236}">
                <a16:creationId xmlns:a16="http://schemas.microsoft.com/office/drawing/2014/main" id="{C9713EF8-441E-443A-B834-6EE692F42431}"/>
              </a:ext>
            </a:extLst>
          </p:cNvPr>
          <p:cNvSpPr>
            <a:spLocks noGrp="1" noChangeArrowheads="1"/>
          </p:cNvSpPr>
          <p:nvPr>
            <p:ph type="subTitle" idx="1"/>
          </p:nvPr>
        </p:nvSpPr>
        <p:spPr>
          <a:xfrm>
            <a:off x="76200" y="762000"/>
            <a:ext cx="8915400" cy="5594350"/>
          </a:xfrm>
        </p:spPr>
        <p:txBody>
          <a:bodyPr rtlCol="0">
            <a:normAutofit/>
          </a:bodyPr>
          <a:lstStyle/>
          <a:p>
            <a:pPr marL="285750" indent="-285750" algn="l" eaLnBrk="1" fontAlgn="auto" hangingPunct="1">
              <a:spcAft>
                <a:spcPts val="0"/>
              </a:spcAft>
              <a:buFont typeface="Wingdings" panose="05000000000000000000" pitchFamily="2" charset="2"/>
              <a:buChar char="v"/>
              <a:defRPr/>
            </a:pPr>
            <a:r>
              <a:rPr lang="en-US" dirty="0">
                <a:latin typeface="Verdana" panose="020B0604030504040204" pitchFamily="34" charset="0"/>
                <a:ea typeface="Verdana" panose="020B0604030504040204" pitchFamily="34" charset="0"/>
                <a:cs typeface="Verdana" panose="020B0604030504040204" pitchFamily="34" charset="0"/>
              </a:rPr>
              <a:t>A constant holds a value that once declared, does not change in the program.</a:t>
            </a:r>
          </a:p>
          <a:p>
            <a:pPr marL="285750" indent="-285750" algn="l" eaLnBrk="1" fontAlgn="auto" hangingPunct="1">
              <a:spcAft>
                <a:spcPts val="0"/>
              </a:spcAft>
              <a:buFont typeface="Wingdings" panose="05000000000000000000" pitchFamily="2" charset="2"/>
              <a:buChar char="v"/>
              <a:defRPr/>
            </a:pPr>
            <a:r>
              <a:rPr lang="en-US" dirty="0">
                <a:latin typeface="Verdana" panose="020B0604030504040204" pitchFamily="34" charset="0"/>
                <a:ea typeface="Verdana" panose="020B0604030504040204" pitchFamily="34" charset="0"/>
                <a:cs typeface="Verdana" panose="020B0604030504040204" pitchFamily="34" charset="0"/>
              </a:rPr>
              <a:t>A constant declaration specifies its name, data type, and value, and allocates storage for it. The declaration can also impose the NOT NULL constraint.</a:t>
            </a:r>
          </a:p>
          <a:p>
            <a:pPr marL="171450" algn="l" eaLnBrk="1" fontAlgn="auto" hangingPunct="1">
              <a:lnSpc>
                <a:spcPct val="80000"/>
              </a:lnSpc>
              <a:spcAft>
                <a:spcPts val="0"/>
              </a:spcAft>
              <a:defRPr/>
            </a:pPr>
            <a:r>
              <a:rPr lang="en-US" altLang="en-US" b="1" dirty="0">
                <a:latin typeface="Verdana" panose="020B0604030504040204" pitchFamily="34" charset="0"/>
                <a:ea typeface="Verdana" panose="020B0604030504040204" pitchFamily="34" charset="0"/>
                <a:cs typeface="Verdana" panose="020B0604030504040204" pitchFamily="34" charset="0"/>
              </a:rPr>
              <a:t>Example:</a:t>
            </a:r>
          </a:p>
          <a:p>
            <a:pPr marL="171450" algn="l" eaLnBrk="1" fontAlgn="auto" hangingPunct="1">
              <a:lnSpc>
                <a:spcPct val="80000"/>
              </a:lnSpc>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Suppose, you have to write a program which will increase the salary of the employees up to 30%, you can declare a constant and use it throughout the program. Next time if you want to increase the salary again you can change the value of constant than the actual value throughout the program.</a:t>
            </a:r>
          </a:p>
          <a:p>
            <a:pPr marL="171450" algn="l" eaLnBrk="1" fontAlgn="auto" hangingPunct="1">
              <a:lnSpc>
                <a:spcPct val="80000"/>
              </a:lnSpc>
              <a:spcAft>
                <a:spcPts val="0"/>
              </a:spcAft>
              <a:defRPr/>
            </a:pPr>
            <a:endParaRPr lang="en-US"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Syntax to declare a constant:</a:t>
            </a:r>
            <a:endParaRPr lang="en-US"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a:t>
            </a:r>
            <a:r>
              <a:rPr lang="en-US" b="1" dirty="0" err="1">
                <a:latin typeface="Verdana" panose="020B0604030504040204" pitchFamily="34" charset="0"/>
                <a:ea typeface="Verdana" panose="020B0604030504040204" pitchFamily="34" charset="0"/>
                <a:cs typeface="Verdana" panose="020B0604030504040204" pitchFamily="34" charset="0"/>
              </a:rPr>
              <a:t>constant_name</a:t>
            </a:r>
            <a:r>
              <a:rPr lang="en-US" b="1" dirty="0">
                <a:latin typeface="Verdana" panose="020B0604030504040204" pitchFamily="34" charset="0"/>
                <a:ea typeface="Verdana" panose="020B0604030504040204" pitchFamily="34" charset="0"/>
                <a:cs typeface="Verdana" panose="020B0604030504040204" pitchFamily="34" charset="0"/>
              </a:rPr>
              <a:t> CONSTANT datatype := VALUE; </a:t>
            </a:r>
            <a:r>
              <a:rPr lang="en-US" dirty="0">
                <a:latin typeface="Verdana" panose="020B0604030504040204" pitchFamily="34" charset="0"/>
                <a:ea typeface="Verdana" panose="020B0604030504040204" pitchFamily="34" charset="0"/>
                <a:cs typeface="Verdana" panose="020B0604030504040204" pitchFamily="34" charset="0"/>
              </a:rPr>
              <a:t> </a:t>
            </a:r>
          </a:p>
          <a:p>
            <a:pPr algn="l" eaLnBrk="1" fontAlgn="auto" hangingPunct="1">
              <a:spcAft>
                <a:spcPts val="0"/>
              </a:spcAft>
              <a:defRPr/>
            </a:pPr>
            <a:r>
              <a:rPr lang="en-US" dirty="0" err="1">
                <a:latin typeface="Verdana" panose="020B0604030504040204" pitchFamily="34" charset="0"/>
                <a:ea typeface="Verdana" panose="020B0604030504040204" pitchFamily="34" charset="0"/>
                <a:cs typeface="Verdana" panose="020B0604030504040204" pitchFamily="34" charset="0"/>
              </a:rPr>
              <a:t>Constant_name:it</a:t>
            </a:r>
            <a:r>
              <a:rPr lang="en-US" dirty="0">
                <a:latin typeface="Verdana" panose="020B0604030504040204" pitchFamily="34" charset="0"/>
                <a:ea typeface="Verdana" panose="020B0604030504040204" pitchFamily="34" charset="0"/>
                <a:cs typeface="Verdana" panose="020B0604030504040204" pitchFamily="34" charset="0"/>
              </a:rPr>
              <a:t> is the name of constant just like variable name. The constant word is a reserved word and its value does not change.</a:t>
            </a: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 </a:t>
            </a:r>
            <a:r>
              <a:rPr lang="en-US" dirty="0">
                <a:latin typeface="Verdana" panose="020B0604030504040204" pitchFamily="34" charset="0"/>
                <a:ea typeface="Verdana" panose="020B0604030504040204" pitchFamily="34" charset="0"/>
                <a:cs typeface="Verdana" panose="020B0604030504040204" pitchFamily="34" charset="0"/>
              </a:rPr>
              <a:t>VALUE:</a:t>
            </a:r>
            <a:r>
              <a:rPr lang="en-US" b="1" dirty="0">
                <a:latin typeface="Verdana" panose="020B0604030504040204" pitchFamily="34" charset="0"/>
                <a:ea typeface="Verdana" panose="020B0604030504040204" pitchFamily="34" charset="0"/>
                <a:cs typeface="Verdana" panose="020B0604030504040204" pitchFamily="34" charset="0"/>
              </a:rPr>
              <a:t> </a:t>
            </a:r>
            <a:r>
              <a:rPr lang="en-US" dirty="0">
                <a:latin typeface="Verdana" panose="020B0604030504040204" pitchFamily="34" charset="0"/>
                <a:ea typeface="Verdana" panose="020B0604030504040204" pitchFamily="34" charset="0"/>
                <a:cs typeface="Verdana" panose="020B0604030504040204" pitchFamily="34" charset="0"/>
              </a:rPr>
              <a:t>it is a value which is assigned to a constant when it is declared. It can not be assigned </a:t>
            </a:r>
            <a:r>
              <a:rPr lang="en-US" dirty="0"/>
              <a:t>later.</a:t>
            </a:r>
          </a:p>
          <a:p>
            <a:pPr marL="171450" algn="l" eaLnBrk="1" fontAlgn="auto" hangingPunct="1">
              <a:lnSpc>
                <a:spcPct val="80000"/>
              </a:lnSpc>
              <a:spcAft>
                <a:spcPts val="0"/>
              </a:spcAft>
              <a:defRPr/>
            </a:pPr>
            <a:endParaRPr lang="en-US" dirty="0">
              <a:latin typeface="Verdana" panose="020B0604030504040204" pitchFamily="34" charset="0"/>
              <a:ea typeface="Verdana" panose="020B0604030504040204" pitchFamily="34" charset="0"/>
              <a:cs typeface="Verdana" panose="020B0604030504040204" pitchFamily="34" charset="0"/>
            </a:endParaRPr>
          </a:p>
          <a:p>
            <a:pPr marL="171450" algn="l" eaLnBrk="1" fontAlgn="auto" hangingPunct="1">
              <a:lnSpc>
                <a:spcPct val="80000"/>
              </a:lnSpc>
              <a:spcAft>
                <a:spcPts val="0"/>
              </a:spcAft>
              <a:defRPr/>
            </a:pPr>
            <a:endParaRPr lang="en-US" altLang="en-US" b="1" dirty="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92BD9108-8DC7-4BCC-A9C2-9947B06B06F6}"/>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31A8238A-7DFF-4A0A-9688-8E523E58A628}"/>
              </a:ext>
            </a:extLst>
          </p:cNvPr>
          <p:cNvSpPr>
            <a:spLocks noGrp="1"/>
          </p:cNvSpPr>
          <p:nvPr>
            <p:ph type="ctrTitle"/>
          </p:nvPr>
        </p:nvSpPr>
        <p:spPr>
          <a:xfrm>
            <a:off x="457200" y="0"/>
            <a:ext cx="8382000" cy="838200"/>
          </a:xfrm>
        </p:spPr>
        <p:txBody>
          <a:bodyPr anchor="ctr"/>
          <a:lstStyle/>
          <a:p>
            <a:pPr algn="l" eaLnBrk="1" hangingPunct="1"/>
            <a:r>
              <a:rPr lang="en-US" altLang="en-US" sz="3200" b="1" u="sng">
                <a:ea typeface="Arial Unicode MS" panose="020B0604020202020204" pitchFamily="34" charset="-128"/>
                <a:cs typeface="Arial Unicode MS" panose="020B0604020202020204" pitchFamily="34" charset="-128"/>
              </a:rPr>
              <a:t>CONSTANT EXAMPLE:</a:t>
            </a:r>
          </a:p>
        </p:txBody>
      </p:sp>
      <p:sp>
        <p:nvSpPr>
          <p:cNvPr id="30723" name="Rectangle 3">
            <a:extLst>
              <a:ext uri="{FF2B5EF4-FFF2-40B4-BE49-F238E27FC236}">
                <a16:creationId xmlns:a16="http://schemas.microsoft.com/office/drawing/2014/main" id="{53938F51-2AFE-408A-B749-629B8227D572}"/>
              </a:ext>
            </a:extLst>
          </p:cNvPr>
          <p:cNvSpPr>
            <a:spLocks noGrp="1"/>
          </p:cNvSpPr>
          <p:nvPr>
            <p:ph type="subTitle" idx="1"/>
          </p:nvPr>
        </p:nvSpPr>
        <p:spPr>
          <a:xfrm>
            <a:off x="304800" y="609600"/>
            <a:ext cx="8686800" cy="5746750"/>
          </a:xfrm>
        </p:spPr>
        <p:txBody>
          <a:bodyPr/>
          <a:lstStyle/>
          <a:p>
            <a:pPr marL="742950" indent="-571500" algn="l" eaLnBrk="1" hangingPunct="1"/>
            <a:r>
              <a:rPr lang="en-US" altLang="en-US"/>
              <a:t>    </a:t>
            </a:r>
            <a:endParaRPr lang="en-US" altLang="en-US" sz="3200"/>
          </a:p>
        </p:txBody>
      </p:sp>
      <p:sp>
        <p:nvSpPr>
          <p:cNvPr id="4" name="Date Placeholder 3">
            <a:extLst>
              <a:ext uri="{FF2B5EF4-FFF2-40B4-BE49-F238E27FC236}">
                <a16:creationId xmlns:a16="http://schemas.microsoft.com/office/drawing/2014/main" id="{0A2FA534-CE60-40D7-BD4D-6F8AABB5B8D0}"/>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
        <p:nvSpPr>
          <p:cNvPr id="30725" name="Rectangle 2">
            <a:extLst>
              <a:ext uri="{FF2B5EF4-FFF2-40B4-BE49-F238E27FC236}">
                <a16:creationId xmlns:a16="http://schemas.microsoft.com/office/drawing/2014/main" id="{31E1DA47-3E3D-4719-B26E-11819CE41067}"/>
              </a:ext>
            </a:extLst>
          </p:cNvPr>
          <p:cNvSpPr>
            <a:spLocks noChangeArrowheads="1"/>
          </p:cNvSpPr>
          <p:nvPr/>
        </p:nvSpPr>
        <p:spPr bwMode="auto">
          <a:xfrm>
            <a:off x="228600" y="838200"/>
            <a:ext cx="87630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defRPr>
            </a:lvl1pPr>
            <a:lvl2pPr marL="742950" indent="-285750">
              <a:defRPr sz="2600">
                <a:solidFill>
                  <a:schemeClr val="tx1"/>
                </a:solidFill>
                <a:latin typeface="Times New Roman" panose="02020603050405020304" pitchFamily="18" charset="0"/>
              </a:defRPr>
            </a:lvl2pPr>
            <a:lvl3pPr marL="1143000" indent="-228600">
              <a:defRPr sz="2600">
                <a:solidFill>
                  <a:schemeClr val="tx1"/>
                </a:solidFill>
                <a:latin typeface="Times New Roman" panose="02020603050405020304" pitchFamily="18" charset="0"/>
              </a:defRPr>
            </a:lvl3pPr>
            <a:lvl4pPr marL="1600200" indent="-228600">
              <a:defRPr sz="2600">
                <a:solidFill>
                  <a:schemeClr val="tx1"/>
                </a:solidFill>
                <a:latin typeface="Times New Roman" panose="02020603050405020304" pitchFamily="18" charset="0"/>
              </a:defRPr>
            </a:lvl4pPr>
            <a:lvl5pPr marL="2057400" indent="-228600">
              <a:defRPr sz="2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defRPr>
            </a:lvl9pPr>
          </a:lstStyle>
          <a:p>
            <a:pPr eaLnBrk="1" hangingPunct="1"/>
            <a:r>
              <a:rPr lang="en-US" altLang="en-US" sz="1800" b="1">
                <a:latin typeface="Verdana" panose="020B0604030504040204" pitchFamily="34" charset="0"/>
                <a:ea typeface="Verdana" panose="020B0604030504040204" pitchFamily="34" charset="0"/>
                <a:cs typeface="Verdana" panose="020B0604030504040204" pitchFamily="34" charset="0"/>
              </a:rPr>
              <a:t>DECLARE</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 constant declaration </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pi constant number := 3.141592654;  </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 -- other declarations</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radius number(5,2);   </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dia number(5,2);   </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circumference number(7, 2);  </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area number (10, 2);  </a:t>
            </a:r>
          </a:p>
          <a:p>
            <a:pPr eaLnBrk="1" hangingPunct="1"/>
            <a:r>
              <a:rPr lang="en-US" altLang="en-US" sz="1800" b="1">
                <a:latin typeface="Verdana" panose="020B0604030504040204" pitchFamily="34" charset="0"/>
                <a:ea typeface="Verdana" panose="020B0604030504040204" pitchFamily="34" charset="0"/>
                <a:cs typeface="Verdana" panose="020B0604030504040204" pitchFamily="34" charset="0"/>
              </a:rPr>
              <a:t>BEGIN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 processing</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radius := 9.5;</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dia := radius * 2;   </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circumference := 2.0 * pi * radius;  </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area := pi * radius * radius;  </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 output </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dbms_output.put_line('Radius: ' || radius);  </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dbms_output.put_line('Diameter: ' || dia);  </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dbms_output.put_line('Circumference: ' || circumference);  </a:t>
            </a:r>
          </a:p>
          <a:p>
            <a:pPr eaLnBrk="1" hangingPunct="1"/>
            <a:r>
              <a:rPr lang="en-US" altLang="en-US" sz="1800">
                <a:latin typeface="Verdana" panose="020B0604030504040204" pitchFamily="34" charset="0"/>
                <a:ea typeface="Verdana" panose="020B0604030504040204" pitchFamily="34" charset="0"/>
                <a:cs typeface="Verdana" panose="020B0604030504040204" pitchFamily="34" charset="0"/>
              </a:rPr>
              <a:t>   dbms_output.put_line('Area: ' || area);  </a:t>
            </a:r>
          </a:p>
          <a:p>
            <a:pPr eaLnBrk="1" hangingPunct="1"/>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sz="1800">
                <a:latin typeface="Verdana" panose="020B0604030504040204" pitchFamily="34" charset="0"/>
                <a:ea typeface="Verdana" panose="020B0604030504040204" pitchFamily="34" charset="0"/>
                <a:cs typeface="Verdana" panose="020B0604030504040204" pitchFamily="34" charset="0"/>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94189F9-9350-4153-8712-7C8025F7112D}"/>
              </a:ext>
            </a:extLst>
          </p:cNvPr>
          <p:cNvSpPr>
            <a:spLocks noGrp="1"/>
          </p:cNvSpPr>
          <p:nvPr>
            <p:ph type="ctrTitle"/>
          </p:nvPr>
        </p:nvSpPr>
        <p:spPr>
          <a:xfrm>
            <a:off x="838200" y="0"/>
            <a:ext cx="8001000" cy="838200"/>
          </a:xfrm>
        </p:spPr>
        <p:txBody>
          <a:bodyPr anchor="ctr"/>
          <a:lstStyle/>
          <a:p>
            <a:pPr algn="l" eaLnBrk="1" hangingPunct="1"/>
            <a:r>
              <a:rPr lang="en-US" altLang="en-US" sz="3200" b="1" u="sng">
                <a:ea typeface="Arial Unicode MS" panose="020B0604020202020204" pitchFamily="34" charset="-128"/>
                <a:cs typeface="Arial Unicode MS" panose="020B0604020202020204" pitchFamily="34" charset="-128"/>
              </a:rPr>
              <a:t> </a:t>
            </a:r>
            <a:r>
              <a:rPr lang="en-US" altLang="en-US" sz="2000" b="1" u="sng">
                <a:latin typeface="Verdana" panose="020B0604030504040204" pitchFamily="34" charset="0"/>
                <a:ea typeface="Verdana" panose="020B0604030504040204" pitchFamily="34" charset="0"/>
                <a:cs typeface="Verdana" panose="020B0604030504040204" pitchFamily="34" charset="0"/>
              </a:rPr>
              <a:t>PL/SQL OPERATORS:</a:t>
            </a:r>
          </a:p>
        </p:txBody>
      </p:sp>
      <p:sp>
        <p:nvSpPr>
          <p:cNvPr id="31747" name="Rectangle 3">
            <a:extLst>
              <a:ext uri="{FF2B5EF4-FFF2-40B4-BE49-F238E27FC236}">
                <a16:creationId xmlns:a16="http://schemas.microsoft.com/office/drawing/2014/main" id="{170B9C23-0A94-40AA-8573-12BFE52646A0}"/>
              </a:ext>
            </a:extLst>
          </p:cNvPr>
          <p:cNvSpPr>
            <a:spLocks noGrp="1"/>
          </p:cNvSpPr>
          <p:nvPr>
            <p:ph type="subTitle" idx="1"/>
          </p:nvPr>
        </p:nvSpPr>
        <p:spPr>
          <a:xfrm>
            <a:off x="152400" y="685800"/>
            <a:ext cx="8839200" cy="5410200"/>
          </a:xfrm>
        </p:spPr>
        <p:txBody>
          <a:bodyPr/>
          <a:lstStyle/>
          <a:p>
            <a:pPr marL="285750" indent="-285750" algn="l" eaLnBrk="1" hangingPunct="1">
              <a:buFont typeface="Wingdings" panose="05000000000000000000" pitchFamily="2" charset="2"/>
              <a:buChar char="v"/>
            </a:pPr>
            <a:r>
              <a:rPr lang="en-US" altLang="en-US">
                <a:latin typeface="Verdana" panose="020B0604030504040204" pitchFamily="34" charset="0"/>
                <a:ea typeface="Verdana" panose="020B0604030504040204" pitchFamily="34" charset="0"/>
                <a:cs typeface="Verdana" panose="020B0604030504040204" pitchFamily="34" charset="0"/>
              </a:rPr>
              <a:t>An operator is a symbol that tells the compiler to perform specific mathematical or logical manipulation. </a:t>
            </a:r>
          </a:p>
          <a:p>
            <a:pPr marL="285750" indent="-285750" algn="l" eaLnBrk="1" hangingPunct="1">
              <a:buFont typeface="Wingdings" panose="05000000000000000000" pitchFamily="2" charset="2"/>
              <a:buChar char="v"/>
            </a:pPr>
            <a:r>
              <a:rPr lang="en-US" altLang="en-US">
                <a:latin typeface="Verdana" panose="020B0604030504040204" pitchFamily="34" charset="0"/>
                <a:ea typeface="Verdana" panose="020B0604030504040204" pitchFamily="34" charset="0"/>
                <a:cs typeface="Verdana" panose="020B0604030504040204" pitchFamily="34" charset="0"/>
              </a:rPr>
              <a:t>PL/SQL language is rich in built-in operators and provides the following types of operators −</a:t>
            </a:r>
          </a:p>
          <a:p>
            <a:pPr marL="285750" indent="-285750" algn="l" eaLnBrk="1" hangingPunct="1">
              <a:buFont typeface="Calibri Light" panose="020F0302020204030204" pitchFamily="34" charset="0"/>
              <a:buAutoNum type="arabicPeriod"/>
            </a:pPr>
            <a:r>
              <a:rPr lang="en-US" altLang="en-US">
                <a:latin typeface="Verdana" panose="020B0604030504040204" pitchFamily="34" charset="0"/>
                <a:ea typeface="Verdana" panose="020B0604030504040204" pitchFamily="34" charset="0"/>
                <a:cs typeface="Verdana" panose="020B0604030504040204" pitchFamily="34" charset="0"/>
              </a:rPr>
              <a:t>Arithmetic operators</a:t>
            </a:r>
          </a:p>
          <a:p>
            <a:pPr marL="285750" indent="-285750" algn="l" eaLnBrk="1" hangingPunct="1">
              <a:buFont typeface="Calibri Light" panose="020F0302020204030204" pitchFamily="34" charset="0"/>
              <a:buAutoNum type="arabicPeriod"/>
            </a:pPr>
            <a:r>
              <a:rPr lang="en-US" altLang="en-US">
                <a:latin typeface="Verdana" panose="020B0604030504040204" pitchFamily="34" charset="0"/>
                <a:ea typeface="Verdana" panose="020B0604030504040204" pitchFamily="34" charset="0"/>
                <a:cs typeface="Verdana" panose="020B0604030504040204" pitchFamily="34" charset="0"/>
              </a:rPr>
              <a:t>Relational operators</a:t>
            </a:r>
          </a:p>
          <a:p>
            <a:pPr marL="285750" indent="-285750" algn="l" eaLnBrk="1" hangingPunct="1">
              <a:buFont typeface="Calibri Light" panose="020F0302020204030204" pitchFamily="34" charset="0"/>
              <a:buAutoNum type="arabicPeriod"/>
            </a:pPr>
            <a:r>
              <a:rPr lang="en-US" altLang="en-US">
                <a:latin typeface="Verdana" panose="020B0604030504040204" pitchFamily="34" charset="0"/>
                <a:ea typeface="Verdana" panose="020B0604030504040204" pitchFamily="34" charset="0"/>
                <a:cs typeface="Verdana" panose="020B0604030504040204" pitchFamily="34" charset="0"/>
              </a:rPr>
              <a:t>Comparison operators</a:t>
            </a:r>
          </a:p>
          <a:p>
            <a:pPr marL="285750" indent="-285750" algn="l" eaLnBrk="1" hangingPunct="1">
              <a:buFont typeface="Calibri Light" panose="020F0302020204030204" pitchFamily="34" charset="0"/>
              <a:buAutoNum type="arabicPeriod"/>
            </a:pPr>
            <a:r>
              <a:rPr lang="en-US" altLang="en-US">
                <a:latin typeface="Verdana" panose="020B0604030504040204" pitchFamily="34" charset="0"/>
                <a:ea typeface="Verdana" panose="020B0604030504040204" pitchFamily="34" charset="0"/>
                <a:cs typeface="Verdana" panose="020B0604030504040204" pitchFamily="34" charset="0"/>
              </a:rPr>
              <a:t>Logical operators</a:t>
            </a:r>
          </a:p>
          <a:p>
            <a:pPr marL="285750" indent="-285750" algn="l" eaLnBrk="1" hangingPunct="1"/>
            <a:endParaRPr lang="en-US" altLang="en-US">
              <a:latin typeface="Verdana" panose="020B0604030504040204" pitchFamily="34" charset="0"/>
              <a:ea typeface="Verdana" panose="020B0604030504040204" pitchFamily="34" charset="0"/>
              <a:cs typeface="Verdana" panose="020B0604030504040204" pitchFamily="34" charset="0"/>
            </a:endParaRPr>
          </a:p>
          <a:p>
            <a:pPr marL="285750" indent="-285750" algn="l" eaLnBrk="1" hangingPunct="1"/>
            <a:endParaRPr lang="en-US" altLang="en-US" sz="190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F697FA0E-0395-486B-B730-2EA005DAC596}"/>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B02ED26A-9721-408B-AF66-A2D60184E488}"/>
              </a:ext>
            </a:extLst>
          </p:cNvPr>
          <p:cNvSpPr>
            <a:spLocks noGrp="1"/>
          </p:cNvSpPr>
          <p:nvPr>
            <p:ph type="ctrTitle"/>
          </p:nvPr>
        </p:nvSpPr>
        <p:spPr>
          <a:xfrm>
            <a:off x="838200" y="0"/>
            <a:ext cx="8001000" cy="838200"/>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ARITHMETIC OPERATORS:</a:t>
            </a:r>
          </a:p>
        </p:txBody>
      </p:sp>
      <p:sp>
        <p:nvSpPr>
          <p:cNvPr id="32771" name="Rectangle 3">
            <a:extLst>
              <a:ext uri="{FF2B5EF4-FFF2-40B4-BE49-F238E27FC236}">
                <a16:creationId xmlns:a16="http://schemas.microsoft.com/office/drawing/2014/main" id="{F9DEEA1F-43FF-4419-B48A-A520711E7D5A}"/>
              </a:ext>
            </a:extLst>
          </p:cNvPr>
          <p:cNvSpPr>
            <a:spLocks noGrp="1"/>
          </p:cNvSpPr>
          <p:nvPr>
            <p:ph type="subTitle" idx="1"/>
          </p:nvPr>
        </p:nvSpPr>
        <p:spPr>
          <a:xfrm>
            <a:off x="152400" y="838200"/>
            <a:ext cx="8991600" cy="5257800"/>
          </a:xfrm>
        </p:spPr>
        <p:txBody>
          <a:bodyPr/>
          <a:lstStyle/>
          <a:p>
            <a:pPr marL="171450" algn="l" eaLnBrk="1" hangingPunct="1"/>
            <a:r>
              <a:rPr lang="en-US" altLang="en-US">
                <a:latin typeface="Verdana" panose="020B0604030504040204" pitchFamily="34" charset="0"/>
                <a:ea typeface="Verdana" panose="020B0604030504040204" pitchFamily="34" charset="0"/>
                <a:cs typeface="Verdana" panose="020B0604030504040204" pitchFamily="34" charset="0"/>
              </a:rPr>
              <a:t>Following table shows all the arithmetic operators supported by PL/SQL. Let us assume </a:t>
            </a:r>
            <a:r>
              <a:rPr lang="en-US" altLang="en-US" b="1">
                <a:latin typeface="Verdana" panose="020B0604030504040204" pitchFamily="34" charset="0"/>
                <a:ea typeface="Verdana" panose="020B0604030504040204" pitchFamily="34" charset="0"/>
                <a:cs typeface="Verdana" panose="020B0604030504040204" pitchFamily="34" charset="0"/>
              </a:rPr>
              <a:t>variable A</a:t>
            </a:r>
            <a:r>
              <a:rPr lang="en-US" altLang="en-US">
                <a:latin typeface="Verdana" panose="020B0604030504040204" pitchFamily="34" charset="0"/>
                <a:ea typeface="Verdana" panose="020B0604030504040204" pitchFamily="34" charset="0"/>
                <a:cs typeface="Verdana" panose="020B0604030504040204" pitchFamily="34" charset="0"/>
              </a:rPr>
              <a:t> holds 10 and </a:t>
            </a:r>
            <a:r>
              <a:rPr lang="en-US" altLang="en-US" b="1">
                <a:latin typeface="Verdana" panose="020B0604030504040204" pitchFamily="34" charset="0"/>
                <a:ea typeface="Verdana" panose="020B0604030504040204" pitchFamily="34" charset="0"/>
                <a:cs typeface="Verdana" panose="020B0604030504040204" pitchFamily="34" charset="0"/>
              </a:rPr>
              <a:t>variable B</a:t>
            </a:r>
            <a:r>
              <a:rPr lang="en-US" altLang="en-US">
                <a:latin typeface="Verdana" panose="020B0604030504040204" pitchFamily="34" charset="0"/>
                <a:ea typeface="Verdana" panose="020B0604030504040204" pitchFamily="34" charset="0"/>
                <a:cs typeface="Verdana" panose="020B0604030504040204" pitchFamily="34" charset="0"/>
              </a:rPr>
              <a:t> holds 5, then –</a:t>
            </a:r>
          </a:p>
          <a:p>
            <a:pPr marL="171450" algn="l" eaLnBrk="1" hangingPunct="1"/>
            <a:endParaRPr lang="en-US" altLang="en-US" sz="3200"/>
          </a:p>
        </p:txBody>
      </p:sp>
      <p:sp>
        <p:nvSpPr>
          <p:cNvPr id="4" name="Date Placeholder 3">
            <a:extLst>
              <a:ext uri="{FF2B5EF4-FFF2-40B4-BE49-F238E27FC236}">
                <a16:creationId xmlns:a16="http://schemas.microsoft.com/office/drawing/2014/main" id="{02815C6A-3749-4B4B-A1DF-B217E31E19DF}"/>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graphicFrame>
        <p:nvGraphicFramePr>
          <p:cNvPr id="6" name="Table 5">
            <a:extLst>
              <a:ext uri="{FF2B5EF4-FFF2-40B4-BE49-F238E27FC236}">
                <a16:creationId xmlns:a16="http://schemas.microsoft.com/office/drawing/2014/main" id="{F7FCE3FB-D687-41AE-BE09-B3896E220FB5}"/>
              </a:ext>
            </a:extLst>
          </p:cNvPr>
          <p:cNvGraphicFramePr>
            <a:graphicFrameLocks noGrp="1"/>
          </p:cNvGraphicFramePr>
          <p:nvPr/>
        </p:nvGraphicFramePr>
        <p:xfrm>
          <a:off x="838200" y="1676400"/>
          <a:ext cx="7391400" cy="4419600"/>
        </p:xfrm>
        <a:graphic>
          <a:graphicData uri="http://schemas.openxmlformats.org/drawingml/2006/table">
            <a:tbl>
              <a:tblPr firstRow="1" firstCol="1" bandRow="1">
                <a:tableStyleId>{5C22544A-7EE6-4342-B048-85BDC9FD1C3A}</a:tableStyleId>
              </a:tblPr>
              <a:tblGrid>
                <a:gridCol w="1371600">
                  <a:extLst>
                    <a:ext uri="{9D8B030D-6E8A-4147-A177-3AD203B41FA5}">
                      <a16:colId xmlns:a16="http://schemas.microsoft.com/office/drawing/2014/main" val="20000"/>
                    </a:ext>
                  </a:extLst>
                </a:gridCol>
                <a:gridCol w="3556000">
                  <a:extLst>
                    <a:ext uri="{9D8B030D-6E8A-4147-A177-3AD203B41FA5}">
                      <a16:colId xmlns:a16="http://schemas.microsoft.com/office/drawing/2014/main" val="20001"/>
                    </a:ext>
                  </a:extLst>
                </a:gridCol>
                <a:gridCol w="2463800">
                  <a:extLst>
                    <a:ext uri="{9D8B030D-6E8A-4147-A177-3AD203B41FA5}">
                      <a16:colId xmlns:a16="http://schemas.microsoft.com/office/drawing/2014/main" val="20002"/>
                    </a:ext>
                  </a:extLst>
                </a:gridCol>
              </a:tblGrid>
              <a:tr h="537947">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Operator</a:t>
                      </a:r>
                    </a:p>
                  </a:txBody>
                  <a:tcPr marL="76200" marR="76200" marT="76200" marB="76200"/>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Description</a:t>
                      </a:r>
                    </a:p>
                  </a:txBody>
                  <a:tcPr marL="76200" marR="76200" marT="76200" marB="76200"/>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Example</a:t>
                      </a:r>
                    </a:p>
                  </a:txBody>
                  <a:tcPr marL="76200" marR="76200" marT="76200" marB="76200"/>
                </a:tc>
                <a:extLst>
                  <a:ext uri="{0D108BD9-81ED-4DB2-BD59-A6C34878D82A}">
                    <a16:rowId xmlns:a16="http://schemas.microsoft.com/office/drawing/2014/main" val="10000"/>
                  </a:ext>
                </a:extLst>
              </a:tr>
              <a:tr h="537947">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t>
                      </a:r>
                    </a:p>
                  </a:txBody>
                  <a:tcPr marL="76200" marR="76200" marT="76200" marB="76200"/>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Adds two operands</a:t>
                      </a:r>
                    </a:p>
                  </a:txBody>
                  <a:tcPr marL="76200" marR="76200" marT="76200" marB="76200"/>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 + B will give 15</a:t>
                      </a:r>
                    </a:p>
                  </a:txBody>
                  <a:tcPr marL="76200" marR="76200" marT="76200" marB="76200"/>
                </a:tc>
                <a:extLst>
                  <a:ext uri="{0D108BD9-81ED-4DB2-BD59-A6C34878D82A}">
                    <a16:rowId xmlns:a16="http://schemas.microsoft.com/office/drawing/2014/main" val="10001"/>
                  </a:ext>
                </a:extLst>
              </a:tr>
              <a:tr h="835926">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t>
                      </a:r>
                    </a:p>
                  </a:txBody>
                  <a:tcPr marL="76200" marR="76200" marT="76200" marB="76200"/>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Subtracts second operand from the first</a:t>
                      </a:r>
                    </a:p>
                  </a:txBody>
                  <a:tcPr marL="76200" marR="76200" marT="76200" marB="76200"/>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 - B will give 5</a:t>
                      </a:r>
                    </a:p>
                  </a:txBody>
                  <a:tcPr marL="76200" marR="76200" marT="76200" marB="76200"/>
                </a:tc>
                <a:extLst>
                  <a:ext uri="{0D108BD9-81ED-4DB2-BD59-A6C34878D82A}">
                    <a16:rowId xmlns:a16="http://schemas.microsoft.com/office/drawing/2014/main" val="10002"/>
                  </a:ext>
                </a:extLst>
              </a:tr>
              <a:tr h="537947">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t>
                      </a:r>
                    </a:p>
                  </a:txBody>
                  <a:tcPr marL="76200" marR="76200" marT="76200" marB="76200"/>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Multiplies both operands</a:t>
                      </a:r>
                    </a:p>
                  </a:txBody>
                  <a:tcPr marL="76200" marR="76200" marT="76200" marB="76200"/>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 * B will give 50</a:t>
                      </a:r>
                    </a:p>
                  </a:txBody>
                  <a:tcPr marL="76200" marR="76200" marT="76200" marB="76200"/>
                </a:tc>
                <a:extLst>
                  <a:ext uri="{0D108BD9-81ED-4DB2-BD59-A6C34878D82A}">
                    <a16:rowId xmlns:a16="http://schemas.microsoft.com/office/drawing/2014/main" val="10003"/>
                  </a:ext>
                </a:extLst>
              </a:tr>
              <a:tr h="835926">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p>
                  </a:txBody>
                  <a:tcPr marL="76200" marR="76200" marT="76200" marB="76200"/>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Divides numerator by de-numerator</a:t>
                      </a:r>
                    </a:p>
                  </a:txBody>
                  <a:tcPr marL="76200" marR="76200" marT="76200" marB="76200"/>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 / B will give 2</a:t>
                      </a:r>
                    </a:p>
                  </a:txBody>
                  <a:tcPr marL="76200" marR="76200" marT="76200" marB="76200"/>
                </a:tc>
                <a:extLst>
                  <a:ext uri="{0D108BD9-81ED-4DB2-BD59-A6C34878D82A}">
                    <a16:rowId xmlns:a16="http://schemas.microsoft.com/office/drawing/2014/main" val="10004"/>
                  </a:ext>
                </a:extLst>
              </a:tr>
              <a:tr h="1133906">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p>
                  </a:txBody>
                  <a:tcPr marL="76200" marR="76200" marT="76200" marB="76200"/>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Exponentiation operator, raises one operand to the power of other</a:t>
                      </a:r>
                    </a:p>
                  </a:txBody>
                  <a:tcPr marL="76200" marR="76200" marT="76200" marB="76200"/>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 ** B will give 100000</a:t>
                      </a:r>
                    </a:p>
                  </a:txBody>
                  <a:tcPr marL="76200" marR="76200" marT="76200" marB="76200"/>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DA272163-2979-4CAB-8BAF-8436F7D2A130}"/>
              </a:ext>
            </a:extLst>
          </p:cNvPr>
          <p:cNvSpPr>
            <a:spLocks noGrp="1"/>
          </p:cNvSpPr>
          <p:nvPr>
            <p:ph type="ctrTitle"/>
          </p:nvPr>
        </p:nvSpPr>
        <p:spPr>
          <a:xfrm>
            <a:off x="381000" y="0"/>
            <a:ext cx="8458200" cy="601663"/>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COMPARISON OPERATORS:</a:t>
            </a:r>
          </a:p>
        </p:txBody>
      </p:sp>
      <p:sp>
        <p:nvSpPr>
          <p:cNvPr id="599043" name="Rectangle 3">
            <a:extLst>
              <a:ext uri="{FF2B5EF4-FFF2-40B4-BE49-F238E27FC236}">
                <a16:creationId xmlns:a16="http://schemas.microsoft.com/office/drawing/2014/main" id="{7B6DEEF2-F5E2-424F-A37D-D8EB30207954}"/>
              </a:ext>
            </a:extLst>
          </p:cNvPr>
          <p:cNvSpPr>
            <a:spLocks noGrp="1" noChangeArrowheads="1"/>
          </p:cNvSpPr>
          <p:nvPr>
            <p:ph type="subTitle" idx="1"/>
          </p:nvPr>
        </p:nvSpPr>
        <p:spPr>
          <a:xfrm>
            <a:off x="152400" y="601663"/>
            <a:ext cx="8839200" cy="5754687"/>
          </a:xfrm>
        </p:spPr>
        <p:txBody>
          <a:bodyPr rtlCol="0">
            <a:normAutofit/>
          </a:bodyPr>
          <a:lstStyle/>
          <a:p>
            <a:pPr eaLnBrk="1" fontAlgn="auto" hangingPunct="1">
              <a:spcAft>
                <a:spcPts val="0"/>
              </a:spcAft>
              <a:defRPr/>
            </a:pPr>
            <a:r>
              <a:rPr lang="en-US" sz="1600" dirty="0">
                <a:latin typeface="Verdana" panose="020B0604030504040204" pitchFamily="34" charset="0"/>
                <a:ea typeface="Verdana" panose="020B0604030504040204" pitchFamily="34" charset="0"/>
                <a:cs typeface="Verdana" panose="020B0604030504040204" pitchFamily="34" charset="0"/>
              </a:rPr>
              <a:t>Comparison operators are used for comparing one expression to another. </a:t>
            </a:r>
          </a:p>
          <a:p>
            <a:pPr eaLnBrk="1" fontAlgn="auto" hangingPunct="1">
              <a:spcAft>
                <a:spcPts val="0"/>
              </a:spcAft>
              <a:defRPr/>
            </a:pPr>
            <a:r>
              <a:rPr lang="en-US" sz="1600" dirty="0">
                <a:latin typeface="Verdana" panose="020B0604030504040204" pitchFamily="34" charset="0"/>
                <a:ea typeface="Verdana" panose="020B0604030504040204" pitchFamily="34" charset="0"/>
                <a:cs typeface="Verdana" panose="020B0604030504040204" pitchFamily="34" charset="0"/>
              </a:rPr>
              <a:t>The result is always either TRUE, FALSE or NULL.</a:t>
            </a:r>
          </a:p>
          <a:p>
            <a:pPr marL="742950" indent="-571500" algn="l" eaLnBrk="1" fontAlgn="auto" hangingPunct="1">
              <a:spcAft>
                <a:spcPts val="0"/>
              </a:spcAft>
              <a:defRPr/>
            </a:pPr>
            <a:endParaRPr lang="en-US" altLang="en-US" dirty="0"/>
          </a:p>
        </p:txBody>
      </p:sp>
      <p:sp>
        <p:nvSpPr>
          <p:cNvPr id="4" name="Date Placeholder 3">
            <a:extLst>
              <a:ext uri="{FF2B5EF4-FFF2-40B4-BE49-F238E27FC236}">
                <a16:creationId xmlns:a16="http://schemas.microsoft.com/office/drawing/2014/main" id="{A68600EB-5F64-475D-83B3-393AE0CB525B}"/>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graphicFrame>
        <p:nvGraphicFramePr>
          <p:cNvPr id="2" name="Table 1">
            <a:extLst>
              <a:ext uri="{FF2B5EF4-FFF2-40B4-BE49-F238E27FC236}">
                <a16:creationId xmlns:a16="http://schemas.microsoft.com/office/drawing/2014/main" id="{20B86181-53BE-4350-8960-A78ACAF23ADF}"/>
              </a:ext>
            </a:extLst>
          </p:cNvPr>
          <p:cNvGraphicFramePr>
            <a:graphicFrameLocks noGrp="1"/>
          </p:cNvGraphicFramePr>
          <p:nvPr/>
        </p:nvGraphicFramePr>
        <p:xfrm>
          <a:off x="381000" y="1219200"/>
          <a:ext cx="8458200" cy="5053013"/>
        </p:xfrm>
        <a:graphic>
          <a:graphicData uri="http://schemas.openxmlformats.org/drawingml/2006/table">
            <a:tbl>
              <a:tblPr firstRow="1" firstCol="1" bandRow="1">
                <a:tableStyleId>{5C22544A-7EE6-4342-B048-85BDC9FD1C3A}</a:tableStyleId>
              </a:tblPr>
              <a:tblGrid>
                <a:gridCol w="1066799">
                  <a:extLst>
                    <a:ext uri="{9D8B030D-6E8A-4147-A177-3AD203B41FA5}">
                      <a16:colId xmlns:a16="http://schemas.microsoft.com/office/drawing/2014/main" val="20000"/>
                    </a:ext>
                  </a:extLst>
                </a:gridCol>
                <a:gridCol w="4572001">
                  <a:extLst>
                    <a:ext uri="{9D8B030D-6E8A-4147-A177-3AD203B41FA5}">
                      <a16:colId xmlns:a16="http://schemas.microsoft.com/office/drawing/2014/main" val="20001"/>
                    </a:ext>
                  </a:extLst>
                </a:gridCol>
                <a:gridCol w="2819400">
                  <a:extLst>
                    <a:ext uri="{9D8B030D-6E8A-4147-A177-3AD203B41FA5}">
                      <a16:colId xmlns:a16="http://schemas.microsoft.com/office/drawing/2014/main" val="20002"/>
                    </a:ext>
                  </a:extLst>
                </a:gridCol>
              </a:tblGrid>
              <a:tr h="579679">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Operator</a:t>
                      </a:r>
                    </a:p>
                  </a:txBody>
                  <a:tcPr marL="70419" marR="70419" marT="70412" marB="70412"/>
                </a:tc>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Description</a:t>
                      </a:r>
                    </a:p>
                  </a:txBody>
                  <a:tcPr marL="70419" marR="70419" marT="70412" marB="70412"/>
                </a:tc>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Example</a:t>
                      </a:r>
                    </a:p>
                  </a:txBody>
                  <a:tcPr marL="70419" marR="70419" marT="70412" marB="70412"/>
                </a:tc>
                <a:extLst>
                  <a:ext uri="{0D108BD9-81ED-4DB2-BD59-A6C34878D82A}">
                    <a16:rowId xmlns:a16="http://schemas.microsoft.com/office/drawing/2014/main" val="10000"/>
                  </a:ext>
                </a:extLst>
              </a:tr>
              <a:tr h="1083191">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LIKE</a:t>
                      </a:r>
                    </a:p>
                  </a:txBody>
                  <a:tcPr marL="70419" marR="70419" marT="70412" marB="70412" anchor="ctr"/>
                </a:tc>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The LIKE operator compares a character, string, or CLOB value to a pattern and returns TRUE if the value matches the pattern and FALSE if it does not.</a:t>
                      </a:r>
                    </a:p>
                  </a:txBody>
                  <a:tcPr marL="70419" marR="70419" marT="70412" marB="70412" anchor="ctr"/>
                </a:tc>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If 'Zara Ali' like 'Z% A_i' returns a Boolean true, whereas, 'Nuha Ali' like 'Z% A_i' returns a Boolean false.</a:t>
                      </a:r>
                    </a:p>
                  </a:txBody>
                  <a:tcPr marL="70419" marR="70419" marT="70412" marB="70412" anchor="ctr"/>
                </a:tc>
                <a:extLst>
                  <a:ext uri="{0D108BD9-81ED-4DB2-BD59-A6C34878D82A}">
                    <a16:rowId xmlns:a16="http://schemas.microsoft.com/office/drawing/2014/main" val="10001"/>
                  </a:ext>
                </a:extLst>
              </a:tr>
              <a:tr h="1282236">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BETWEEN</a:t>
                      </a:r>
                    </a:p>
                  </a:txBody>
                  <a:tcPr marL="70419" marR="70419" marT="70412" marB="70412" anchor="ctr"/>
                </a:tc>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The BETWEEN operator tests whether a value lies in a specified range. x BETWEEN a AND b means that x &gt;= a and x &lt;= b.</a:t>
                      </a:r>
                    </a:p>
                  </a:txBody>
                  <a:tcPr marL="70419" marR="70419" marT="70412" marB="70412" anchor="ctr"/>
                </a:tc>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If x = 10 then, x between 5 and 20 returns true, x between 5 and 10 returns true, but x between 11 and 20 returns false.</a:t>
                      </a:r>
                    </a:p>
                  </a:txBody>
                  <a:tcPr marL="70419" marR="70419" marT="70412" marB="70412" anchor="ctr"/>
                </a:tc>
                <a:extLst>
                  <a:ext uri="{0D108BD9-81ED-4DB2-BD59-A6C34878D82A}">
                    <a16:rowId xmlns:a16="http://schemas.microsoft.com/office/drawing/2014/main" val="10002"/>
                  </a:ext>
                </a:extLst>
              </a:tr>
              <a:tr h="1053954">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IN</a:t>
                      </a:r>
                    </a:p>
                  </a:txBody>
                  <a:tcPr marL="70419" marR="70419" marT="70412" marB="70412" anchor="ctr"/>
                </a:tc>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The IN operator tests set membership. x IN (set) means that x is equal to any member of set.</a:t>
                      </a:r>
                    </a:p>
                  </a:txBody>
                  <a:tcPr marL="70419" marR="70419" marT="70412" marB="70412" anchor="ctr"/>
                </a:tc>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If x = 'm' then, x in ('a', 'b', 'c') returns Boolean false but x in ('m', 'n', 'o') returns Boolean true.</a:t>
                      </a:r>
                    </a:p>
                  </a:txBody>
                  <a:tcPr marL="70419" marR="70419" marT="70412" marB="70412" anchor="ctr"/>
                </a:tc>
                <a:extLst>
                  <a:ext uri="{0D108BD9-81ED-4DB2-BD59-A6C34878D82A}">
                    <a16:rowId xmlns:a16="http://schemas.microsoft.com/office/drawing/2014/main" val="10003"/>
                  </a:ext>
                </a:extLst>
              </a:tr>
              <a:tr h="1053954">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IS NULL</a:t>
                      </a:r>
                    </a:p>
                  </a:txBody>
                  <a:tcPr marL="70419" marR="70419" marT="70412" marB="70412" anchor="ctr"/>
                </a:tc>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The IS NULL operator returns the BOOLEAN value TRUE if its operand is NULL or FALSE if it is not NULL. Comparisons involving NULL values always yield NULL.</a:t>
                      </a:r>
                    </a:p>
                  </a:txBody>
                  <a:tcPr marL="70419" marR="70419" marT="70412" marB="70412" anchor="ctr"/>
                </a:tc>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If x = 'm', then 'x is null' returns Boolean false.</a:t>
                      </a:r>
                    </a:p>
                  </a:txBody>
                  <a:tcPr marL="70419" marR="70419" marT="70412" marB="70412"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3B8906E-6EC6-41AB-A2BD-430D9403D8A9}"/>
              </a:ext>
            </a:extLst>
          </p:cNvPr>
          <p:cNvSpPr>
            <a:spLocks noGrp="1"/>
          </p:cNvSpPr>
          <p:nvPr>
            <p:ph type="ctrTitle"/>
          </p:nvPr>
        </p:nvSpPr>
        <p:spPr>
          <a:xfrm>
            <a:off x="152400" y="0"/>
            <a:ext cx="8686800" cy="685800"/>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RELATIONAL OPERATORS:</a:t>
            </a:r>
          </a:p>
        </p:txBody>
      </p:sp>
      <p:sp>
        <p:nvSpPr>
          <p:cNvPr id="34819" name="Rectangle 3">
            <a:extLst>
              <a:ext uri="{FF2B5EF4-FFF2-40B4-BE49-F238E27FC236}">
                <a16:creationId xmlns:a16="http://schemas.microsoft.com/office/drawing/2014/main" id="{C1B00E2E-3582-4AE4-9719-1EFAAD124B91}"/>
              </a:ext>
            </a:extLst>
          </p:cNvPr>
          <p:cNvSpPr>
            <a:spLocks noGrp="1"/>
          </p:cNvSpPr>
          <p:nvPr>
            <p:ph type="subTitle" idx="1"/>
          </p:nvPr>
        </p:nvSpPr>
        <p:spPr>
          <a:xfrm>
            <a:off x="152400" y="685800"/>
            <a:ext cx="8839200" cy="5670550"/>
          </a:xfrm>
        </p:spPr>
        <p:txBody>
          <a:bodyPr/>
          <a:lstStyle/>
          <a:p>
            <a:pPr marL="742950" indent="-571500" algn="l" eaLnBrk="1" hangingPunct="1"/>
            <a:r>
              <a:rPr lang="en-US" altLang="en-US" sz="1600">
                <a:latin typeface="Verdana" panose="020B0604030504040204" pitchFamily="34" charset="0"/>
                <a:ea typeface="Verdana" panose="020B0604030504040204" pitchFamily="34" charset="0"/>
                <a:cs typeface="Verdana" panose="020B0604030504040204" pitchFamily="34" charset="0"/>
              </a:rPr>
              <a:t>Relational operators compare two expressions or values and return a </a:t>
            </a:r>
          </a:p>
          <a:p>
            <a:pPr marL="742950" indent="-571500" algn="l" eaLnBrk="1" hangingPunct="1"/>
            <a:r>
              <a:rPr lang="en-US" altLang="en-US" sz="1600">
                <a:latin typeface="Verdana" panose="020B0604030504040204" pitchFamily="34" charset="0"/>
                <a:ea typeface="Verdana" panose="020B0604030504040204" pitchFamily="34" charset="0"/>
                <a:cs typeface="Verdana" panose="020B0604030504040204" pitchFamily="34" charset="0"/>
              </a:rPr>
              <a:t>Boolean result</a:t>
            </a:r>
            <a:r>
              <a:rPr lang="en-US" altLang="en-US"/>
              <a:t>. Let A = 10 and B = 20.</a:t>
            </a:r>
            <a:endParaRPr lang="en-US" altLang="en-US" b="1"/>
          </a:p>
        </p:txBody>
      </p:sp>
      <p:sp>
        <p:nvSpPr>
          <p:cNvPr id="4" name="Date Placeholder 3">
            <a:extLst>
              <a:ext uri="{FF2B5EF4-FFF2-40B4-BE49-F238E27FC236}">
                <a16:creationId xmlns:a16="http://schemas.microsoft.com/office/drawing/2014/main" id="{29BDA38F-AF05-41BC-9E94-ACF14465781B}"/>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graphicFrame>
        <p:nvGraphicFramePr>
          <p:cNvPr id="3" name="Table 2">
            <a:extLst>
              <a:ext uri="{FF2B5EF4-FFF2-40B4-BE49-F238E27FC236}">
                <a16:creationId xmlns:a16="http://schemas.microsoft.com/office/drawing/2014/main" id="{FFC395CF-80B9-48DF-95BF-4F0ADA2D7AD5}"/>
              </a:ext>
            </a:extLst>
          </p:cNvPr>
          <p:cNvGraphicFramePr>
            <a:graphicFrameLocks noGrp="1"/>
          </p:cNvGraphicFramePr>
          <p:nvPr/>
        </p:nvGraphicFramePr>
        <p:xfrm>
          <a:off x="381000" y="1295400"/>
          <a:ext cx="8305800" cy="4894263"/>
        </p:xfrm>
        <a:graphic>
          <a:graphicData uri="http://schemas.openxmlformats.org/drawingml/2006/table">
            <a:tbl>
              <a:tblPr firstRow="1" firstCol="1" bandRow="1">
                <a:tableStyleId>{5C22544A-7EE6-4342-B048-85BDC9FD1C3A}</a:tableStyleId>
              </a:tblPr>
              <a:tblGrid>
                <a:gridCol w="1143000">
                  <a:extLst>
                    <a:ext uri="{9D8B030D-6E8A-4147-A177-3AD203B41FA5}">
                      <a16:colId xmlns:a16="http://schemas.microsoft.com/office/drawing/2014/main" val="20000"/>
                    </a:ext>
                  </a:extLst>
                </a:gridCol>
                <a:gridCol w="4394200">
                  <a:extLst>
                    <a:ext uri="{9D8B030D-6E8A-4147-A177-3AD203B41FA5}">
                      <a16:colId xmlns:a16="http://schemas.microsoft.com/office/drawing/2014/main" val="20001"/>
                    </a:ext>
                  </a:extLst>
                </a:gridCol>
                <a:gridCol w="2768600">
                  <a:extLst>
                    <a:ext uri="{9D8B030D-6E8A-4147-A177-3AD203B41FA5}">
                      <a16:colId xmlns:a16="http://schemas.microsoft.com/office/drawing/2014/main" val="20002"/>
                    </a:ext>
                  </a:extLst>
                </a:gridCol>
              </a:tblGrid>
              <a:tr h="340454">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Operator</a:t>
                      </a:r>
                    </a:p>
                  </a:txBody>
                  <a:tcPr marL="56101" marR="56101" marT="56087" marB="56087"/>
                </a:tc>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Description</a:t>
                      </a:r>
                    </a:p>
                  </a:txBody>
                  <a:tcPr marL="56101" marR="56101" marT="56087" marB="56087"/>
                </a:tc>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Example</a:t>
                      </a:r>
                    </a:p>
                  </a:txBody>
                  <a:tcPr marL="56101" marR="56101" marT="56087" marB="56087"/>
                </a:tc>
                <a:extLst>
                  <a:ext uri="{0D108BD9-81ED-4DB2-BD59-A6C34878D82A}">
                    <a16:rowId xmlns:a16="http://schemas.microsoft.com/office/drawing/2014/main" val="10000"/>
                  </a:ext>
                </a:extLst>
              </a:tr>
              <a:tr h="568734">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t>
                      </a:r>
                    </a:p>
                  </a:txBody>
                  <a:tcPr marL="56101" marR="56101" marT="56087" marB="56087" anchor="ctr"/>
                </a:tc>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Checks if the values of two operands are equal or not, if yes then condition becomes true.</a:t>
                      </a:r>
                    </a:p>
                  </a:txBody>
                  <a:tcPr marL="56101" marR="56101" marT="56087" marB="56087" anchor="ctr"/>
                </a:tc>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(A = B) is not true.</a:t>
                      </a:r>
                    </a:p>
                  </a:txBody>
                  <a:tcPr marL="56101" marR="56101" marT="56087" marB="56087"/>
                </a:tc>
                <a:extLst>
                  <a:ext uri="{0D108BD9-81ED-4DB2-BD59-A6C34878D82A}">
                    <a16:rowId xmlns:a16="http://schemas.microsoft.com/office/drawing/2014/main" val="10001"/>
                  </a:ext>
                </a:extLst>
              </a:tr>
              <a:tr h="797015">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t>
                      </a: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&lt;&gt; </a:t>
                      </a:r>
                    </a:p>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t>
                      </a:r>
                    </a:p>
                  </a:txBody>
                  <a:tcPr marL="56101" marR="56101" marT="56087" marB="56087"/>
                </a:tc>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Checks if the values of two operands are equal or not, if values are not equal then condition becomes true.</a:t>
                      </a:r>
                    </a:p>
                  </a:txBody>
                  <a:tcPr marL="56101" marR="56101" marT="56087" marB="56087" anchor="ctr"/>
                </a:tc>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(A != B) is true.</a:t>
                      </a:r>
                    </a:p>
                  </a:txBody>
                  <a:tcPr marL="56101" marR="56101" marT="56087" marB="56087" anchor="ctr"/>
                </a:tc>
                <a:extLst>
                  <a:ext uri="{0D108BD9-81ED-4DB2-BD59-A6C34878D82A}">
                    <a16:rowId xmlns:a16="http://schemas.microsoft.com/office/drawing/2014/main" val="10002"/>
                  </a:ext>
                </a:extLst>
              </a:tr>
              <a:tr h="797015">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&gt; </a:t>
                      </a:r>
                    </a:p>
                  </a:txBody>
                  <a:tcPr marL="56101" marR="56101" marT="56087" marB="56087" anchor="ctr"/>
                </a:tc>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Checks if the value of left operand is greater than the value of right operand, if yes then condition becomes true.</a:t>
                      </a:r>
                    </a:p>
                  </a:txBody>
                  <a:tcPr marL="56101" marR="56101" marT="56087" marB="56087" anchor="ctr"/>
                </a:tc>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(A &gt; B) is not true.</a:t>
                      </a:r>
                    </a:p>
                  </a:txBody>
                  <a:tcPr marL="56101" marR="56101" marT="56087" marB="56087"/>
                </a:tc>
                <a:extLst>
                  <a:ext uri="{0D108BD9-81ED-4DB2-BD59-A6C34878D82A}">
                    <a16:rowId xmlns:a16="http://schemas.microsoft.com/office/drawing/2014/main" val="10003"/>
                  </a:ext>
                </a:extLst>
              </a:tr>
              <a:tr h="797015">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&lt; </a:t>
                      </a:r>
                    </a:p>
                  </a:txBody>
                  <a:tcPr marL="56101" marR="56101" marT="56087" marB="56087" anchor="ctr"/>
                </a:tc>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Checks if the value of left operand is less than the value of right operand, if yes then condition becomes true.</a:t>
                      </a:r>
                    </a:p>
                  </a:txBody>
                  <a:tcPr marL="56101" marR="56101" marT="56087" marB="56087" anchor="ctr"/>
                </a:tc>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(A &lt; B) is true.</a:t>
                      </a:r>
                    </a:p>
                  </a:txBody>
                  <a:tcPr marL="56101" marR="56101" marT="56087" marB="56087"/>
                </a:tc>
                <a:extLst>
                  <a:ext uri="{0D108BD9-81ED-4DB2-BD59-A6C34878D82A}">
                    <a16:rowId xmlns:a16="http://schemas.microsoft.com/office/drawing/2014/main" val="10004"/>
                  </a:ext>
                </a:extLst>
              </a:tr>
              <a:tr h="797015">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&gt;=</a:t>
                      </a:r>
                    </a:p>
                  </a:txBody>
                  <a:tcPr marL="56101" marR="56101" marT="56087" marB="56087" anchor="ctr"/>
                </a:tc>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Checks if the value of left operand is greater than or equal to the value of right operand, if yes then condition becomes true.</a:t>
                      </a:r>
                    </a:p>
                  </a:txBody>
                  <a:tcPr marL="56101" marR="56101" marT="56087" marB="56087" anchor="ctr"/>
                </a:tc>
                <a:tc>
                  <a:txBody>
                    <a:bodyPr/>
                    <a:lstStyle/>
                    <a:p>
                      <a:pPr marL="0" marR="0">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(A &gt;= B) is not true.</a:t>
                      </a:r>
                    </a:p>
                  </a:txBody>
                  <a:tcPr marL="56101" marR="56101" marT="56087" marB="56087"/>
                </a:tc>
                <a:extLst>
                  <a:ext uri="{0D108BD9-81ED-4DB2-BD59-A6C34878D82A}">
                    <a16:rowId xmlns:a16="http://schemas.microsoft.com/office/drawing/2014/main" val="10005"/>
                  </a:ext>
                </a:extLst>
              </a:tr>
              <a:tr h="797015">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&lt;=</a:t>
                      </a:r>
                    </a:p>
                  </a:txBody>
                  <a:tcPr marL="56101" marR="56101" marT="56087" marB="56087" anchor="ctr"/>
                </a:tc>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Checks if the value of left operand is less than or equal to the value of right operand, if yes then condition becomes true.</a:t>
                      </a:r>
                    </a:p>
                  </a:txBody>
                  <a:tcPr marL="56101" marR="56101" marT="56087" marB="56087" anchor="ctr"/>
                </a:tc>
                <a:tc>
                  <a:txBody>
                    <a:bodyPr/>
                    <a:lstStyle/>
                    <a:p>
                      <a:pPr marL="0" marR="0">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 &lt;= B) is true</a:t>
                      </a:r>
                    </a:p>
                  </a:txBody>
                  <a:tcPr marL="56101" marR="56101" marT="56087" marB="56087"/>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B51EA66D-15CD-42D2-8D89-79947F030AF5}"/>
              </a:ext>
            </a:extLst>
          </p:cNvPr>
          <p:cNvSpPr>
            <a:spLocks noGrp="1"/>
          </p:cNvSpPr>
          <p:nvPr>
            <p:ph type="ctrTitle"/>
          </p:nvPr>
        </p:nvSpPr>
        <p:spPr>
          <a:xfrm>
            <a:off x="838200" y="0"/>
            <a:ext cx="8001000" cy="838200"/>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LOGICAL OPERATORS:</a:t>
            </a:r>
          </a:p>
        </p:txBody>
      </p:sp>
      <p:sp>
        <p:nvSpPr>
          <p:cNvPr id="35843" name="Rectangle 3">
            <a:extLst>
              <a:ext uri="{FF2B5EF4-FFF2-40B4-BE49-F238E27FC236}">
                <a16:creationId xmlns:a16="http://schemas.microsoft.com/office/drawing/2014/main" id="{4AEDD310-6474-4C9D-9317-19427ED2AB21}"/>
              </a:ext>
            </a:extLst>
          </p:cNvPr>
          <p:cNvSpPr>
            <a:spLocks noGrp="1"/>
          </p:cNvSpPr>
          <p:nvPr>
            <p:ph type="subTitle" idx="1"/>
          </p:nvPr>
        </p:nvSpPr>
        <p:spPr>
          <a:xfrm>
            <a:off x="152400" y="838200"/>
            <a:ext cx="8839200" cy="5518150"/>
          </a:xfrm>
        </p:spPr>
        <p:txBody>
          <a:bodyPr/>
          <a:lstStyle/>
          <a:p>
            <a:pPr marL="742950" indent="-571500" algn="l" eaLnBrk="1" hangingPunct="1"/>
            <a:r>
              <a:rPr lang="en-US" altLang="en-US">
                <a:latin typeface="Verdana" panose="020B0604030504040204" pitchFamily="34" charset="0"/>
                <a:ea typeface="Verdana" panose="020B0604030504040204" pitchFamily="34" charset="0"/>
                <a:cs typeface="Verdana" panose="020B0604030504040204" pitchFamily="34" charset="0"/>
              </a:rPr>
              <a:t>All these operators work on Boolean operands and produce Boolean </a:t>
            </a:r>
          </a:p>
          <a:p>
            <a:pPr marL="742950" indent="-571500" algn="l" eaLnBrk="1" hangingPunct="1"/>
            <a:r>
              <a:rPr lang="en-US" altLang="en-US">
                <a:latin typeface="Verdana" panose="020B0604030504040204" pitchFamily="34" charset="0"/>
                <a:ea typeface="Verdana" panose="020B0604030504040204" pitchFamily="34" charset="0"/>
                <a:cs typeface="Verdana" panose="020B0604030504040204" pitchFamily="34" charset="0"/>
              </a:rPr>
              <a:t>results. Let us assume variable A holds true and variable B holds false, </a:t>
            </a:r>
          </a:p>
          <a:p>
            <a:pPr marL="742950" indent="-571500" algn="l" eaLnBrk="1" hangingPunct="1"/>
            <a:endParaRPr lang="en-US" altLang="en-US"/>
          </a:p>
        </p:txBody>
      </p:sp>
      <p:sp>
        <p:nvSpPr>
          <p:cNvPr id="4" name="Date Placeholder 3">
            <a:extLst>
              <a:ext uri="{FF2B5EF4-FFF2-40B4-BE49-F238E27FC236}">
                <a16:creationId xmlns:a16="http://schemas.microsoft.com/office/drawing/2014/main" id="{1705B60D-C857-446B-A3C7-4E83D1BC1C4B}"/>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graphicFrame>
        <p:nvGraphicFramePr>
          <p:cNvPr id="2" name="Table 1">
            <a:extLst>
              <a:ext uri="{FF2B5EF4-FFF2-40B4-BE49-F238E27FC236}">
                <a16:creationId xmlns:a16="http://schemas.microsoft.com/office/drawing/2014/main" id="{7C85F4C0-7B19-4CC5-B382-9807319D4B29}"/>
              </a:ext>
            </a:extLst>
          </p:cNvPr>
          <p:cNvGraphicFramePr>
            <a:graphicFrameLocks noGrp="1"/>
          </p:cNvGraphicFramePr>
          <p:nvPr/>
        </p:nvGraphicFramePr>
        <p:xfrm>
          <a:off x="628650" y="1600200"/>
          <a:ext cx="7905750" cy="4430713"/>
        </p:xfrm>
        <a:graphic>
          <a:graphicData uri="http://schemas.openxmlformats.org/drawingml/2006/table">
            <a:tbl>
              <a:tblPr firstRow="1" firstCol="1" bandRow="1">
                <a:tableStyleId>{5C22544A-7EE6-4342-B048-85BDC9FD1C3A}</a:tableStyleId>
              </a:tblPr>
              <a:tblGrid>
                <a:gridCol w="1435571">
                  <a:extLst>
                    <a:ext uri="{9D8B030D-6E8A-4147-A177-3AD203B41FA5}">
                      <a16:colId xmlns:a16="http://schemas.microsoft.com/office/drawing/2014/main" val="20000"/>
                    </a:ext>
                  </a:extLst>
                </a:gridCol>
                <a:gridCol w="3834929">
                  <a:extLst>
                    <a:ext uri="{9D8B030D-6E8A-4147-A177-3AD203B41FA5}">
                      <a16:colId xmlns:a16="http://schemas.microsoft.com/office/drawing/2014/main" val="20001"/>
                    </a:ext>
                  </a:extLst>
                </a:gridCol>
                <a:gridCol w="2635250">
                  <a:extLst>
                    <a:ext uri="{9D8B030D-6E8A-4147-A177-3AD203B41FA5}">
                      <a16:colId xmlns:a16="http://schemas.microsoft.com/office/drawing/2014/main" val="20002"/>
                    </a:ext>
                  </a:extLst>
                </a:gridCol>
              </a:tblGrid>
              <a:tr h="508448">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Operator</a:t>
                      </a:r>
                    </a:p>
                  </a:txBody>
                  <a:tcPr marL="76200" marR="76200" marT="76188" marB="76188"/>
                </a:tc>
                <a:tc>
                  <a:txBody>
                    <a:bodyPr/>
                    <a:lstStyle/>
                    <a:p>
                      <a:pPr marL="0" marR="0">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Description</a:t>
                      </a:r>
                    </a:p>
                  </a:txBody>
                  <a:tcPr marL="76200" marR="76200" marT="76188" marB="76188"/>
                </a:tc>
                <a:tc>
                  <a:txBody>
                    <a:bodyPr/>
                    <a:lstStyle/>
                    <a:p>
                      <a:pPr marL="0" marR="0">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Examples</a:t>
                      </a:r>
                    </a:p>
                  </a:txBody>
                  <a:tcPr marL="76200" marR="76200" marT="76188" marB="76188"/>
                </a:tc>
                <a:extLst>
                  <a:ext uri="{0D108BD9-81ED-4DB2-BD59-A6C34878D82A}">
                    <a16:rowId xmlns:a16="http://schemas.microsoft.com/office/drawing/2014/main" val="10000"/>
                  </a:ext>
                </a:extLst>
              </a:tr>
              <a:tr h="1098020">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and</a:t>
                      </a:r>
                    </a:p>
                  </a:txBody>
                  <a:tcPr marL="76200" marR="76200" marT="76188" marB="76188" anchor="ct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Called the logical AND operator. If both the operands are true then condition becomes true.</a:t>
                      </a:r>
                    </a:p>
                  </a:txBody>
                  <a:tcPr marL="76200" marR="76200" marT="76188" marB="76188" anchor="ctr"/>
                </a:tc>
                <a:tc>
                  <a:txBody>
                    <a:bodyPr/>
                    <a:lstStyle/>
                    <a:p>
                      <a:pPr marL="0" marR="0">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(A and B) is false.</a:t>
                      </a:r>
                    </a:p>
                  </a:txBody>
                  <a:tcPr marL="76200" marR="76200" marT="76188" marB="76188"/>
                </a:tc>
                <a:extLst>
                  <a:ext uri="{0D108BD9-81ED-4DB2-BD59-A6C34878D82A}">
                    <a16:rowId xmlns:a16="http://schemas.microsoft.com/office/drawing/2014/main" val="10001"/>
                  </a:ext>
                </a:extLst>
              </a:tr>
              <a:tr h="1098020">
                <a:tc>
                  <a:txBody>
                    <a:bodyPr/>
                    <a:lstStyle/>
                    <a:p>
                      <a:pPr marL="0" marR="0">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or</a:t>
                      </a:r>
                    </a:p>
                  </a:txBody>
                  <a:tcPr marL="76200" marR="76200" marT="76188" marB="76188" anchor="ct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Called the logical OR Operator. If any of the two operands is true then condition becomes true.</a:t>
                      </a:r>
                    </a:p>
                  </a:txBody>
                  <a:tcPr marL="76200" marR="76200" marT="76188" marB="76188" anchor="ct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(A or B) is true.</a:t>
                      </a:r>
                    </a:p>
                  </a:txBody>
                  <a:tcPr marL="76200" marR="76200" marT="76188" marB="76188"/>
                </a:tc>
                <a:extLst>
                  <a:ext uri="{0D108BD9-81ED-4DB2-BD59-A6C34878D82A}">
                    <a16:rowId xmlns:a16="http://schemas.microsoft.com/office/drawing/2014/main" val="10002"/>
                  </a:ext>
                </a:extLst>
              </a:tr>
              <a:tr h="1726225">
                <a:tc>
                  <a:txBody>
                    <a:bodyPr/>
                    <a:lstStyle/>
                    <a:p>
                      <a:pPr marL="0" marR="0">
                        <a:lnSpc>
                          <a:spcPct val="107000"/>
                        </a:lnSpc>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not</a:t>
                      </a:r>
                    </a:p>
                  </a:txBody>
                  <a:tcPr marL="76200" marR="76200" marT="76188" marB="76188" anchor="ct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Called the logical NOT Operator. Used to reverse the logical state of its operand. If a condition is true then Logical NOT operator will make it false.</a:t>
                      </a:r>
                    </a:p>
                  </a:txBody>
                  <a:tcPr marL="76200" marR="76200" marT="76188" marB="76188" anchor="ctr"/>
                </a:tc>
                <a:tc>
                  <a:txBody>
                    <a:bodyPr/>
                    <a:lstStyle/>
                    <a:p>
                      <a:pPr marL="0" marR="0">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not (A and B) is true.</a:t>
                      </a:r>
                    </a:p>
                  </a:txBody>
                  <a:tcPr marL="76200" marR="76200" marT="76188" marB="76188"/>
                </a:tc>
                <a:extLst>
                  <a:ext uri="{0D108BD9-81ED-4DB2-BD59-A6C34878D82A}">
                    <a16:rowId xmlns:a16="http://schemas.microsoft.com/office/drawing/2014/main" val="10003"/>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E8A553B1-4ECB-416F-80D1-2AD4AAE94CA0}"/>
              </a:ext>
            </a:extLst>
          </p:cNvPr>
          <p:cNvSpPr>
            <a:spLocks noGrp="1"/>
          </p:cNvSpPr>
          <p:nvPr>
            <p:ph type="ctrTitle"/>
          </p:nvPr>
        </p:nvSpPr>
        <p:spPr>
          <a:xfrm>
            <a:off x="304800" y="0"/>
            <a:ext cx="8534400" cy="609600"/>
          </a:xfrm>
        </p:spPr>
        <p:txBody>
          <a:bodyPr anchor="ctr"/>
          <a:lstStyle/>
          <a:p>
            <a:pPr algn="l"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PL/SQL OPERATOR PRECEDENCE</a:t>
            </a:r>
          </a:p>
        </p:txBody>
      </p:sp>
      <p:sp>
        <p:nvSpPr>
          <p:cNvPr id="603139" name="Rectangle 3">
            <a:extLst>
              <a:ext uri="{FF2B5EF4-FFF2-40B4-BE49-F238E27FC236}">
                <a16:creationId xmlns:a16="http://schemas.microsoft.com/office/drawing/2014/main" id="{7DD12422-E746-403A-87B5-8830234B5E2E}"/>
              </a:ext>
            </a:extLst>
          </p:cNvPr>
          <p:cNvSpPr>
            <a:spLocks noGrp="1" noChangeArrowheads="1"/>
          </p:cNvSpPr>
          <p:nvPr>
            <p:ph type="subTitle" idx="1"/>
          </p:nvPr>
        </p:nvSpPr>
        <p:spPr>
          <a:xfrm>
            <a:off x="152400" y="609600"/>
            <a:ext cx="8915400" cy="5486400"/>
          </a:xfrm>
        </p:spPr>
        <p:txBody>
          <a:bodyPr rtlCol="0">
            <a:normAutofit/>
          </a:bodyPr>
          <a:lstStyle/>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Operator precedence determines the grouping of terms in an expression.</a:t>
            </a:r>
          </a:p>
          <a:p>
            <a:pPr marL="457200" indent="-457200" algn="l" eaLnBrk="1" fontAlgn="auto" hangingPunct="1">
              <a:spcAft>
                <a:spcPts val="0"/>
              </a:spcAft>
              <a:buFont typeface="+mj-lt"/>
              <a:buAutoNum type="arabicPeriod"/>
              <a:defRPr/>
            </a:pPr>
            <a:r>
              <a:rPr lang="en-US" dirty="0">
                <a:latin typeface="Verdana" panose="020B0604030504040204" pitchFamily="34" charset="0"/>
                <a:ea typeface="Verdana" panose="020B0604030504040204" pitchFamily="34" charset="0"/>
                <a:cs typeface="Verdana" panose="020B0604030504040204" pitchFamily="34" charset="0"/>
              </a:rPr>
              <a:t> This affects how an expression is evaluated. Certain operators have higher precedence than others; for example, the multiplication operator has higher precedence than the addition operator.</a:t>
            </a:r>
          </a:p>
          <a:p>
            <a:pPr marL="457200" indent="-457200" algn="l" eaLnBrk="1" fontAlgn="auto" hangingPunct="1">
              <a:spcAft>
                <a:spcPts val="0"/>
              </a:spcAft>
              <a:buFont typeface="+mj-lt"/>
              <a:buAutoNum type="arabicPeriod"/>
              <a:defRPr/>
            </a:pPr>
            <a:r>
              <a:rPr lang="en-US" dirty="0">
                <a:latin typeface="Verdana" panose="020B0604030504040204" pitchFamily="34" charset="0"/>
                <a:ea typeface="Verdana" panose="020B0604030504040204" pitchFamily="34" charset="0"/>
                <a:cs typeface="Verdana" panose="020B0604030504040204" pitchFamily="34" charset="0"/>
              </a:rPr>
              <a:t>For example, x = 7 + 3 * 2; here, x is assigned 13, not 20 because operator * has higher precedence than +, so it first gets multiplied with 3*2 and then adds into 7.</a:t>
            </a:r>
          </a:p>
          <a:p>
            <a:pPr marL="457200" indent="-457200" algn="l" eaLnBrk="1" fontAlgn="auto" hangingPunct="1">
              <a:spcAft>
                <a:spcPts val="0"/>
              </a:spcAft>
              <a:buFont typeface="+mj-lt"/>
              <a:buAutoNum type="arabicPeriod"/>
              <a:defRPr/>
            </a:pPr>
            <a:r>
              <a:rPr lang="en-US" dirty="0">
                <a:latin typeface="Verdana" panose="020B0604030504040204" pitchFamily="34" charset="0"/>
                <a:ea typeface="Verdana" panose="020B0604030504040204" pitchFamily="34" charset="0"/>
                <a:cs typeface="Verdana" panose="020B0604030504040204" pitchFamily="34" charset="0"/>
              </a:rPr>
              <a:t>Here, operators with the highest precedence appear at the top of the table, those with the lowest appear at the bottom. Within an expression, higher precedence operators will be evaluated first.</a:t>
            </a:r>
          </a:p>
          <a:p>
            <a:pPr marL="457200" indent="-457200" algn="l" eaLnBrk="1" fontAlgn="auto" hangingPunct="1">
              <a:spcAft>
                <a:spcPts val="0"/>
              </a:spcAft>
              <a:buFont typeface="+mj-lt"/>
              <a:buAutoNum type="arabicPeriod"/>
              <a:defRPr/>
            </a:pPr>
            <a:r>
              <a:rPr lang="en-US" dirty="0">
                <a:latin typeface="Verdana" panose="020B0604030504040204" pitchFamily="34" charset="0"/>
                <a:ea typeface="Verdana" panose="020B0604030504040204" pitchFamily="34" charset="0"/>
                <a:cs typeface="Verdana" panose="020B0604030504040204" pitchFamily="34" charset="0"/>
              </a:rPr>
              <a:t>The precedence of operators goes as follows: =, &lt;, &gt;, &lt;=, &gt;=, &lt;&gt;, !=, ~=, ^=, IS NULL, LIKE, BETWEEN, IN.</a:t>
            </a:r>
          </a:p>
          <a:p>
            <a:pPr marL="171450" algn="l" eaLnBrk="1" fontAlgn="auto" hangingPunct="1">
              <a:spcAft>
                <a:spcPts val="0"/>
              </a:spcAft>
              <a:defRPr/>
            </a:pPr>
            <a:r>
              <a:rPr lang="en-US" altLang="en-US" sz="3200" dirty="0"/>
              <a:t>EXAMPLE:</a:t>
            </a:r>
          </a:p>
        </p:txBody>
      </p:sp>
      <p:sp>
        <p:nvSpPr>
          <p:cNvPr id="4" name="Date Placeholder 3">
            <a:extLst>
              <a:ext uri="{FF2B5EF4-FFF2-40B4-BE49-F238E27FC236}">
                <a16:creationId xmlns:a16="http://schemas.microsoft.com/office/drawing/2014/main" id="{2C686DB2-60B6-4A86-89BD-822B4B397F49}"/>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a:extLst>
              <a:ext uri="{FF2B5EF4-FFF2-40B4-BE49-F238E27FC236}">
                <a16:creationId xmlns:a16="http://schemas.microsoft.com/office/drawing/2014/main" id="{850E2A8B-8798-45AD-93E7-A7BD837B982A}"/>
              </a:ext>
            </a:extLst>
          </p:cNvPr>
          <p:cNvSpPr>
            <a:spLocks noGrp="1"/>
          </p:cNvSpPr>
          <p:nvPr>
            <p:ph type="subTitle" idx="1"/>
          </p:nvPr>
        </p:nvSpPr>
        <p:spPr>
          <a:xfrm>
            <a:off x="228600" y="228600"/>
            <a:ext cx="8839200" cy="6127750"/>
          </a:xfrm>
        </p:spPr>
        <p:txBody>
          <a:bodyPr/>
          <a:lstStyle/>
          <a:p>
            <a:pPr algn="l" eaLnBrk="1" hangingPunct="1">
              <a:lnSpc>
                <a:spcPct val="70000"/>
              </a:lnSpc>
            </a:pPr>
            <a:r>
              <a:rPr lang="en-US" altLang="en-US" sz="1500" b="1">
                <a:latin typeface="Verdana" panose="020B0604030504040204" pitchFamily="34" charset="0"/>
                <a:ea typeface="Verdana" panose="020B0604030504040204" pitchFamily="34" charset="0"/>
                <a:cs typeface="Verdana" panose="020B0604030504040204" pitchFamily="34" charset="0"/>
              </a:rPr>
              <a:t>DECLARE</a:t>
            </a:r>
            <a:r>
              <a:rPr lang="en-US" altLang="en-US" sz="1500">
                <a:latin typeface="Verdana" panose="020B0604030504040204" pitchFamily="34" charset="0"/>
                <a:ea typeface="Verdana" panose="020B0604030504040204" pitchFamily="34" charset="0"/>
                <a:cs typeface="Verdana" panose="020B0604030504040204" pitchFamily="34" charset="0"/>
              </a:rPr>
              <a:t>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   a number(2) := 20;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   b number(2) := 10;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   c number(2) := 15;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   d number(2) := 5;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   e number(2) ; </a:t>
            </a:r>
          </a:p>
          <a:p>
            <a:pPr algn="l" eaLnBrk="1" hangingPunct="1">
              <a:lnSpc>
                <a:spcPct val="70000"/>
              </a:lnSpc>
            </a:pPr>
            <a:r>
              <a:rPr lang="en-US" altLang="en-US" sz="1500" b="1">
                <a:latin typeface="Verdana" panose="020B0604030504040204" pitchFamily="34" charset="0"/>
                <a:ea typeface="Verdana" panose="020B0604030504040204" pitchFamily="34" charset="0"/>
                <a:cs typeface="Verdana" panose="020B0604030504040204" pitchFamily="34" charset="0"/>
              </a:rPr>
              <a:t>BEGIN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   e := (a + b) * c / d</a:t>
            </a:r>
            <a:r>
              <a:rPr lang="en-US" altLang="en-US" sz="1500" b="1">
                <a:latin typeface="Verdana" panose="020B0604030504040204" pitchFamily="34" charset="0"/>
                <a:ea typeface="Verdana" panose="020B0604030504040204" pitchFamily="34" charset="0"/>
                <a:cs typeface="Verdana" panose="020B0604030504040204" pitchFamily="34" charset="0"/>
              </a:rPr>
              <a:t>;      -- ( 30 * 15 ) / 5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   dbms_output.put_line('Value of (a + b) * c / d is : '|| e );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   e := ((a + b) * c) / d</a:t>
            </a:r>
            <a:r>
              <a:rPr lang="en-US" altLang="en-US" sz="1500" b="1">
                <a:latin typeface="Verdana" panose="020B0604030504040204" pitchFamily="34" charset="0"/>
                <a:ea typeface="Verdana" panose="020B0604030504040204" pitchFamily="34" charset="0"/>
                <a:cs typeface="Verdana" panose="020B0604030504040204" pitchFamily="34" charset="0"/>
              </a:rPr>
              <a:t>;   -- (30 * 15 ) / 5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   dbms_output.put_line('Value of ((a + b) * c) / d is  : ' ||  e );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   e := (a + b) * (c / d</a:t>
            </a:r>
            <a:r>
              <a:rPr lang="en-US" altLang="en-US" sz="1500" b="1">
                <a:latin typeface="Verdana" panose="020B0604030504040204" pitchFamily="34" charset="0"/>
                <a:ea typeface="Verdana" panose="020B0604030504040204" pitchFamily="34" charset="0"/>
                <a:cs typeface="Verdana" panose="020B0604030504040204" pitchFamily="34" charset="0"/>
              </a:rPr>
              <a:t>);   -- (30) * (15/5)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   dbms_output.put_line('Value of (a + b) * (c / d) is  : '||  e );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   e := a + (b * c) / d</a:t>
            </a:r>
            <a:r>
              <a:rPr lang="en-US" altLang="en-US" sz="1500" b="1">
                <a:latin typeface="Verdana" panose="020B0604030504040204" pitchFamily="34" charset="0"/>
                <a:ea typeface="Verdana" panose="020B0604030504040204" pitchFamily="34" charset="0"/>
                <a:cs typeface="Verdana" panose="020B0604030504040204" pitchFamily="34" charset="0"/>
              </a:rPr>
              <a:t>;     --  20 + (150/5)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   dbms_output.put_line('Value of a + (b * c) / d is  : ' ||  e ); </a:t>
            </a:r>
          </a:p>
          <a:p>
            <a:pPr algn="l" eaLnBrk="1" hangingPunct="1">
              <a:lnSpc>
                <a:spcPct val="70000"/>
              </a:lnSpc>
            </a:pPr>
            <a:r>
              <a:rPr lang="en-US" altLang="en-US" sz="1500" b="1">
                <a:latin typeface="Verdana" panose="020B0604030504040204" pitchFamily="34" charset="0"/>
                <a:ea typeface="Verdana" panose="020B0604030504040204" pitchFamily="34" charset="0"/>
                <a:cs typeface="Verdana" panose="020B0604030504040204" pitchFamily="34" charset="0"/>
              </a:rPr>
              <a:t>END;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When the above code is executed at the SQL prompt, it produces the following result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Value of (a + b) * c / d is : 90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Value of ((a + b) * c) / d is  : 90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Value of (a + b) * (c / d) is  : 90 </a:t>
            </a:r>
          </a:p>
          <a:p>
            <a:pPr algn="l" eaLnBrk="1" hangingPunct="1">
              <a:lnSpc>
                <a:spcPct val="70000"/>
              </a:lnSpc>
            </a:pPr>
            <a:r>
              <a:rPr lang="en-US" altLang="en-US" sz="1500">
                <a:latin typeface="Verdana" panose="020B0604030504040204" pitchFamily="34" charset="0"/>
                <a:ea typeface="Verdana" panose="020B0604030504040204" pitchFamily="34" charset="0"/>
                <a:cs typeface="Verdana" panose="020B0604030504040204" pitchFamily="34" charset="0"/>
              </a:rPr>
              <a:t>Value of a + (b * c) / d is  : 50  </a:t>
            </a:r>
          </a:p>
          <a:p>
            <a:pPr algn="l" eaLnBrk="1" hangingPunct="1">
              <a:lnSpc>
                <a:spcPct val="70000"/>
              </a:lnSpc>
            </a:pPr>
            <a:r>
              <a:rPr lang="en-US" altLang="en-US" sz="1200">
                <a:latin typeface="Verdana" panose="020B0604030504040204" pitchFamily="34" charset="0"/>
                <a:ea typeface="Verdana" panose="020B0604030504040204" pitchFamily="34" charset="0"/>
                <a:cs typeface="Verdana" panose="020B0604030504040204" pitchFamily="34" charset="0"/>
              </a:rPr>
              <a:t> </a:t>
            </a:r>
          </a:p>
          <a:p>
            <a:pPr algn="l" eaLnBrk="1" hangingPunct="1">
              <a:lnSpc>
                <a:spcPct val="70000"/>
              </a:lnSpc>
            </a:pPr>
            <a:endParaRPr lang="en-US" altLang="en-US" sz="1000"/>
          </a:p>
        </p:txBody>
      </p:sp>
      <p:sp>
        <p:nvSpPr>
          <p:cNvPr id="4" name="Date Placeholder 3">
            <a:extLst>
              <a:ext uri="{FF2B5EF4-FFF2-40B4-BE49-F238E27FC236}">
                <a16:creationId xmlns:a16="http://schemas.microsoft.com/office/drawing/2014/main" id="{9DBC5540-4BA3-4DAB-9106-AA83DDACE6B0}"/>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a:extLst>
              <a:ext uri="{FF2B5EF4-FFF2-40B4-BE49-F238E27FC236}">
                <a16:creationId xmlns:a16="http://schemas.microsoft.com/office/drawing/2014/main" id="{5760BA9E-CF27-41D2-BA55-5BE839728226}"/>
              </a:ext>
            </a:extLst>
          </p:cNvPr>
          <p:cNvSpPr>
            <a:spLocks noGrp="1" noChangeArrowheads="1"/>
          </p:cNvSpPr>
          <p:nvPr>
            <p:ph type="ctrTitle"/>
          </p:nvPr>
        </p:nvSpPr>
        <p:spPr>
          <a:xfrm>
            <a:off x="304800" y="152400"/>
            <a:ext cx="8534400" cy="304800"/>
          </a:xfrm>
        </p:spPr>
        <p:txBody>
          <a:bodyPr rtlCol="0" anchor="ctr">
            <a:normAutofit fontScale="90000"/>
          </a:bodyPr>
          <a:lstStyle/>
          <a:p>
            <a:pPr algn="l" eaLnBrk="1" fontAlgn="auto" hangingPunct="1">
              <a:spcAft>
                <a:spcPts val="0"/>
              </a:spcAft>
              <a:defRPr/>
            </a:pPr>
            <a:br>
              <a:rPr lang="en-US" altLang="en-US" sz="2200" b="1" u="sng" dirty="0">
                <a:latin typeface="Verdana" panose="020B0604030504040204" pitchFamily="34" charset="0"/>
                <a:ea typeface="Verdana" panose="020B0604030504040204" pitchFamily="34" charset="0"/>
                <a:cs typeface="Verdana" panose="020B0604030504040204" pitchFamily="34" charset="0"/>
              </a:rPr>
            </a:br>
            <a:r>
              <a:rPr lang="en-US" altLang="en-US" sz="2200" b="1" u="sng" dirty="0">
                <a:latin typeface="Verdana" panose="020B0604030504040204" pitchFamily="34" charset="0"/>
                <a:ea typeface="Verdana" panose="020B0604030504040204" pitchFamily="34" charset="0"/>
                <a:cs typeface="Verdana" panose="020B0604030504040204" pitchFamily="34" charset="0"/>
              </a:rPr>
              <a:t>PL/SQL IF:</a:t>
            </a:r>
            <a:br>
              <a:rPr lang="en-US" altLang="en-US" sz="2400" b="1" u="sng" dirty="0"/>
            </a:br>
            <a:endParaRPr lang="en-US" altLang="en-US" sz="2400" b="1" u="sng" dirty="0"/>
          </a:p>
        </p:txBody>
      </p:sp>
      <p:sp>
        <p:nvSpPr>
          <p:cNvPr id="605187" name="Rectangle 3">
            <a:extLst>
              <a:ext uri="{FF2B5EF4-FFF2-40B4-BE49-F238E27FC236}">
                <a16:creationId xmlns:a16="http://schemas.microsoft.com/office/drawing/2014/main" id="{1C0FCA60-47EE-43FD-8947-A5A8658BB30D}"/>
              </a:ext>
            </a:extLst>
          </p:cNvPr>
          <p:cNvSpPr>
            <a:spLocks noGrp="1" noChangeArrowheads="1"/>
          </p:cNvSpPr>
          <p:nvPr>
            <p:ph type="subTitle" idx="1"/>
          </p:nvPr>
        </p:nvSpPr>
        <p:spPr>
          <a:xfrm>
            <a:off x="304800" y="685800"/>
            <a:ext cx="8610600" cy="5638800"/>
          </a:xfrm>
        </p:spPr>
        <p:txBody>
          <a:bodyPr rtlCol="0">
            <a:normAutofit/>
          </a:bodyPr>
          <a:lstStyle/>
          <a:p>
            <a:pPr marL="742950" indent="-571500"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PL/SQL supports the programming language features like conditional</a:t>
            </a:r>
          </a:p>
          <a:p>
            <a:pPr marL="742950" indent="-571500"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statements and iterative statements. Its programming constructs are </a:t>
            </a:r>
          </a:p>
          <a:p>
            <a:pPr marL="742950" indent="-571500"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similar to how you use in programming languages like Java and C++.</a:t>
            </a: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Syntax for IF Statement:</a:t>
            </a:r>
            <a:endParaRPr lang="en-US"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There are different syntaxes for the IF-THEN-ELSE statement.</a:t>
            </a: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Syntax: (IF-THEN statement):</a:t>
            </a:r>
            <a:endParaRPr lang="en-US"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IF condition   </a:t>
            </a: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THEN</a:t>
            </a:r>
            <a:r>
              <a:rPr lang="en-US" dirty="0">
                <a:latin typeface="Verdana" panose="020B0604030504040204" pitchFamily="34" charset="0"/>
                <a:ea typeface="Verdana" panose="020B0604030504040204" pitchFamily="34" charset="0"/>
                <a:cs typeface="Verdana" panose="020B0604030504040204" pitchFamily="34" charset="0"/>
              </a:rPr>
              <a:t>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Statement: {It </a:t>
            </a:r>
            <a:r>
              <a:rPr lang="en-US" b="1" dirty="0">
                <a:latin typeface="Verdana" panose="020B0604030504040204" pitchFamily="34" charset="0"/>
                <a:ea typeface="Verdana" panose="020B0604030504040204" pitchFamily="34" charset="0"/>
                <a:cs typeface="Verdana" panose="020B0604030504040204" pitchFamily="34" charset="0"/>
              </a:rPr>
              <a:t>is</a:t>
            </a:r>
            <a:r>
              <a:rPr lang="en-US" dirty="0">
                <a:latin typeface="Verdana" panose="020B0604030504040204" pitchFamily="34" charset="0"/>
                <a:ea typeface="Verdana" panose="020B0604030504040204" pitchFamily="34" charset="0"/>
                <a:cs typeface="Verdana" panose="020B0604030504040204" pitchFamily="34" charset="0"/>
              </a:rPr>
              <a:t> executed </a:t>
            </a:r>
            <a:r>
              <a:rPr lang="en-US" b="1" dirty="0">
                <a:latin typeface="Verdana" panose="020B0604030504040204" pitchFamily="34" charset="0"/>
                <a:ea typeface="Verdana" panose="020B0604030504040204" pitchFamily="34" charset="0"/>
                <a:cs typeface="Verdana" panose="020B0604030504040204" pitchFamily="34" charset="0"/>
              </a:rPr>
              <a:t>when</a:t>
            </a:r>
            <a:r>
              <a:rPr lang="en-US" dirty="0">
                <a:latin typeface="Verdana" panose="020B0604030504040204" pitchFamily="34" charset="0"/>
                <a:ea typeface="Verdana" panose="020B0604030504040204" pitchFamily="34" charset="0"/>
                <a:cs typeface="Verdana" panose="020B0604030504040204" pitchFamily="34" charset="0"/>
              </a:rPr>
              <a:t> condition </a:t>
            </a:r>
            <a:r>
              <a:rPr lang="en-US" b="1" dirty="0">
                <a:latin typeface="Verdana" panose="020B0604030504040204" pitchFamily="34" charset="0"/>
                <a:ea typeface="Verdana" panose="020B0604030504040204" pitchFamily="34" charset="0"/>
                <a:cs typeface="Verdana" panose="020B0604030504040204" pitchFamily="34" charset="0"/>
              </a:rPr>
              <a:t>is</a:t>
            </a:r>
            <a:r>
              <a:rPr lang="en-US" dirty="0">
                <a:latin typeface="Verdana" panose="020B0604030504040204" pitchFamily="34" charset="0"/>
                <a:ea typeface="Verdana" panose="020B0604030504040204" pitchFamily="34" charset="0"/>
                <a:cs typeface="Verdana" panose="020B0604030504040204" pitchFamily="34" charset="0"/>
              </a:rPr>
              <a:t> </a:t>
            </a:r>
            <a:r>
              <a:rPr lang="en-US" b="1" dirty="0">
                <a:latin typeface="Verdana" panose="020B0604030504040204" pitchFamily="34" charset="0"/>
                <a:ea typeface="Verdana" panose="020B0604030504040204" pitchFamily="34" charset="0"/>
                <a:cs typeface="Verdana" panose="020B0604030504040204" pitchFamily="34" charset="0"/>
              </a:rPr>
              <a:t>true</a:t>
            </a:r>
            <a:r>
              <a:rPr lang="en-US" dirty="0">
                <a:latin typeface="Verdana" panose="020B0604030504040204" pitchFamily="34" charset="0"/>
                <a:ea typeface="Verdana" panose="020B0604030504040204" pitchFamily="34" charset="0"/>
                <a:cs typeface="Verdana" panose="020B0604030504040204" pitchFamily="34" charset="0"/>
              </a:rPr>
              <a:t>}  </a:t>
            </a: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END</a:t>
            </a:r>
            <a:r>
              <a:rPr lang="en-US" dirty="0">
                <a:latin typeface="Verdana" panose="020B0604030504040204" pitchFamily="34" charset="0"/>
                <a:ea typeface="Verdana" panose="020B0604030504040204" pitchFamily="34" charset="0"/>
                <a:cs typeface="Verdana" panose="020B0604030504040204" pitchFamily="34" charset="0"/>
              </a:rPr>
              <a:t> IF;  </a:t>
            </a:r>
          </a:p>
          <a:p>
            <a:pPr marL="742950" indent="-571500" algn="l" eaLnBrk="1" fontAlgn="auto" hangingPunct="1">
              <a:spcAft>
                <a:spcPts val="0"/>
              </a:spcAft>
              <a:defRPr/>
            </a:pPr>
            <a:endParaRPr lang="en-US" dirty="0">
              <a:latin typeface="Verdana" panose="020B0604030504040204" pitchFamily="34" charset="0"/>
              <a:ea typeface="Verdana" panose="020B0604030504040204" pitchFamily="34" charset="0"/>
              <a:cs typeface="Verdana" panose="020B0604030504040204" pitchFamily="34" charset="0"/>
            </a:endParaRPr>
          </a:p>
          <a:p>
            <a:pPr marL="742950" indent="-571500" algn="l" eaLnBrk="1" fontAlgn="auto" hangingPunct="1">
              <a:spcAft>
                <a:spcPts val="0"/>
              </a:spcAft>
              <a:defRPr/>
            </a:pPr>
            <a:endParaRPr lang="en-US" altLang="en-US" dirty="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EDAA5B36-7A7E-4B7F-81B1-6D50CCA863D7}"/>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5EA5BE6E-43E8-48DF-B199-C7F2C83730B6}"/>
              </a:ext>
            </a:extLst>
          </p:cNvPr>
          <p:cNvSpPr>
            <a:spLocks noGrp="1"/>
          </p:cNvSpPr>
          <p:nvPr>
            <p:ph type="ctrTitle"/>
          </p:nvPr>
        </p:nvSpPr>
        <p:spPr>
          <a:xfrm>
            <a:off x="228600" y="0"/>
            <a:ext cx="8610600" cy="838200"/>
          </a:xfrm>
        </p:spPr>
        <p:txBody>
          <a:bodyPr anchor="ctr"/>
          <a:lstStyle/>
          <a:p>
            <a:pPr algn="l" eaLnBrk="1" hangingPunct="1"/>
            <a:r>
              <a:rPr lang="en-US" altLang="en-US" sz="1800" b="1" u="sng">
                <a:latin typeface="Verdana" panose="020B0604030504040204" pitchFamily="34" charset="0"/>
                <a:ea typeface="Verdana" panose="020B0604030504040204" pitchFamily="34" charset="0"/>
                <a:cs typeface="Verdana" panose="020B0604030504040204" pitchFamily="34" charset="0"/>
              </a:rPr>
              <a:t>PROGRAM</a:t>
            </a:r>
          </a:p>
        </p:txBody>
      </p:sp>
      <p:sp>
        <p:nvSpPr>
          <p:cNvPr id="606211" name="Rectangle 3">
            <a:extLst>
              <a:ext uri="{FF2B5EF4-FFF2-40B4-BE49-F238E27FC236}">
                <a16:creationId xmlns:a16="http://schemas.microsoft.com/office/drawing/2014/main" id="{18D530C6-AFC6-44D8-969B-C97432D53496}"/>
              </a:ext>
            </a:extLst>
          </p:cNvPr>
          <p:cNvSpPr>
            <a:spLocks noGrp="1" noChangeArrowheads="1"/>
          </p:cNvSpPr>
          <p:nvPr>
            <p:ph type="subTitle" idx="1"/>
          </p:nvPr>
        </p:nvSpPr>
        <p:spPr>
          <a:xfrm>
            <a:off x="0" y="609600"/>
            <a:ext cx="9144000" cy="5746750"/>
          </a:xfrm>
        </p:spPr>
        <p:txBody>
          <a:bodyPr rtlCol="0">
            <a:normAutofit/>
          </a:bodyPr>
          <a:lstStyle/>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DECLARE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a number(2) := 10;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BEGIN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a:= 10; </a:t>
            </a: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  -- check the </a:t>
            </a:r>
            <a:r>
              <a:rPr lang="en-US" b="1" dirty="0" err="1">
                <a:latin typeface="Verdana" panose="020B0604030504040204" pitchFamily="34" charset="0"/>
                <a:ea typeface="Verdana" panose="020B0604030504040204" pitchFamily="34" charset="0"/>
                <a:cs typeface="Verdana" panose="020B0604030504040204" pitchFamily="34" charset="0"/>
              </a:rPr>
              <a:t>boolean</a:t>
            </a:r>
            <a:r>
              <a:rPr lang="en-US" b="1" dirty="0">
                <a:latin typeface="Verdana" panose="020B0604030504040204" pitchFamily="34" charset="0"/>
                <a:ea typeface="Verdana" panose="020B0604030504040204" pitchFamily="34" charset="0"/>
                <a:cs typeface="Verdana" panose="020B0604030504040204" pitchFamily="34" charset="0"/>
              </a:rPr>
              <a:t> condition using if statement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IF( a &lt; 20 ) THEN </a:t>
            </a: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      -- if condition is true then print the following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dbms_output.put_line('a is less than 20 ' );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END IF;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dbms_output.put_line('value of a is : ' || a);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END;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OUTPUT:</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a is less than 20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value of a is : 10  </a:t>
            </a:r>
          </a:p>
          <a:p>
            <a:pPr algn="l" eaLnBrk="1" fontAlgn="auto" hangingPunct="1">
              <a:spcAft>
                <a:spcPts val="0"/>
              </a:spcAft>
              <a:defRPr/>
            </a:pPr>
            <a:endParaRPr lang="en-US" dirty="0"/>
          </a:p>
          <a:p>
            <a:pPr marL="742950" indent="-571500" algn="l" eaLnBrk="1" fontAlgn="auto" hangingPunct="1">
              <a:lnSpc>
                <a:spcPct val="80000"/>
              </a:lnSpc>
              <a:spcAft>
                <a:spcPts val="0"/>
              </a:spcAft>
              <a:defRPr/>
            </a:pPr>
            <a:endParaRPr lang="en-US" altLang="en-US" u="sng" dirty="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62C18A8D-4923-434B-B1D1-A4AA5009A439}"/>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a:extLst>
              <a:ext uri="{FF2B5EF4-FFF2-40B4-BE49-F238E27FC236}">
                <a16:creationId xmlns:a16="http://schemas.microsoft.com/office/drawing/2014/main" id="{7F9346D5-477A-4A22-9E6E-8F97206DC584}"/>
              </a:ext>
            </a:extLst>
          </p:cNvPr>
          <p:cNvSpPr>
            <a:spLocks noGrp="1"/>
          </p:cNvSpPr>
          <p:nvPr>
            <p:ph idx="1"/>
          </p:nvPr>
        </p:nvSpPr>
        <p:spPr>
          <a:xfrm>
            <a:off x="381000" y="228600"/>
            <a:ext cx="8134350" cy="5948363"/>
          </a:xfrm>
        </p:spPr>
        <p:txBody>
          <a:bodyPr/>
          <a:lstStyle/>
          <a:p>
            <a:pPr marL="0" indent="0" eaLnBrk="1" hangingPunct="1">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Program:</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DECLARE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c_id customers.id%type := 1;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c_sal  customers.salary%type;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BEGIN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SELECT  salary     INTO  c_sal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FROM customers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WHERE id = c_id;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IF (c_sal &lt;= 2000) THEN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UPDATE customers  SET salary =  salary + 1000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WHERE id = c_id;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 ('Salary updated');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END IF;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END;</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OUTPUT:</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Salary updated  </a:t>
            </a:r>
          </a:p>
          <a:p>
            <a:pPr marL="0" indent="0" eaLnBrk="1" hangingPunct="1">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eaLnBrk="1" hangingPunct="1">
              <a:buFont typeface="Arial" panose="020B0604020202020204" pitchFamily="34" charset="0"/>
              <a:buNone/>
            </a:pPr>
            <a:endParaRPr lang="en-US" altLang="en-US" sz="1900">
              <a:latin typeface="Verdana" panose="020B0604030504040204" pitchFamily="34" charset="0"/>
              <a:ea typeface="Verdana" panose="020B0604030504040204" pitchFamily="34" charset="0"/>
              <a:cs typeface="Verdana" panose="020B0604030504040204" pitchFamily="34" charset="0"/>
            </a:endParaRPr>
          </a:p>
          <a:p>
            <a:pPr marL="0" indent="0" eaLnBrk="1" hangingPunct="1">
              <a:buFont typeface="Arial" panose="020B0604020202020204" pitchFamily="34" charset="0"/>
              <a:buNone/>
            </a:pPr>
            <a:endParaRPr lang="en-US" altLang="en-US"/>
          </a:p>
        </p:txBody>
      </p:sp>
      <p:sp>
        <p:nvSpPr>
          <p:cNvPr id="40963" name="Date Placeholder 3">
            <a:extLst>
              <a:ext uri="{FF2B5EF4-FFF2-40B4-BE49-F238E27FC236}">
                <a16:creationId xmlns:a16="http://schemas.microsoft.com/office/drawing/2014/main" id="{AE04F6D6-737F-4492-B47C-49CE56FBEDA7}"/>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600">
                <a:solidFill>
                  <a:schemeClr val="tx1"/>
                </a:solidFill>
                <a:latin typeface="Times New Roman" panose="02020603050405020304" pitchFamily="18" charset="0"/>
              </a:defRPr>
            </a:lvl1pPr>
            <a:lvl2pPr marL="742950" indent="-285750">
              <a:defRPr sz="2600">
                <a:solidFill>
                  <a:schemeClr val="tx1"/>
                </a:solidFill>
                <a:latin typeface="Times New Roman" panose="02020603050405020304" pitchFamily="18" charset="0"/>
              </a:defRPr>
            </a:lvl2pPr>
            <a:lvl3pPr marL="1143000" indent="-228600">
              <a:defRPr sz="2600">
                <a:solidFill>
                  <a:schemeClr val="tx1"/>
                </a:solidFill>
                <a:latin typeface="Times New Roman" panose="02020603050405020304" pitchFamily="18" charset="0"/>
              </a:defRPr>
            </a:lvl3pPr>
            <a:lvl4pPr marL="1600200" indent="-228600">
              <a:defRPr sz="2600">
                <a:solidFill>
                  <a:schemeClr val="tx1"/>
                </a:solidFill>
                <a:latin typeface="Times New Roman" panose="02020603050405020304" pitchFamily="18" charset="0"/>
              </a:defRPr>
            </a:lvl4pPr>
            <a:lvl5pPr marL="2057400" indent="-228600">
              <a:defRPr sz="2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defRPr>
            </a:lvl9pPr>
          </a:lstStyle>
          <a:p>
            <a:r>
              <a:rPr lang="en-US" altLang="en-US" sz="900">
                <a:solidFill>
                  <a:srgbClr val="898989"/>
                </a:solidFill>
              </a:rPr>
              <a:t>Bordoloi and Bock</a:t>
            </a:r>
            <a:endParaRPr lang="en-US" altLang="en-US" sz="900">
              <a:solidFill>
                <a:srgbClr val="00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4BA8262-BDA1-43CB-968C-C263535F9C80}"/>
              </a:ext>
            </a:extLst>
          </p:cNvPr>
          <p:cNvSpPr>
            <a:spLocks noGrp="1"/>
          </p:cNvSpPr>
          <p:nvPr>
            <p:ph type="ctrTitle"/>
          </p:nvPr>
        </p:nvSpPr>
        <p:spPr>
          <a:xfrm>
            <a:off x="0" y="228600"/>
            <a:ext cx="8839200" cy="609600"/>
          </a:xfrm>
        </p:spPr>
        <p:txBody>
          <a:bodyPr anchor="ctr"/>
          <a:lstStyle/>
          <a:p>
            <a:pPr algn="l" eaLnBrk="1" hangingPunct="1"/>
            <a:r>
              <a:rPr lang="en-US" altLang="en-US" sz="1800" b="1" u="sng">
                <a:latin typeface="Verdana" panose="020B0604030504040204" pitchFamily="34" charset="0"/>
                <a:ea typeface="Verdana" panose="020B0604030504040204" pitchFamily="34" charset="0"/>
                <a:cs typeface="Verdana" panose="020B0604030504040204" pitchFamily="34" charset="0"/>
              </a:rPr>
              <a:t>PL/SQL (IF-THEN-ELSE statement)</a:t>
            </a:r>
          </a:p>
        </p:txBody>
      </p:sp>
      <p:sp>
        <p:nvSpPr>
          <p:cNvPr id="607235" name="Rectangle 3">
            <a:extLst>
              <a:ext uri="{FF2B5EF4-FFF2-40B4-BE49-F238E27FC236}">
                <a16:creationId xmlns:a16="http://schemas.microsoft.com/office/drawing/2014/main" id="{243F5130-6E9E-47C7-B04D-257EF240BEC2}"/>
              </a:ext>
            </a:extLst>
          </p:cNvPr>
          <p:cNvSpPr>
            <a:spLocks noGrp="1" noChangeArrowheads="1"/>
          </p:cNvSpPr>
          <p:nvPr>
            <p:ph type="subTitle" idx="1"/>
          </p:nvPr>
        </p:nvSpPr>
        <p:spPr>
          <a:xfrm>
            <a:off x="0" y="1066800"/>
            <a:ext cx="9144000" cy="5029200"/>
          </a:xfrm>
        </p:spPr>
        <p:txBody>
          <a:bodyPr rtlCol="0">
            <a:normAutofit/>
          </a:bodyPr>
          <a:lstStyle/>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Syntax: (IF-THEN-ELSE statement):</a:t>
            </a:r>
            <a:endParaRPr lang="en-US" dirty="0">
              <a:latin typeface="Verdana" panose="020B0604030504040204" pitchFamily="34" charset="0"/>
              <a:ea typeface="Verdana" panose="020B0604030504040204" pitchFamily="34" charset="0"/>
              <a:cs typeface="Verdana" panose="020B0604030504040204" pitchFamily="34" charset="0"/>
            </a:endParaRP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IF condition   </a:t>
            </a: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THEN</a:t>
            </a:r>
            <a:r>
              <a:rPr lang="en-US" dirty="0">
                <a:latin typeface="Verdana" panose="020B0604030504040204" pitchFamily="34" charset="0"/>
                <a:ea typeface="Verdana" panose="020B0604030504040204" pitchFamily="34" charset="0"/>
                <a:cs typeface="Verdana" panose="020B0604030504040204" pitchFamily="34" charset="0"/>
              </a:rPr>
              <a:t>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{...statements </a:t>
            </a:r>
            <a:r>
              <a:rPr lang="en-US" b="1" dirty="0">
                <a:latin typeface="Verdana" panose="020B0604030504040204" pitchFamily="34" charset="0"/>
                <a:ea typeface="Verdana" panose="020B0604030504040204" pitchFamily="34" charset="0"/>
                <a:cs typeface="Verdana" panose="020B0604030504040204" pitchFamily="34" charset="0"/>
              </a:rPr>
              <a:t>to</a:t>
            </a:r>
            <a:r>
              <a:rPr lang="en-US" dirty="0">
                <a:latin typeface="Verdana" panose="020B0604030504040204" pitchFamily="34" charset="0"/>
                <a:ea typeface="Verdana" panose="020B0604030504040204" pitchFamily="34" charset="0"/>
                <a:cs typeface="Verdana" panose="020B0604030504040204" pitchFamily="34" charset="0"/>
              </a:rPr>
              <a:t> </a:t>
            </a:r>
            <a:r>
              <a:rPr lang="en-US" b="1" dirty="0">
                <a:latin typeface="Verdana" panose="020B0604030504040204" pitchFamily="34" charset="0"/>
                <a:ea typeface="Verdana" panose="020B0604030504040204" pitchFamily="34" charset="0"/>
                <a:cs typeface="Verdana" panose="020B0604030504040204" pitchFamily="34" charset="0"/>
              </a:rPr>
              <a:t>execute</a:t>
            </a:r>
            <a:r>
              <a:rPr lang="en-US" dirty="0">
                <a:latin typeface="Verdana" panose="020B0604030504040204" pitchFamily="34" charset="0"/>
                <a:ea typeface="Verdana" panose="020B0604030504040204" pitchFamily="34" charset="0"/>
                <a:cs typeface="Verdana" panose="020B0604030504040204" pitchFamily="34" charset="0"/>
              </a:rPr>
              <a:t> </a:t>
            </a:r>
            <a:r>
              <a:rPr lang="en-US" b="1" dirty="0">
                <a:latin typeface="Verdana" panose="020B0604030504040204" pitchFamily="34" charset="0"/>
                <a:ea typeface="Verdana" panose="020B0604030504040204" pitchFamily="34" charset="0"/>
                <a:cs typeface="Verdana" panose="020B0604030504040204" pitchFamily="34" charset="0"/>
              </a:rPr>
              <a:t>when</a:t>
            </a:r>
            <a:r>
              <a:rPr lang="en-US" dirty="0">
                <a:latin typeface="Verdana" panose="020B0604030504040204" pitchFamily="34" charset="0"/>
                <a:ea typeface="Verdana" panose="020B0604030504040204" pitchFamily="34" charset="0"/>
                <a:cs typeface="Verdana" panose="020B0604030504040204" pitchFamily="34" charset="0"/>
              </a:rPr>
              <a:t> condition </a:t>
            </a:r>
            <a:r>
              <a:rPr lang="en-US" b="1" dirty="0">
                <a:latin typeface="Verdana" panose="020B0604030504040204" pitchFamily="34" charset="0"/>
                <a:ea typeface="Verdana" panose="020B0604030504040204" pitchFamily="34" charset="0"/>
                <a:cs typeface="Verdana" panose="020B0604030504040204" pitchFamily="34" charset="0"/>
              </a:rPr>
              <a:t>is</a:t>
            </a:r>
            <a:r>
              <a:rPr lang="en-US" dirty="0">
                <a:latin typeface="Verdana" panose="020B0604030504040204" pitchFamily="34" charset="0"/>
                <a:ea typeface="Verdana" panose="020B0604030504040204" pitchFamily="34" charset="0"/>
                <a:cs typeface="Verdana" panose="020B0604030504040204" pitchFamily="34" charset="0"/>
              </a:rPr>
              <a:t> </a:t>
            </a:r>
            <a:r>
              <a:rPr lang="en-US" b="1" dirty="0">
                <a:latin typeface="Verdana" panose="020B0604030504040204" pitchFamily="34" charset="0"/>
                <a:ea typeface="Verdana" panose="020B0604030504040204" pitchFamily="34" charset="0"/>
                <a:cs typeface="Verdana" panose="020B0604030504040204" pitchFamily="34" charset="0"/>
              </a:rPr>
              <a:t>TRUE</a:t>
            </a:r>
            <a:r>
              <a:rPr lang="en-US" dirty="0">
                <a:latin typeface="Verdana" panose="020B0604030504040204" pitchFamily="34" charset="0"/>
                <a:ea typeface="Verdana" panose="020B0604030504040204" pitchFamily="34" charset="0"/>
                <a:cs typeface="Verdana" panose="020B0604030504040204" pitchFamily="34" charset="0"/>
              </a:rPr>
              <a:t>...}  </a:t>
            </a: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ELSE</a:t>
            </a:r>
            <a:r>
              <a:rPr lang="en-US" dirty="0">
                <a:latin typeface="Verdana" panose="020B0604030504040204" pitchFamily="34" charset="0"/>
                <a:ea typeface="Verdana" panose="020B0604030504040204" pitchFamily="34" charset="0"/>
                <a:cs typeface="Verdana" panose="020B0604030504040204" pitchFamily="34" charset="0"/>
              </a:rPr>
              <a:t>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   {...statements </a:t>
            </a:r>
            <a:r>
              <a:rPr lang="en-US" b="1" dirty="0">
                <a:latin typeface="Verdana" panose="020B0604030504040204" pitchFamily="34" charset="0"/>
                <a:ea typeface="Verdana" panose="020B0604030504040204" pitchFamily="34" charset="0"/>
                <a:cs typeface="Verdana" panose="020B0604030504040204" pitchFamily="34" charset="0"/>
              </a:rPr>
              <a:t>to</a:t>
            </a:r>
            <a:r>
              <a:rPr lang="en-US" dirty="0">
                <a:latin typeface="Verdana" panose="020B0604030504040204" pitchFamily="34" charset="0"/>
                <a:ea typeface="Verdana" panose="020B0604030504040204" pitchFamily="34" charset="0"/>
                <a:cs typeface="Verdana" panose="020B0604030504040204" pitchFamily="34" charset="0"/>
              </a:rPr>
              <a:t> </a:t>
            </a:r>
            <a:r>
              <a:rPr lang="en-US" b="1" dirty="0">
                <a:latin typeface="Verdana" panose="020B0604030504040204" pitchFamily="34" charset="0"/>
                <a:ea typeface="Verdana" panose="020B0604030504040204" pitchFamily="34" charset="0"/>
                <a:cs typeface="Verdana" panose="020B0604030504040204" pitchFamily="34" charset="0"/>
              </a:rPr>
              <a:t>execute</a:t>
            </a:r>
            <a:r>
              <a:rPr lang="en-US" dirty="0">
                <a:latin typeface="Verdana" panose="020B0604030504040204" pitchFamily="34" charset="0"/>
                <a:ea typeface="Verdana" panose="020B0604030504040204" pitchFamily="34" charset="0"/>
                <a:cs typeface="Verdana" panose="020B0604030504040204" pitchFamily="34" charset="0"/>
              </a:rPr>
              <a:t> </a:t>
            </a:r>
            <a:r>
              <a:rPr lang="en-US" b="1" dirty="0">
                <a:latin typeface="Verdana" panose="020B0604030504040204" pitchFamily="34" charset="0"/>
                <a:ea typeface="Verdana" panose="020B0604030504040204" pitchFamily="34" charset="0"/>
                <a:cs typeface="Verdana" panose="020B0604030504040204" pitchFamily="34" charset="0"/>
              </a:rPr>
              <a:t>when</a:t>
            </a:r>
            <a:r>
              <a:rPr lang="en-US" dirty="0">
                <a:latin typeface="Verdana" panose="020B0604030504040204" pitchFamily="34" charset="0"/>
                <a:ea typeface="Verdana" panose="020B0604030504040204" pitchFamily="34" charset="0"/>
                <a:cs typeface="Verdana" panose="020B0604030504040204" pitchFamily="34" charset="0"/>
              </a:rPr>
              <a:t> condition </a:t>
            </a:r>
            <a:r>
              <a:rPr lang="en-US" b="1" dirty="0">
                <a:latin typeface="Verdana" panose="020B0604030504040204" pitchFamily="34" charset="0"/>
                <a:ea typeface="Verdana" panose="020B0604030504040204" pitchFamily="34" charset="0"/>
                <a:cs typeface="Verdana" panose="020B0604030504040204" pitchFamily="34" charset="0"/>
              </a:rPr>
              <a:t>is</a:t>
            </a:r>
            <a:r>
              <a:rPr lang="en-US" dirty="0">
                <a:latin typeface="Verdana" panose="020B0604030504040204" pitchFamily="34" charset="0"/>
                <a:ea typeface="Verdana" panose="020B0604030504040204" pitchFamily="34" charset="0"/>
                <a:cs typeface="Verdana" panose="020B0604030504040204" pitchFamily="34" charset="0"/>
              </a:rPr>
              <a:t> </a:t>
            </a:r>
            <a:r>
              <a:rPr lang="en-US" b="1" dirty="0">
                <a:latin typeface="Verdana" panose="020B0604030504040204" pitchFamily="34" charset="0"/>
                <a:ea typeface="Verdana" panose="020B0604030504040204" pitchFamily="34" charset="0"/>
                <a:cs typeface="Verdana" panose="020B0604030504040204" pitchFamily="34" charset="0"/>
              </a:rPr>
              <a:t>FALSE</a:t>
            </a:r>
            <a:r>
              <a:rPr lang="en-US" dirty="0">
                <a:latin typeface="Verdana" panose="020B0604030504040204" pitchFamily="34" charset="0"/>
                <a:ea typeface="Verdana" panose="020B0604030504040204" pitchFamily="34" charset="0"/>
                <a:cs typeface="Verdana" panose="020B0604030504040204" pitchFamily="34" charset="0"/>
              </a:rPr>
              <a:t>...}  </a:t>
            </a:r>
          </a:p>
          <a:p>
            <a:pPr algn="l" eaLnBrk="1" fontAlgn="auto" hangingPunct="1">
              <a:spcAft>
                <a:spcPts val="0"/>
              </a:spcAft>
              <a:defRPr/>
            </a:pPr>
            <a:r>
              <a:rPr lang="en-US" b="1" dirty="0">
                <a:latin typeface="Verdana" panose="020B0604030504040204" pitchFamily="34" charset="0"/>
                <a:ea typeface="Verdana" panose="020B0604030504040204" pitchFamily="34" charset="0"/>
                <a:cs typeface="Verdana" panose="020B0604030504040204" pitchFamily="34" charset="0"/>
              </a:rPr>
              <a:t>END</a:t>
            </a:r>
            <a:r>
              <a:rPr lang="en-US" dirty="0">
                <a:latin typeface="Verdana" panose="020B0604030504040204" pitchFamily="34" charset="0"/>
                <a:ea typeface="Verdana" panose="020B0604030504040204" pitchFamily="34" charset="0"/>
                <a:cs typeface="Verdana" panose="020B0604030504040204" pitchFamily="34" charset="0"/>
              </a:rPr>
              <a:t> IF;   </a:t>
            </a:r>
          </a:p>
          <a:p>
            <a:pPr algn="l" eaLnBrk="1" fontAlgn="auto" hangingPunct="1">
              <a:spcAft>
                <a:spcPts val="0"/>
              </a:spcAft>
              <a:defRPr/>
            </a:pPr>
            <a:r>
              <a:rPr lang="en-US" dirty="0">
                <a:latin typeface="Verdana" panose="020B0604030504040204" pitchFamily="34" charset="0"/>
                <a:ea typeface="Verdana" panose="020B0604030504040204" pitchFamily="34" charset="0"/>
                <a:cs typeface="Verdana" panose="020B0604030504040204" pitchFamily="34" charset="0"/>
              </a:rPr>
              <a:t>This syntax is used when you want to execute one set of statements when condition is TRUE or a different set of statements when condition is FALSE.</a:t>
            </a:r>
          </a:p>
          <a:p>
            <a:pPr marL="742950" indent="-571500" algn="l" eaLnBrk="1" fontAlgn="auto" hangingPunct="1">
              <a:spcAft>
                <a:spcPts val="0"/>
              </a:spcAft>
              <a:defRPr/>
            </a:pPr>
            <a:endParaRPr lang="en-US" altLang="en-US" sz="2000" dirty="0"/>
          </a:p>
        </p:txBody>
      </p:sp>
      <p:sp>
        <p:nvSpPr>
          <p:cNvPr id="4" name="Date Placeholder 3">
            <a:extLst>
              <a:ext uri="{FF2B5EF4-FFF2-40B4-BE49-F238E27FC236}">
                <a16:creationId xmlns:a16="http://schemas.microsoft.com/office/drawing/2014/main" id="{69A9010F-852A-4FC2-9A95-6E371956A8E1}"/>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B156D9-2514-4C40-97E2-C122B548A1AC}"/>
              </a:ext>
            </a:extLst>
          </p:cNvPr>
          <p:cNvSpPr>
            <a:spLocks noGrp="1"/>
          </p:cNvSpPr>
          <p:nvPr>
            <p:ph idx="1"/>
          </p:nvPr>
        </p:nvSpPr>
        <p:spPr>
          <a:xfrm>
            <a:off x="628650" y="228600"/>
            <a:ext cx="7886700" cy="5948363"/>
          </a:xfrm>
        </p:spPr>
        <p:txBody>
          <a:bodyPr rtlCol="0">
            <a:normAutofit/>
          </a:bodyPr>
          <a:lstStyle/>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DECLARE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a number(3) := 100;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BEGIN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 check the </a:t>
            </a:r>
            <a:r>
              <a:rPr lang="en-US" sz="1800" b="1" dirty="0" err="1">
                <a:latin typeface="Verdana" panose="020B0604030504040204" pitchFamily="34" charset="0"/>
                <a:ea typeface="Verdana" panose="020B0604030504040204" pitchFamily="34" charset="0"/>
                <a:cs typeface="Verdana" panose="020B0604030504040204" pitchFamily="34" charset="0"/>
              </a:rPr>
              <a:t>boolean</a:t>
            </a:r>
            <a:r>
              <a:rPr lang="en-US" sz="1800" b="1" dirty="0">
                <a:latin typeface="Verdana" panose="020B0604030504040204" pitchFamily="34" charset="0"/>
                <a:ea typeface="Verdana" panose="020B0604030504040204" pitchFamily="34" charset="0"/>
                <a:cs typeface="Verdana" panose="020B0604030504040204" pitchFamily="34" charset="0"/>
              </a:rPr>
              <a:t> condition using if statement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IF( a &lt; 20 ) THEN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 if condition is true then print the following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dbms_output.put_line('a is less than 20 ' );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ELSE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dbms_output.put_line('a is not less than 20 ' );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END IF;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dbms_output.put_line('value of a is : ' || a);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END;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a:t>
            </a:r>
          </a:p>
          <a:p>
            <a:pPr marL="0" indent="0" eaLnBrk="1" fontAlgn="auto" hangingPunct="1">
              <a:spcAft>
                <a:spcPts val="0"/>
              </a:spcAft>
              <a:buFont typeface="Arial" panose="020B0604020202020204" pitchFamily="34" charset="0"/>
              <a:buNone/>
              <a:defRPr/>
            </a:pPr>
            <a:r>
              <a:rPr lang="en-US" dirty="0"/>
              <a:t>OUTPUT:</a:t>
            </a:r>
          </a:p>
          <a:p>
            <a:pPr eaLnBrk="1" fontAlgn="auto" hangingPunct="1">
              <a:spcAft>
                <a:spcPts val="0"/>
              </a:spcAft>
              <a:defRPr/>
            </a:pPr>
            <a:r>
              <a:rPr lang="en-US" sz="1800" dirty="0">
                <a:latin typeface="Verdana" panose="020B0604030504040204" pitchFamily="34" charset="0"/>
                <a:ea typeface="Verdana" panose="020B0604030504040204" pitchFamily="34" charset="0"/>
                <a:cs typeface="Verdana" panose="020B0604030504040204" pitchFamily="34" charset="0"/>
              </a:rPr>
              <a:t>a is not less than 20 </a:t>
            </a:r>
          </a:p>
          <a:p>
            <a:pPr eaLnBrk="1" fontAlgn="auto" hangingPunct="1">
              <a:spcAft>
                <a:spcPts val="0"/>
              </a:spcAft>
              <a:defRPr/>
            </a:pPr>
            <a:r>
              <a:rPr lang="en-US" sz="1800" dirty="0">
                <a:latin typeface="Verdana" panose="020B0604030504040204" pitchFamily="34" charset="0"/>
                <a:ea typeface="Verdana" panose="020B0604030504040204" pitchFamily="34" charset="0"/>
                <a:cs typeface="Verdana" panose="020B0604030504040204" pitchFamily="34" charset="0"/>
              </a:rPr>
              <a:t>value of a is : 100  </a:t>
            </a:r>
          </a:p>
          <a:p>
            <a:pPr marL="0" indent="0" eaLnBrk="1" fontAlgn="auto" hangingPunct="1">
              <a:spcAft>
                <a:spcPts val="0"/>
              </a:spcAft>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68D24CD7-5A06-45DE-8481-3F6523804450}"/>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AE3368-3429-4445-9583-0878BA5A91E5}"/>
              </a:ext>
            </a:extLst>
          </p:cNvPr>
          <p:cNvSpPr>
            <a:spLocks noGrp="1"/>
          </p:cNvSpPr>
          <p:nvPr>
            <p:ph idx="1"/>
          </p:nvPr>
        </p:nvSpPr>
        <p:spPr>
          <a:xfrm>
            <a:off x="304800" y="304800"/>
            <a:ext cx="8382000" cy="6051550"/>
          </a:xfrm>
        </p:spPr>
        <p:txBody>
          <a:bodyPr rtlCol="0">
            <a:normAutofit/>
          </a:bodyPr>
          <a:lstStyle/>
          <a:p>
            <a:pPr marL="0" indent="0" eaLnBrk="1" fontAlgn="auto" hangingPunct="1">
              <a:spcAft>
                <a:spcPts val="0"/>
              </a:spcAft>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Syntax: (IF-THEN-ELSIF-ELSE statement):</a:t>
            </a: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IF condition1   </a:t>
            </a:r>
          </a:p>
          <a:p>
            <a:pPr marL="0" indent="0" eaLnBrk="1" fontAlgn="auto" hangingPunct="1">
              <a:spcAft>
                <a:spcPts val="0"/>
              </a:spcAft>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THEN</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{...statements </a:t>
            </a:r>
            <a:r>
              <a:rPr lang="en-US" sz="1800" b="1" dirty="0">
                <a:latin typeface="Verdana" panose="020B0604030504040204" pitchFamily="34" charset="0"/>
                <a:ea typeface="Verdana" panose="020B0604030504040204" pitchFamily="34" charset="0"/>
                <a:cs typeface="Verdana" panose="020B0604030504040204" pitchFamily="34" charset="0"/>
              </a:rPr>
              <a:t>to</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execute</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when</a:t>
            </a:r>
            <a:r>
              <a:rPr lang="en-US" sz="1800" dirty="0">
                <a:latin typeface="Verdana" panose="020B0604030504040204" pitchFamily="34" charset="0"/>
                <a:ea typeface="Verdana" panose="020B0604030504040204" pitchFamily="34" charset="0"/>
                <a:cs typeface="Verdana" panose="020B0604030504040204" pitchFamily="34" charset="0"/>
              </a:rPr>
              <a:t> condition1 </a:t>
            </a:r>
            <a:r>
              <a:rPr lang="en-US" sz="1800" b="1" dirty="0">
                <a:latin typeface="Verdana" panose="020B0604030504040204" pitchFamily="34" charset="0"/>
                <a:ea typeface="Verdana" panose="020B0604030504040204" pitchFamily="34" charset="0"/>
                <a:cs typeface="Verdana" panose="020B0604030504040204" pitchFamily="34" charset="0"/>
              </a:rPr>
              <a:t>is</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TRUE</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ELSIF condition2   </a:t>
            </a:r>
          </a:p>
          <a:p>
            <a:pPr marL="0" indent="0" eaLnBrk="1" fontAlgn="auto" hangingPunct="1">
              <a:spcAft>
                <a:spcPts val="0"/>
              </a:spcAft>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THEN</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{...statements </a:t>
            </a:r>
            <a:r>
              <a:rPr lang="en-US" sz="1800" b="1" dirty="0">
                <a:latin typeface="Verdana" panose="020B0604030504040204" pitchFamily="34" charset="0"/>
                <a:ea typeface="Verdana" panose="020B0604030504040204" pitchFamily="34" charset="0"/>
                <a:cs typeface="Verdana" panose="020B0604030504040204" pitchFamily="34" charset="0"/>
              </a:rPr>
              <a:t>to</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execute</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when</a:t>
            </a:r>
            <a:r>
              <a:rPr lang="en-US" sz="1800" dirty="0">
                <a:latin typeface="Verdana" panose="020B0604030504040204" pitchFamily="34" charset="0"/>
                <a:ea typeface="Verdana" panose="020B0604030504040204" pitchFamily="34" charset="0"/>
                <a:cs typeface="Verdana" panose="020B0604030504040204" pitchFamily="34" charset="0"/>
              </a:rPr>
              <a:t> condition2 </a:t>
            </a:r>
            <a:r>
              <a:rPr lang="en-US" sz="1800" b="1" dirty="0">
                <a:latin typeface="Verdana" panose="020B0604030504040204" pitchFamily="34" charset="0"/>
                <a:ea typeface="Verdana" panose="020B0604030504040204" pitchFamily="34" charset="0"/>
                <a:cs typeface="Verdana" panose="020B0604030504040204" pitchFamily="34" charset="0"/>
              </a:rPr>
              <a:t>is</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TRUE</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fontAlgn="auto" hangingPunct="1">
              <a:spcAft>
                <a:spcPts val="0"/>
              </a:spcAft>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ELSE</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{...statements </a:t>
            </a:r>
            <a:r>
              <a:rPr lang="en-US" sz="1800" b="1" dirty="0">
                <a:latin typeface="Verdana" panose="020B0604030504040204" pitchFamily="34" charset="0"/>
                <a:ea typeface="Verdana" panose="020B0604030504040204" pitchFamily="34" charset="0"/>
                <a:cs typeface="Verdana" panose="020B0604030504040204" pitchFamily="34" charset="0"/>
              </a:rPr>
              <a:t>to</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execute</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when</a:t>
            </a:r>
            <a:r>
              <a:rPr lang="en-US" sz="1800" dirty="0">
                <a:latin typeface="Verdana" panose="020B0604030504040204" pitchFamily="34" charset="0"/>
                <a:ea typeface="Verdana" panose="020B0604030504040204" pitchFamily="34" charset="0"/>
                <a:cs typeface="Verdana" panose="020B0604030504040204" pitchFamily="34" charset="0"/>
              </a:rPr>
              <a:t> both condition1 and condition2 are </a:t>
            </a:r>
            <a:r>
              <a:rPr lang="en-US" sz="1800" b="1" dirty="0">
                <a:latin typeface="Verdana" panose="020B0604030504040204" pitchFamily="34" charset="0"/>
                <a:ea typeface="Verdana" panose="020B0604030504040204" pitchFamily="34" charset="0"/>
                <a:cs typeface="Verdana" panose="020B0604030504040204" pitchFamily="34" charset="0"/>
              </a:rPr>
              <a:t>FALSE</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fontAlgn="auto" hangingPunct="1">
              <a:spcAft>
                <a:spcPts val="0"/>
              </a:spcAft>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END</a:t>
            </a:r>
            <a:r>
              <a:rPr lang="en-US" sz="1800" dirty="0">
                <a:latin typeface="Verdana" panose="020B0604030504040204" pitchFamily="34" charset="0"/>
                <a:ea typeface="Verdana" panose="020B0604030504040204" pitchFamily="34" charset="0"/>
                <a:cs typeface="Verdana" panose="020B0604030504040204" pitchFamily="34" charset="0"/>
              </a:rPr>
              <a:t> IF;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It is the most advance syntax and used if you want to execute one set of statements when condition1 is TRUE, a different set of statement when condition2 is TRUE or a different set of statements when both the condition1 and condition2 are FALSE.</a:t>
            </a:r>
          </a:p>
          <a:p>
            <a:pPr eaLnBrk="1" fontAlgn="auto" hangingPunct="1">
              <a:spcAft>
                <a:spcPts val="0"/>
              </a:spcAft>
              <a:defRPr/>
            </a:pPr>
            <a:endParaRPr lang="en-US" sz="1800" dirty="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D2994899-2CC6-4F6F-AFC5-5E2B25ACA2BD}"/>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366574BE-DCCE-4F37-8572-0911481AA94E}"/>
              </a:ext>
            </a:extLst>
          </p:cNvPr>
          <p:cNvSpPr>
            <a:spLocks noGrp="1"/>
          </p:cNvSpPr>
          <p:nvPr>
            <p:ph idx="1"/>
          </p:nvPr>
        </p:nvSpPr>
        <p:spPr>
          <a:xfrm>
            <a:off x="628650" y="304800"/>
            <a:ext cx="7886700" cy="5872163"/>
          </a:xfrm>
        </p:spPr>
        <p:txBody>
          <a:bodyPr/>
          <a:lstStyle/>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DECLARE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 number(3) := 100;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BEGIN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IF ( a = 10 ) THEN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dbms_output.put_line('Value of a is 10' );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ELSIF ( a = 20 ) THEN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dbms_output.put_line('Value of a is 20' );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ELSIF ( a = 30 ) THEN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dbms_output.put_line('Value of a is 30' );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ELSE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dbms_output.put_line('None of the values is matching');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END IF;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dbms_output.put_line('Exact value of a is: '|| a );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END;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4C6AC005-E413-4368-91B5-3749FC48116A}"/>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E58723-8D0E-4785-8982-79F255125436}"/>
              </a:ext>
            </a:extLst>
          </p:cNvPr>
          <p:cNvSpPr>
            <a:spLocks noGrp="1"/>
          </p:cNvSpPr>
          <p:nvPr>
            <p:ph idx="1"/>
          </p:nvPr>
        </p:nvSpPr>
        <p:spPr>
          <a:xfrm>
            <a:off x="628650" y="533400"/>
            <a:ext cx="7886700" cy="5643563"/>
          </a:xfrm>
        </p:spPr>
        <p:txBody>
          <a:bodyPr rtlCol="0">
            <a:normAutofit/>
          </a:bodyPr>
          <a:lstStyle/>
          <a:p>
            <a:pPr marL="0" indent="0" eaLnBrk="1" fontAlgn="auto" hangingPunct="1">
              <a:spcAft>
                <a:spcPts val="0"/>
              </a:spcAft>
              <a:buFont typeface="Arial" panose="020B0604020202020204" pitchFamily="34" charset="0"/>
              <a:buNone/>
              <a:defRPr/>
            </a:pPr>
            <a:r>
              <a:rPr lang="en-US" sz="1900" dirty="0">
                <a:latin typeface="Verdana" panose="020B0604030504040204" pitchFamily="34" charset="0"/>
                <a:ea typeface="Verdana" panose="020B0604030504040204" pitchFamily="34" charset="0"/>
                <a:cs typeface="Verdana" panose="020B0604030504040204" pitchFamily="34" charset="0"/>
              </a:rPr>
              <a:t>OUTPUT:</a:t>
            </a:r>
          </a:p>
          <a:p>
            <a:pPr eaLnBrk="1" fontAlgn="auto" hangingPunct="1">
              <a:spcAft>
                <a:spcPts val="0"/>
              </a:spcAft>
              <a:defRPr/>
            </a:pPr>
            <a:r>
              <a:rPr lang="en-US" sz="1900" dirty="0">
                <a:latin typeface="Verdana" panose="020B0604030504040204" pitchFamily="34" charset="0"/>
                <a:ea typeface="Verdana" panose="020B0604030504040204" pitchFamily="34" charset="0"/>
                <a:cs typeface="Verdana" panose="020B0604030504040204" pitchFamily="34" charset="0"/>
              </a:rPr>
              <a:t>None of the values is matching </a:t>
            </a:r>
          </a:p>
          <a:p>
            <a:pPr eaLnBrk="1" fontAlgn="auto" hangingPunct="1">
              <a:spcAft>
                <a:spcPts val="0"/>
              </a:spcAft>
              <a:defRPr/>
            </a:pPr>
            <a:r>
              <a:rPr lang="en-US" sz="1900" dirty="0">
                <a:latin typeface="Verdana" panose="020B0604030504040204" pitchFamily="34" charset="0"/>
                <a:ea typeface="Verdana" panose="020B0604030504040204" pitchFamily="34" charset="0"/>
                <a:cs typeface="Verdana" panose="020B0604030504040204" pitchFamily="34" charset="0"/>
              </a:rPr>
              <a:t>Exact value of a is: 100  </a:t>
            </a:r>
          </a:p>
          <a:p>
            <a:pPr eaLnBrk="1" fontAlgn="auto" hangingPunct="1">
              <a:spcAft>
                <a:spcPts val="0"/>
              </a:spcAft>
              <a:defRPr/>
            </a:pPr>
            <a:r>
              <a:rPr lang="en-US" sz="1900" dirty="0">
                <a:latin typeface="Verdana" panose="020B0604030504040204" pitchFamily="34" charset="0"/>
                <a:ea typeface="Verdana" panose="020B0604030504040204" pitchFamily="34" charset="0"/>
                <a:cs typeface="Verdana" panose="020B0604030504040204" pitchFamily="34" charset="0"/>
              </a:rPr>
              <a:t> </a:t>
            </a:r>
          </a:p>
          <a:p>
            <a:pPr eaLnBrk="1" fontAlgn="auto" hangingPunct="1">
              <a:spcAft>
                <a:spcPts val="0"/>
              </a:spcAft>
              <a:defRPr/>
            </a:pPr>
            <a:r>
              <a:rPr lang="en-US" sz="1900" dirty="0">
                <a:latin typeface="Verdana" panose="020B0604030504040204" pitchFamily="34" charset="0"/>
                <a:ea typeface="Verdana" panose="020B0604030504040204" pitchFamily="34" charset="0"/>
                <a:cs typeface="Verdana" panose="020B0604030504040204" pitchFamily="34" charset="0"/>
              </a:rPr>
              <a:t>PL/SQL procedure successfully completed. </a:t>
            </a:r>
          </a:p>
          <a:p>
            <a:pPr eaLnBrk="1" fontAlgn="auto" hangingPunct="1">
              <a:spcAft>
                <a:spcPts val="0"/>
              </a:spcAft>
              <a:defRPr/>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NOTE:</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When a condition is found to be TRUE, the IF-THEN-ELSE statement will execute the corresponding code and not check the conditions any further.</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If there no condition is met, the ELSE portion of the IF-THEN-ELSE statement will be executed.</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ELSIF and ELSE portions are optional.</a:t>
            </a:r>
          </a:p>
          <a:p>
            <a:pPr marL="0" indent="0" eaLnBrk="1" fontAlgn="auto" hangingPunct="1">
              <a:spcAft>
                <a:spcPts val="0"/>
              </a:spcAft>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C6CBDF7E-7093-410E-AE68-B01D4B130909}"/>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E5B03-31EC-4690-BAE1-30CDBE0E0BA1}"/>
              </a:ext>
            </a:extLst>
          </p:cNvPr>
          <p:cNvSpPr>
            <a:spLocks noGrp="1"/>
          </p:cNvSpPr>
          <p:nvPr>
            <p:ph type="title"/>
          </p:nvPr>
        </p:nvSpPr>
        <p:spPr>
          <a:xfrm>
            <a:off x="628650" y="228600"/>
            <a:ext cx="7886700" cy="609600"/>
          </a:xfrm>
        </p:spPr>
        <p:txBody>
          <a:bodyPr rtlCol="0">
            <a:normAutofit fontScale="90000"/>
          </a:bodyPr>
          <a:lstStyle/>
          <a:p>
            <a:pPr eaLnBrk="1" fontAlgn="auto" hangingPunct="1">
              <a:spcAft>
                <a:spcPts val="0"/>
              </a:spcAft>
              <a:defRPr/>
            </a:pPr>
            <a:br>
              <a:rPr lang="en-US" b="1" dirty="0"/>
            </a:br>
            <a:r>
              <a:rPr lang="en-US" sz="2200" b="1" dirty="0">
                <a:latin typeface="Verdana" panose="020B0604030504040204" pitchFamily="34" charset="0"/>
                <a:ea typeface="Verdana" panose="020B0604030504040204" pitchFamily="34" charset="0"/>
                <a:cs typeface="Verdana" panose="020B0604030504040204" pitchFamily="34" charset="0"/>
              </a:rPr>
              <a:t>PL/SQL - Nested IF-THEN-ELSE Statements:</a:t>
            </a:r>
            <a:br>
              <a:rPr lang="en-US" sz="2200" b="1" dirty="0">
                <a:latin typeface="Verdana" panose="020B0604030504040204" pitchFamily="34" charset="0"/>
                <a:ea typeface="Verdana" panose="020B0604030504040204" pitchFamily="34" charset="0"/>
                <a:cs typeface="Verdana" panose="020B0604030504040204" pitchFamily="34" charset="0"/>
              </a:rPr>
            </a:br>
            <a:endParaRPr lang="en-US" sz="2200" dirty="0">
              <a:latin typeface="Verdana" panose="020B0604030504040204" pitchFamily="34" charset="0"/>
              <a:ea typeface="Verdana" panose="020B0604030504040204" pitchFamily="34" charset="0"/>
              <a:cs typeface="Verdana" panose="020B0604030504040204" pitchFamily="34" charset="0"/>
            </a:endParaRPr>
          </a:p>
        </p:txBody>
      </p:sp>
      <p:sp>
        <p:nvSpPr>
          <p:cNvPr id="47107" name="Content Placeholder 2">
            <a:extLst>
              <a:ext uri="{FF2B5EF4-FFF2-40B4-BE49-F238E27FC236}">
                <a16:creationId xmlns:a16="http://schemas.microsoft.com/office/drawing/2014/main" id="{87658750-1B99-436D-A25B-034F64143EFB}"/>
              </a:ext>
            </a:extLst>
          </p:cNvPr>
          <p:cNvSpPr>
            <a:spLocks noGrp="1"/>
          </p:cNvSpPr>
          <p:nvPr>
            <p:ph idx="1"/>
          </p:nvPr>
        </p:nvSpPr>
        <p:spPr>
          <a:xfrm>
            <a:off x="628650" y="838200"/>
            <a:ext cx="7886700" cy="5638800"/>
          </a:xfrm>
        </p:spPr>
        <p:txBody>
          <a:bodyPr/>
          <a:lstStyle/>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It is always legal in PL/SQL programming to nest the </a:t>
            </a:r>
            <a:r>
              <a:rPr lang="en-US" altLang="en-US" sz="1800" b="1">
                <a:latin typeface="Verdana" panose="020B0604030504040204" pitchFamily="34" charset="0"/>
                <a:ea typeface="Verdana" panose="020B0604030504040204" pitchFamily="34" charset="0"/>
                <a:cs typeface="Verdana" panose="020B0604030504040204" pitchFamily="34" charset="0"/>
              </a:rPr>
              <a:t>IF-ELSE</a:t>
            </a:r>
            <a:r>
              <a:rPr lang="en-US" altLang="en-US" sz="1800">
                <a:latin typeface="Verdana" panose="020B0604030504040204" pitchFamily="34" charset="0"/>
                <a:ea typeface="Verdana" panose="020B0604030504040204" pitchFamily="34" charset="0"/>
                <a:cs typeface="Verdana" panose="020B0604030504040204" pitchFamily="34" charset="0"/>
              </a:rPr>
              <a:t> statements, which means you can use one </a:t>
            </a:r>
            <a:r>
              <a:rPr lang="en-US" altLang="en-US" sz="1800" b="1">
                <a:latin typeface="Verdana" panose="020B0604030504040204" pitchFamily="34" charset="0"/>
                <a:ea typeface="Verdana" panose="020B0604030504040204" pitchFamily="34" charset="0"/>
                <a:cs typeface="Verdana" panose="020B0604030504040204" pitchFamily="34" charset="0"/>
              </a:rPr>
              <a:t>IF</a:t>
            </a:r>
            <a:r>
              <a:rPr lang="en-US" altLang="en-US" sz="1800">
                <a:latin typeface="Verdana" panose="020B0604030504040204" pitchFamily="34" charset="0"/>
                <a:ea typeface="Verdana" panose="020B0604030504040204" pitchFamily="34" charset="0"/>
                <a:cs typeface="Verdana" panose="020B0604030504040204" pitchFamily="34" charset="0"/>
              </a:rPr>
              <a:t> or </a:t>
            </a:r>
            <a:r>
              <a:rPr lang="en-US" altLang="en-US" sz="1800" b="1">
                <a:latin typeface="Verdana" panose="020B0604030504040204" pitchFamily="34" charset="0"/>
                <a:ea typeface="Verdana" panose="020B0604030504040204" pitchFamily="34" charset="0"/>
                <a:cs typeface="Verdana" panose="020B0604030504040204" pitchFamily="34" charset="0"/>
              </a:rPr>
              <a:t>ELSE IF</a:t>
            </a:r>
            <a:r>
              <a:rPr lang="en-US" altLang="en-US" sz="1800">
                <a:latin typeface="Verdana" panose="020B0604030504040204" pitchFamily="34" charset="0"/>
                <a:ea typeface="Verdana" panose="020B0604030504040204" pitchFamily="34" charset="0"/>
                <a:cs typeface="Verdana" panose="020B0604030504040204" pitchFamily="34" charset="0"/>
              </a:rPr>
              <a:t> statement inside another </a:t>
            </a:r>
            <a:r>
              <a:rPr lang="en-US" altLang="en-US" sz="1800" b="1">
                <a:latin typeface="Verdana" panose="020B0604030504040204" pitchFamily="34" charset="0"/>
                <a:ea typeface="Verdana" panose="020B0604030504040204" pitchFamily="34" charset="0"/>
                <a:cs typeface="Verdana" panose="020B0604030504040204" pitchFamily="34" charset="0"/>
              </a:rPr>
              <a:t>IF</a:t>
            </a:r>
            <a:r>
              <a:rPr lang="en-US" altLang="en-US" sz="1800">
                <a:latin typeface="Verdana" panose="020B0604030504040204" pitchFamily="34" charset="0"/>
                <a:ea typeface="Verdana" panose="020B0604030504040204" pitchFamily="34" charset="0"/>
                <a:cs typeface="Verdana" panose="020B0604030504040204" pitchFamily="34" charset="0"/>
              </a:rPr>
              <a:t> or </a:t>
            </a:r>
            <a:r>
              <a:rPr lang="en-US" altLang="en-US" sz="1800" b="1">
                <a:latin typeface="Verdana" panose="020B0604030504040204" pitchFamily="34" charset="0"/>
                <a:ea typeface="Verdana" panose="020B0604030504040204" pitchFamily="34" charset="0"/>
                <a:cs typeface="Verdana" panose="020B0604030504040204" pitchFamily="34" charset="0"/>
              </a:rPr>
              <a:t>ELSE IF</a:t>
            </a:r>
            <a:r>
              <a:rPr lang="en-US" altLang="en-US" sz="1800">
                <a:latin typeface="Verdana" panose="020B0604030504040204" pitchFamily="34" charset="0"/>
                <a:ea typeface="Verdana" panose="020B0604030504040204" pitchFamily="34" charset="0"/>
                <a:cs typeface="Verdana" panose="020B0604030504040204" pitchFamily="34" charset="0"/>
              </a:rPr>
              <a:t> statement(s).</a:t>
            </a:r>
          </a:p>
          <a:p>
            <a:pPr marL="0" indent="0" eaLnBrk="1" hangingPunct="1">
              <a:buFont typeface="Arial"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PROGRAM:</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DECLARE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 number(3) := 100;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b number(3) := 200;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BEGIN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 check the boolean condition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IF( a = 100 ) THEN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 if condition is true then check the following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IF( b = 200 ) THEN </a:t>
            </a:r>
          </a:p>
          <a:p>
            <a:pPr marL="0" indent="0" eaLnBrk="1" hangingPunct="1">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      -- if condition is true then print the following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dbms_output.put_line('Value of a is 100 and b is 200' );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END IF;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END IF; </a:t>
            </a:r>
          </a:p>
          <a:p>
            <a:pPr marL="0" indent="0" eaLnBrk="1" hangingPunct="1">
              <a:buFont typeface="Arial" panose="020B0604020202020204" pitchFamily="34" charset="0"/>
              <a:buNone/>
            </a:pPr>
            <a:endParaRPr lang="en-US" altLang="en-US">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955D0A4F-911C-41B3-AED4-7B9142C39CB3}"/>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2">
            <a:extLst>
              <a:ext uri="{FF2B5EF4-FFF2-40B4-BE49-F238E27FC236}">
                <a16:creationId xmlns:a16="http://schemas.microsoft.com/office/drawing/2014/main" id="{6AB10946-F0E6-41AE-8AFF-9C88D9B0833F}"/>
              </a:ext>
            </a:extLst>
          </p:cNvPr>
          <p:cNvSpPr>
            <a:spLocks noGrp="1"/>
          </p:cNvSpPr>
          <p:nvPr>
            <p:ph idx="1"/>
          </p:nvPr>
        </p:nvSpPr>
        <p:spPr>
          <a:xfrm>
            <a:off x="628650" y="228600"/>
            <a:ext cx="7886700" cy="5948363"/>
          </a:xfrm>
        </p:spPr>
        <p:txBody>
          <a:bodyPr/>
          <a:lstStyle/>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dbms_output.put_line('Exact value of a is : ' || a );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dbms_output.put_line('Exact value of b is : ' || b );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END;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OUTPUT:</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Value of a is 100 and b is 200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Exact value of a is : 100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Exact value of b is : 200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PL/SQL procedure successfully completed. </a:t>
            </a:r>
          </a:p>
          <a:p>
            <a:pPr marL="0" indent="0" eaLnBrk="1" hangingPunct="1">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40B91BA2-1F67-4C3D-A6EB-47D8E657BBCB}"/>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B89C479B-4CEC-4F1C-B28C-8C0D3869144A}"/>
              </a:ext>
            </a:extLst>
          </p:cNvPr>
          <p:cNvSpPr>
            <a:spLocks noGrp="1"/>
          </p:cNvSpPr>
          <p:nvPr>
            <p:ph type="title"/>
          </p:nvPr>
        </p:nvSpPr>
        <p:spPr>
          <a:xfrm>
            <a:off x="628650" y="365125"/>
            <a:ext cx="7886700" cy="473075"/>
          </a:xfrm>
        </p:spPr>
        <p:txBody>
          <a:bodyPr/>
          <a:lstStyle/>
          <a:p>
            <a:pPr eaLnBrk="1" hangingPunct="1"/>
            <a:r>
              <a:rPr lang="en-US" altLang="en-US" sz="2000" u="sng">
                <a:latin typeface="Verdana" panose="020B0604030504040204" pitchFamily="34" charset="0"/>
                <a:ea typeface="Verdana" panose="020B0604030504040204" pitchFamily="34" charset="0"/>
                <a:cs typeface="Verdana" panose="020B0604030504040204" pitchFamily="34" charset="0"/>
              </a:rPr>
              <a:t>CASE STATEMENT:</a:t>
            </a:r>
          </a:p>
        </p:txBody>
      </p:sp>
      <p:sp>
        <p:nvSpPr>
          <p:cNvPr id="3" name="Content Placeholder 2">
            <a:extLst>
              <a:ext uri="{FF2B5EF4-FFF2-40B4-BE49-F238E27FC236}">
                <a16:creationId xmlns:a16="http://schemas.microsoft.com/office/drawing/2014/main" id="{285FD234-2B34-4337-97FF-5E61CB0E1F16}"/>
              </a:ext>
            </a:extLst>
          </p:cNvPr>
          <p:cNvSpPr>
            <a:spLocks noGrp="1"/>
          </p:cNvSpPr>
          <p:nvPr>
            <p:ph idx="1"/>
          </p:nvPr>
        </p:nvSpPr>
        <p:spPr>
          <a:xfrm>
            <a:off x="628650" y="838200"/>
            <a:ext cx="7886700" cy="5338763"/>
          </a:xfrm>
        </p:spPr>
        <p:txBody>
          <a:bodyPr rtlCol="0">
            <a:normAutofit/>
          </a:bodyPr>
          <a:lstStyle/>
          <a:p>
            <a:pPr marL="342900" indent="-342900" eaLnBrk="1" fontAlgn="auto" hangingPunct="1">
              <a:spcAft>
                <a:spcPts val="0"/>
              </a:spcAft>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Like the </a:t>
            </a:r>
            <a:r>
              <a:rPr lang="en-US" sz="1800" b="1" dirty="0">
                <a:latin typeface="Verdana" panose="020B0604030504040204" pitchFamily="34" charset="0"/>
                <a:ea typeface="Verdana" panose="020B0604030504040204" pitchFamily="34" charset="0"/>
                <a:cs typeface="Verdana" panose="020B0604030504040204" pitchFamily="34" charset="0"/>
              </a:rPr>
              <a:t>IF</a:t>
            </a:r>
            <a:r>
              <a:rPr lang="en-US" sz="1800" dirty="0">
                <a:latin typeface="Verdana" panose="020B0604030504040204" pitchFamily="34" charset="0"/>
                <a:ea typeface="Verdana" panose="020B0604030504040204" pitchFamily="34" charset="0"/>
                <a:cs typeface="Verdana" panose="020B0604030504040204" pitchFamily="34" charset="0"/>
              </a:rPr>
              <a:t> statement, the </a:t>
            </a:r>
            <a:r>
              <a:rPr lang="en-US" sz="1800" b="1" dirty="0">
                <a:latin typeface="Verdana" panose="020B0604030504040204" pitchFamily="34" charset="0"/>
                <a:ea typeface="Verdana" panose="020B0604030504040204" pitchFamily="34" charset="0"/>
                <a:cs typeface="Verdana" panose="020B0604030504040204" pitchFamily="34" charset="0"/>
              </a:rPr>
              <a:t>CASE statement</a:t>
            </a:r>
            <a:r>
              <a:rPr lang="en-US" sz="1800" dirty="0">
                <a:latin typeface="Verdana" panose="020B0604030504040204" pitchFamily="34" charset="0"/>
                <a:ea typeface="Verdana" panose="020B0604030504040204" pitchFamily="34" charset="0"/>
                <a:cs typeface="Verdana" panose="020B0604030504040204" pitchFamily="34" charset="0"/>
              </a:rPr>
              <a:t> selects one sequence of statements to execute. </a:t>
            </a:r>
          </a:p>
          <a:p>
            <a:pPr marL="342900" indent="-342900" eaLnBrk="1" fontAlgn="auto" hangingPunct="1">
              <a:spcAft>
                <a:spcPts val="0"/>
              </a:spcAft>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However, to select the sequence, the </a:t>
            </a:r>
            <a:r>
              <a:rPr lang="en-US" sz="1800" b="1" dirty="0">
                <a:latin typeface="Verdana" panose="020B0604030504040204" pitchFamily="34" charset="0"/>
                <a:ea typeface="Verdana" panose="020B0604030504040204" pitchFamily="34" charset="0"/>
                <a:cs typeface="Verdana" panose="020B0604030504040204" pitchFamily="34" charset="0"/>
              </a:rPr>
              <a:t>CASE</a:t>
            </a:r>
            <a:r>
              <a:rPr lang="en-US" sz="1800" dirty="0">
                <a:latin typeface="Verdana" panose="020B0604030504040204" pitchFamily="34" charset="0"/>
                <a:ea typeface="Verdana" panose="020B0604030504040204" pitchFamily="34" charset="0"/>
                <a:cs typeface="Verdana" panose="020B0604030504040204" pitchFamily="34" charset="0"/>
              </a:rPr>
              <a:t> statement uses a selector rather than multiple Boolean expressions.</a:t>
            </a:r>
          </a:p>
          <a:p>
            <a:pPr marL="342900" indent="-342900" eaLnBrk="1" fontAlgn="auto" hangingPunct="1">
              <a:spcAft>
                <a:spcPts val="0"/>
              </a:spcAft>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 A selector is an expression, the value of which is used to select one of several alternatives.</a:t>
            </a:r>
          </a:p>
          <a:p>
            <a:pPr marL="0" indent="0" eaLnBrk="1" fontAlgn="auto" hangingPunct="1">
              <a:spcAft>
                <a:spcPts val="0"/>
              </a:spcAft>
              <a:buFont typeface="Arial" panose="020B0604020202020204" pitchFamily="34" charset="0"/>
              <a:buNone/>
              <a:defRPr/>
            </a:pPr>
            <a:r>
              <a:rPr lang="en-US" dirty="0"/>
              <a:t>EXAMPLE:</a:t>
            </a:r>
          </a:p>
        </p:txBody>
      </p:sp>
      <p:sp>
        <p:nvSpPr>
          <p:cNvPr id="4" name="Date Placeholder 3">
            <a:extLst>
              <a:ext uri="{FF2B5EF4-FFF2-40B4-BE49-F238E27FC236}">
                <a16:creationId xmlns:a16="http://schemas.microsoft.com/office/drawing/2014/main" id="{BF3F15CA-0847-42C0-84A0-A358B7B710E9}"/>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B5C3A1-65B9-42E7-ADC3-F00518C25817}"/>
              </a:ext>
            </a:extLst>
          </p:cNvPr>
          <p:cNvSpPr>
            <a:spLocks noGrp="1"/>
          </p:cNvSpPr>
          <p:nvPr>
            <p:ph idx="1"/>
          </p:nvPr>
        </p:nvSpPr>
        <p:spPr>
          <a:xfrm>
            <a:off x="304800" y="228600"/>
            <a:ext cx="7886700" cy="5872163"/>
          </a:xfrm>
        </p:spPr>
        <p:txBody>
          <a:bodyPr rtlCol="0">
            <a:normAutofit lnSpcReduction="10000"/>
          </a:bodyPr>
          <a:lstStyle/>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DECLARE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grade char(1) := 'A';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BEGIN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CASE grade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when 'A' then dbms_output.put_line('Excellent');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when 'B' then dbms_output.put_line('Very good');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when 'C' then dbms_output.put_line('Well done');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when 'D' then dbms_output.put_line('You passed');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when 'F' then dbms_output.put_line('Better try again');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else dbms_output.put_line('No such grade');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END CASE;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END;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a:t>
            </a:r>
          </a:p>
          <a:p>
            <a:pPr marL="0" indent="0" eaLnBrk="1" fontAlgn="auto" hangingPunct="1">
              <a:spcAft>
                <a:spcPts val="0"/>
              </a:spcAft>
              <a:buFont typeface="Arial" panose="020B0604020202020204" pitchFamily="34" charset="0"/>
              <a:buNone/>
              <a:defRPr/>
            </a:pPr>
            <a:r>
              <a:rPr lang="en-US" dirty="0"/>
              <a:t>OUTPUT:</a:t>
            </a:r>
          </a:p>
          <a:p>
            <a:pPr marL="0" indent="0" eaLnBrk="1" fontAlgn="auto" hangingPunct="1">
              <a:spcAft>
                <a:spcPts val="0"/>
              </a:spcAft>
              <a:buFont typeface="Arial" panose="020B0604020202020204" pitchFamily="34" charset="0"/>
              <a:buNone/>
              <a:defRPr/>
            </a:pPr>
            <a:r>
              <a:rPr lang="en-US" dirty="0"/>
              <a:t>Excellent  </a:t>
            </a:r>
          </a:p>
          <a:p>
            <a:pPr marL="0" indent="0" eaLnBrk="1" fontAlgn="auto" hangingPunct="1">
              <a:spcAft>
                <a:spcPts val="0"/>
              </a:spcAft>
              <a:buFont typeface="Arial" panose="020B0604020202020204" pitchFamily="34" charset="0"/>
              <a:buNone/>
              <a:defRPr/>
            </a:pPr>
            <a:r>
              <a:rPr lang="en-US" dirty="0"/>
              <a:t> </a:t>
            </a:r>
          </a:p>
          <a:p>
            <a:pPr marL="0" indent="0" eaLnBrk="1" fontAlgn="auto" hangingPunct="1">
              <a:spcAft>
                <a:spcPts val="0"/>
              </a:spcAft>
              <a:buFont typeface="Arial" panose="020B0604020202020204" pitchFamily="34" charset="0"/>
              <a:buNone/>
              <a:defRPr/>
            </a:pPr>
            <a:r>
              <a:rPr lang="en-US" dirty="0"/>
              <a:t>PL/SQL procedure successfully completed. </a:t>
            </a:r>
          </a:p>
          <a:p>
            <a:pPr marL="0" indent="0" eaLnBrk="1" fontAlgn="auto" hangingPunct="1">
              <a:spcAft>
                <a:spcPts val="0"/>
              </a:spcAft>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017448F4-0A0A-4218-98B4-BA00FDB06BE3}"/>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FB4C6D80-2A2D-4BC7-A82F-A8BE2C288761}"/>
              </a:ext>
            </a:extLst>
          </p:cNvPr>
          <p:cNvSpPr>
            <a:spLocks noGrp="1"/>
          </p:cNvSpPr>
          <p:nvPr>
            <p:ph type="title"/>
          </p:nvPr>
        </p:nvSpPr>
        <p:spPr>
          <a:xfrm>
            <a:off x="628650" y="152400"/>
            <a:ext cx="7886700" cy="457200"/>
          </a:xfrm>
        </p:spPr>
        <p:txBody>
          <a:bodyPr/>
          <a:lstStyle/>
          <a:p>
            <a:pPr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PL/SQL – LOOPS:</a:t>
            </a:r>
          </a:p>
        </p:txBody>
      </p:sp>
      <p:sp>
        <p:nvSpPr>
          <p:cNvPr id="3" name="Content Placeholder 2">
            <a:extLst>
              <a:ext uri="{FF2B5EF4-FFF2-40B4-BE49-F238E27FC236}">
                <a16:creationId xmlns:a16="http://schemas.microsoft.com/office/drawing/2014/main" id="{2BE652D6-80BC-44D9-862E-AEA7F4EA142E}"/>
              </a:ext>
            </a:extLst>
          </p:cNvPr>
          <p:cNvSpPr>
            <a:spLocks noGrp="1"/>
          </p:cNvSpPr>
          <p:nvPr>
            <p:ph idx="1"/>
          </p:nvPr>
        </p:nvSpPr>
        <p:spPr>
          <a:xfrm>
            <a:off x="457200" y="650875"/>
            <a:ext cx="7886700" cy="5491163"/>
          </a:xfrm>
        </p:spPr>
        <p:txBody>
          <a:bodyPr rtlCol="0">
            <a:normAutofit/>
          </a:bodyPr>
          <a:lstStyle/>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The PL/SQL loops are used to repeat the execution of one or more statements for specified number of times. These are also known as iterative control statements.</a:t>
            </a:r>
          </a:p>
          <a:p>
            <a:pPr marL="0" indent="0" eaLnBrk="1" fontAlgn="auto" hangingPunct="1">
              <a:spcAft>
                <a:spcPts val="0"/>
              </a:spcAft>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Syntax for a basic loop:</a:t>
            </a: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LOOP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Sequence</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of</a:t>
            </a:r>
            <a:r>
              <a:rPr lang="en-US" sz="1800" dirty="0">
                <a:latin typeface="Verdana" panose="020B0604030504040204" pitchFamily="34" charset="0"/>
                <a:ea typeface="Verdana" panose="020B0604030504040204" pitchFamily="34" charset="0"/>
                <a:cs typeface="Verdana" panose="020B0604030504040204" pitchFamily="34" charset="0"/>
              </a:rPr>
              <a:t> statements;  </a:t>
            </a:r>
          </a:p>
          <a:p>
            <a:pPr marL="0" indent="0" eaLnBrk="1" fontAlgn="auto" hangingPunct="1">
              <a:spcAft>
                <a:spcPts val="0"/>
              </a:spcAft>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END</a:t>
            </a:r>
            <a:r>
              <a:rPr lang="en-US" sz="1800" dirty="0">
                <a:latin typeface="Verdana" panose="020B0604030504040204" pitchFamily="34" charset="0"/>
                <a:ea typeface="Verdana" panose="020B0604030504040204" pitchFamily="34" charset="0"/>
                <a:cs typeface="Verdana" panose="020B0604030504040204" pitchFamily="34" charset="0"/>
              </a:rPr>
              <a:t> LOOP;  </a:t>
            </a:r>
          </a:p>
          <a:p>
            <a:pPr marL="0" indent="0" eaLnBrk="1" fontAlgn="auto" hangingPunct="1">
              <a:spcAft>
                <a:spcPts val="0"/>
              </a:spcAft>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Types of PL/SQL Loops</a:t>
            </a: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There are 4 types of PL/SQL Loops.</a:t>
            </a:r>
          </a:p>
          <a:p>
            <a:pPr marL="342900" indent="-342900" eaLnBrk="1" fontAlgn="auto" hangingPunct="1">
              <a:spcAft>
                <a:spcPts val="0"/>
              </a:spcAft>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Basic Loop / Exit Loop</a:t>
            </a:r>
          </a:p>
          <a:p>
            <a:pPr marL="342900" indent="-342900" eaLnBrk="1" fontAlgn="auto" hangingPunct="1">
              <a:spcAft>
                <a:spcPts val="0"/>
              </a:spcAft>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While Loop</a:t>
            </a:r>
          </a:p>
          <a:p>
            <a:pPr marL="342900" indent="-342900" eaLnBrk="1" fontAlgn="auto" hangingPunct="1">
              <a:spcAft>
                <a:spcPts val="0"/>
              </a:spcAft>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For Loop</a:t>
            </a:r>
          </a:p>
          <a:p>
            <a:pPr marL="342900" indent="-342900" eaLnBrk="1" fontAlgn="auto" hangingPunct="1">
              <a:spcAft>
                <a:spcPts val="0"/>
              </a:spcAft>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Cursor For Loop  </a:t>
            </a:r>
          </a:p>
          <a:p>
            <a:pPr marL="0" indent="0" eaLnBrk="1" fontAlgn="auto" hangingPunct="1">
              <a:spcAft>
                <a:spcPts val="0"/>
              </a:spcAft>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A7DB2EF0-E2B6-4B8C-B1ED-22E25EBF4B00}"/>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E6486-70CC-4B23-92B3-8D08A093E8FC}"/>
              </a:ext>
            </a:extLst>
          </p:cNvPr>
          <p:cNvSpPr>
            <a:spLocks noGrp="1"/>
          </p:cNvSpPr>
          <p:nvPr>
            <p:ph type="title"/>
          </p:nvPr>
        </p:nvSpPr>
        <p:spPr>
          <a:xfrm>
            <a:off x="628650" y="76200"/>
            <a:ext cx="7886700" cy="609600"/>
          </a:xfrm>
        </p:spPr>
        <p:txBody>
          <a:bodyPr rtlCol="0">
            <a:normAutofit fontScale="90000"/>
          </a:bodyPr>
          <a:lstStyle/>
          <a:p>
            <a:pPr eaLnBrk="1" fontAlgn="auto" hangingPunct="1">
              <a:spcAft>
                <a:spcPts val="0"/>
              </a:spcAft>
              <a:defRPr/>
            </a:pPr>
            <a:br>
              <a:rPr lang="en-US" b="1" u="sng" dirty="0"/>
            </a:br>
            <a:r>
              <a:rPr lang="en-US" sz="2200" b="1" u="sng" dirty="0">
                <a:latin typeface="Verdana" panose="020B0604030504040204" pitchFamily="34" charset="0"/>
                <a:ea typeface="Verdana" panose="020B0604030504040204" pitchFamily="34" charset="0"/>
                <a:cs typeface="Verdana" panose="020B0604030504040204" pitchFamily="34" charset="0"/>
              </a:rPr>
              <a:t>PL/SQL Exit Loop (Basic Loop)</a:t>
            </a:r>
            <a:br>
              <a:rPr lang="en-US" sz="2200" b="1" dirty="0">
                <a:latin typeface="Verdana" panose="020B0604030504040204" pitchFamily="34" charset="0"/>
                <a:ea typeface="Verdana" panose="020B0604030504040204" pitchFamily="34" charset="0"/>
                <a:cs typeface="Verdana" panose="020B0604030504040204" pitchFamily="34" charset="0"/>
              </a:rPr>
            </a:br>
            <a:endParaRPr lang="en-US" sz="2200" dirty="0">
              <a:latin typeface="Verdana" panose="020B0604030504040204" pitchFamily="34" charset="0"/>
              <a:ea typeface="Verdana" panose="020B0604030504040204" pitchFamily="34" charset="0"/>
              <a:cs typeface="Verdana" panose="020B0604030504040204" pitchFamily="34" charset="0"/>
            </a:endParaRPr>
          </a:p>
        </p:txBody>
      </p:sp>
      <p:sp>
        <p:nvSpPr>
          <p:cNvPr id="52227" name="Content Placeholder 2">
            <a:extLst>
              <a:ext uri="{FF2B5EF4-FFF2-40B4-BE49-F238E27FC236}">
                <a16:creationId xmlns:a16="http://schemas.microsoft.com/office/drawing/2014/main" id="{03C53277-2A62-4A71-8804-EB5306860283}"/>
              </a:ext>
            </a:extLst>
          </p:cNvPr>
          <p:cNvSpPr>
            <a:spLocks noGrp="1"/>
          </p:cNvSpPr>
          <p:nvPr>
            <p:ph idx="1"/>
          </p:nvPr>
        </p:nvSpPr>
        <p:spPr>
          <a:xfrm>
            <a:off x="628650" y="685800"/>
            <a:ext cx="7886700" cy="5491163"/>
          </a:xfrm>
        </p:spPr>
        <p:txBody>
          <a:bodyPr/>
          <a:lstStyle/>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PL/SQL exit loop is used when a set of statements is to be executed at least once before the termination of the loop.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There must be an EXIT condition specified in the loop, otherwise the loop will get into an </a:t>
            </a:r>
            <a:r>
              <a:rPr lang="en-US" altLang="en-US" sz="1800" b="1">
                <a:latin typeface="Verdana" panose="020B0604030504040204" pitchFamily="34" charset="0"/>
                <a:ea typeface="Verdana" panose="020B0604030504040204" pitchFamily="34" charset="0"/>
                <a:cs typeface="Verdana" panose="020B0604030504040204" pitchFamily="34" charset="0"/>
              </a:rPr>
              <a:t>infinite number of iterations</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After the occurrence of EXIT condition, the process exits the loop.</a:t>
            </a:r>
          </a:p>
          <a:p>
            <a:pPr marL="0" indent="0" eaLnBrk="1" hangingPunct="1">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PROGRAM:</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DECLARE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 NUMBER := 1;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BEGIN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LOOP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EXIT WHEN i&gt;10;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DBMS_OUTPUT.PUT_LINE(i);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 := i+1;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END LOOP;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END;  </a:t>
            </a:r>
          </a:p>
          <a:p>
            <a:pPr marL="0" indent="0" eaLnBrk="1" hangingPunct="1">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336296CB-E188-4EA7-ACF3-52F46DD927CA}"/>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ntent Placeholder 2">
            <a:extLst>
              <a:ext uri="{FF2B5EF4-FFF2-40B4-BE49-F238E27FC236}">
                <a16:creationId xmlns:a16="http://schemas.microsoft.com/office/drawing/2014/main" id="{D2BB88BA-51D3-4D8C-B4CA-1D1C8827FA68}"/>
              </a:ext>
            </a:extLst>
          </p:cNvPr>
          <p:cNvSpPr>
            <a:spLocks noGrp="1"/>
          </p:cNvSpPr>
          <p:nvPr>
            <p:ph idx="1"/>
          </p:nvPr>
        </p:nvSpPr>
        <p:spPr>
          <a:xfrm>
            <a:off x="457200" y="152400"/>
            <a:ext cx="8058150" cy="6203950"/>
          </a:xfrm>
        </p:spPr>
        <p:txBody>
          <a:bodyPr/>
          <a:lstStyle/>
          <a:p>
            <a:pPr marL="0" indent="0" eaLnBrk="1" hangingPunct="1">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PROGRAM 2:</a:t>
            </a:r>
          </a:p>
          <a:p>
            <a:pPr marL="0" indent="0" eaLnBrk="1" hangingPunct="1">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DECLARE</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VAR1 NUMBER;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VAR2 NUMBER;  </a:t>
            </a:r>
          </a:p>
          <a:p>
            <a:pPr marL="0" indent="0" eaLnBrk="1" hangingPunct="1">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BEGIN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VAR1:=100;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VAR2:=1;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LOOP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DBMS_OUTPUT.PUT_LINE (VAR1*VAR2);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IF (VAR2=10) </a:t>
            </a:r>
            <a:r>
              <a:rPr lang="en-US" altLang="en-US" sz="1800" b="1">
                <a:latin typeface="Verdana" panose="020B0604030504040204" pitchFamily="34" charset="0"/>
                <a:ea typeface="Verdana" panose="020B0604030504040204" pitchFamily="34" charset="0"/>
                <a:cs typeface="Verdana" panose="020B0604030504040204" pitchFamily="34" charset="0"/>
              </a:rPr>
              <a:t>THEN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EXIT;  </a:t>
            </a:r>
          </a:p>
          <a:p>
            <a:pPr marL="0" indent="0" eaLnBrk="1" hangingPunct="1">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sz="1800">
                <a:latin typeface="Verdana" panose="020B0604030504040204" pitchFamily="34" charset="0"/>
                <a:ea typeface="Verdana" panose="020B0604030504040204" pitchFamily="34" charset="0"/>
                <a:cs typeface="Verdana" panose="020B0604030504040204" pitchFamily="34" charset="0"/>
              </a:rPr>
              <a:t> IF;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VAR2:=VAR2+1;  </a:t>
            </a:r>
          </a:p>
          <a:p>
            <a:pPr marL="0" indent="0" eaLnBrk="1" hangingPunct="1">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sz="1800">
                <a:latin typeface="Verdana" panose="020B0604030504040204" pitchFamily="34" charset="0"/>
                <a:ea typeface="Verdana" panose="020B0604030504040204" pitchFamily="34" charset="0"/>
                <a:cs typeface="Verdana" panose="020B0604030504040204" pitchFamily="34" charset="0"/>
              </a:rPr>
              <a:t> LOOP;  </a:t>
            </a:r>
          </a:p>
          <a:p>
            <a:pPr marL="0" indent="0" eaLnBrk="1" hangingPunct="1">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23C00FB7-21D2-4085-A34E-5D72D9F9172E}"/>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AD1E8503-7DD5-4B83-9AE8-D04FA374C6BF}"/>
              </a:ext>
            </a:extLst>
          </p:cNvPr>
          <p:cNvSpPr>
            <a:spLocks noGrp="1"/>
          </p:cNvSpPr>
          <p:nvPr>
            <p:ph type="title"/>
          </p:nvPr>
        </p:nvSpPr>
        <p:spPr>
          <a:xfrm>
            <a:off x="628650" y="152400"/>
            <a:ext cx="7886700" cy="533400"/>
          </a:xfrm>
        </p:spPr>
        <p:txBody>
          <a:bodyPr/>
          <a:lstStyle/>
          <a:p>
            <a:pPr eaLnBrk="1" hangingPunct="1"/>
            <a:r>
              <a:rPr lang="en-US" altLang="en-US" sz="1800" b="1">
                <a:latin typeface="Verdana" panose="020B0604030504040204" pitchFamily="34" charset="0"/>
                <a:ea typeface="Verdana" panose="020B0604030504040204" pitchFamily="34" charset="0"/>
                <a:cs typeface="Verdana" panose="020B0604030504040204" pitchFamily="34" charset="0"/>
              </a:rPr>
              <a:t>2. PL/SQL While Loop:</a:t>
            </a:r>
          </a:p>
        </p:txBody>
      </p:sp>
      <p:sp>
        <p:nvSpPr>
          <p:cNvPr id="3" name="Content Placeholder 2">
            <a:extLst>
              <a:ext uri="{FF2B5EF4-FFF2-40B4-BE49-F238E27FC236}">
                <a16:creationId xmlns:a16="http://schemas.microsoft.com/office/drawing/2014/main" id="{741C86E8-0305-4A02-9BEC-F33588EC6C19}"/>
              </a:ext>
            </a:extLst>
          </p:cNvPr>
          <p:cNvSpPr>
            <a:spLocks noGrp="1"/>
          </p:cNvSpPr>
          <p:nvPr>
            <p:ph idx="1"/>
          </p:nvPr>
        </p:nvSpPr>
        <p:spPr>
          <a:xfrm>
            <a:off x="628650" y="685800"/>
            <a:ext cx="7886700" cy="5491163"/>
          </a:xfrm>
        </p:spPr>
        <p:txBody>
          <a:bodyPr rtlCol="0">
            <a:normAutofit/>
          </a:bodyPr>
          <a:lstStyle/>
          <a:p>
            <a:pPr eaLnBrk="1" fontAlgn="auto" hangingPunct="1">
              <a:spcAft>
                <a:spcPts val="0"/>
              </a:spcAft>
              <a:defRPr/>
            </a:pPr>
            <a:r>
              <a:rPr lang="en-US" sz="1800" dirty="0">
                <a:latin typeface="Verdana" panose="020B0604030504040204" pitchFamily="34" charset="0"/>
                <a:ea typeface="Verdana" panose="020B0604030504040204" pitchFamily="34" charset="0"/>
                <a:cs typeface="Verdana" panose="020B0604030504040204" pitchFamily="34" charset="0"/>
              </a:rPr>
              <a:t>PL/SQL while loop is used when a set of statements has to be executed as long as a condition is true, the While loop is used. The condition is decided at the beginning of each iteration and continues until the condition becomes false.</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Let's see a simple example of PL/SQL WHILE loop.</a:t>
            </a:r>
          </a:p>
          <a:p>
            <a:pPr marL="0" indent="0" eaLnBrk="1" fontAlgn="auto" hangingPunct="1">
              <a:spcAft>
                <a:spcPts val="0"/>
              </a:spcAft>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DECLARE</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fontAlgn="auto" hangingPunct="1">
              <a:spcAft>
                <a:spcPts val="0"/>
              </a:spcAft>
              <a:buFont typeface="Arial" panose="020B0604020202020204" pitchFamily="34" charset="0"/>
              <a:buNone/>
              <a:defRPr/>
            </a:pPr>
            <a:r>
              <a:rPr lang="en-US" sz="1800" dirty="0" err="1">
                <a:latin typeface="Verdana" panose="020B0604030504040204" pitchFamily="34" charset="0"/>
                <a:ea typeface="Verdana" panose="020B0604030504040204" pitchFamily="34" charset="0"/>
                <a:cs typeface="Verdana" panose="020B0604030504040204" pitchFamily="34" charset="0"/>
              </a:rPr>
              <a:t>i</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INTEGER</a:t>
            </a:r>
            <a:r>
              <a:rPr lang="en-US" sz="1800" dirty="0">
                <a:latin typeface="Verdana" panose="020B0604030504040204" pitchFamily="34" charset="0"/>
                <a:ea typeface="Verdana" panose="020B0604030504040204" pitchFamily="34" charset="0"/>
                <a:cs typeface="Verdana" panose="020B0604030504040204" pitchFamily="34" charset="0"/>
              </a:rPr>
              <a:t> := 1;  </a:t>
            </a:r>
          </a:p>
          <a:p>
            <a:pPr marL="0" indent="0" eaLnBrk="1" fontAlgn="auto" hangingPunct="1">
              <a:spcAft>
                <a:spcPts val="0"/>
              </a:spcAft>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BEGIN</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WHILE </a:t>
            </a:r>
            <a:r>
              <a:rPr lang="en-US" sz="1800" dirty="0" err="1">
                <a:latin typeface="Verdana" panose="020B0604030504040204" pitchFamily="34" charset="0"/>
                <a:ea typeface="Verdana" panose="020B0604030504040204" pitchFamily="34" charset="0"/>
                <a:cs typeface="Verdana" panose="020B0604030504040204" pitchFamily="34" charset="0"/>
              </a:rPr>
              <a:t>i</a:t>
            </a:r>
            <a:r>
              <a:rPr lang="en-US" sz="1800" dirty="0">
                <a:latin typeface="Verdana" panose="020B0604030504040204" pitchFamily="34" charset="0"/>
                <a:ea typeface="Verdana" panose="020B0604030504040204" pitchFamily="34" charset="0"/>
                <a:cs typeface="Verdana" panose="020B0604030504040204" pitchFamily="34" charset="0"/>
              </a:rPr>
              <a:t> &lt;= 10 LOOP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DBMS_OUTPUT.PUT_LINE(</a:t>
            </a:r>
            <a:r>
              <a:rPr lang="en-US" sz="1800" dirty="0" err="1">
                <a:latin typeface="Verdana" panose="020B0604030504040204" pitchFamily="34" charset="0"/>
                <a:ea typeface="Verdana" panose="020B0604030504040204" pitchFamily="34" charset="0"/>
                <a:cs typeface="Verdana" panose="020B0604030504040204" pitchFamily="34" charset="0"/>
              </a:rPr>
              <a:t>i</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fontAlgn="auto" hangingPunct="1">
              <a:spcAft>
                <a:spcPts val="0"/>
              </a:spcAft>
              <a:buFont typeface="Arial" panose="020B0604020202020204" pitchFamily="34" charset="0"/>
              <a:buNone/>
              <a:defRPr/>
            </a:pPr>
            <a:r>
              <a:rPr lang="en-US" sz="1800" dirty="0" err="1">
                <a:latin typeface="Verdana" panose="020B0604030504040204" pitchFamily="34" charset="0"/>
                <a:ea typeface="Verdana" panose="020B0604030504040204" pitchFamily="34" charset="0"/>
                <a:cs typeface="Verdana" panose="020B0604030504040204" pitchFamily="34" charset="0"/>
              </a:rPr>
              <a:t>i</a:t>
            </a:r>
            <a:r>
              <a:rPr lang="en-US" sz="1800" dirty="0">
                <a:latin typeface="Verdana" panose="020B0604030504040204" pitchFamily="34" charset="0"/>
                <a:ea typeface="Verdana" panose="020B0604030504040204" pitchFamily="34" charset="0"/>
                <a:cs typeface="Verdana" panose="020B0604030504040204" pitchFamily="34" charset="0"/>
              </a:rPr>
              <a:t> := i+1;  </a:t>
            </a:r>
          </a:p>
          <a:p>
            <a:pPr marL="0" indent="0" eaLnBrk="1" fontAlgn="auto" hangingPunct="1">
              <a:spcAft>
                <a:spcPts val="0"/>
              </a:spcAft>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END</a:t>
            </a:r>
            <a:r>
              <a:rPr lang="en-US" sz="1800" dirty="0">
                <a:latin typeface="Verdana" panose="020B0604030504040204" pitchFamily="34" charset="0"/>
                <a:ea typeface="Verdana" panose="020B0604030504040204" pitchFamily="34" charset="0"/>
                <a:cs typeface="Verdana" panose="020B0604030504040204" pitchFamily="34" charset="0"/>
              </a:rPr>
              <a:t> LOOP;  </a:t>
            </a:r>
          </a:p>
          <a:p>
            <a:pPr marL="0" indent="0" eaLnBrk="1" fontAlgn="auto" hangingPunct="1">
              <a:spcAft>
                <a:spcPts val="0"/>
              </a:spcAft>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END</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fontAlgn="auto" hangingPunct="1">
              <a:spcAft>
                <a:spcPts val="0"/>
              </a:spcAft>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3D5AF9D2-9E89-4C6E-9DCD-1972F5BDE4D1}"/>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943817-6975-485A-8AEF-F729159DEE7A}"/>
              </a:ext>
            </a:extLst>
          </p:cNvPr>
          <p:cNvSpPr>
            <a:spLocks noGrp="1"/>
          </p:cNvSpPr>
          <p:nvPr>
            <p:ph idx="1"/>
          </p:nvPr>
        </p:nvSpPr>
        <p:spPr>
          <a:xfrm>
            <a:off x="628650" y="228600"/>
            <a:ext cx="7886700" cy="6127750"/>
          </a:xfrm>
        </p:spPr>
        <p:txBody>
          <a:bodyPr rtlCol="0">
            <a:normAutofit lnSpcReduction="10000"/>
          </a:bodyPr>
          <a:lstStyle/>
          <a:p>
            <a:pPr marL="0" indent="0" eaLnBrk="1" fontAlgn="auto" hangingPunct="1">
              <a:spcAft>
                <a:spcPts val="0"/>
              </a:spcAft>
              <a:buFont typeface="Arial" panose="020B0604020202020204" pitchFamily="34" charset="0"/>
              <a:buNone/>
              <a:defRPr/>
            </a:pPr>
            <a:r>
              <a:rPr lang="en-US" sz="1800" b="1" u="sng" dirty="0">
                <a:latin typeface="Verdana" panose="020B0604030504040204" pitchFamily="34" charset="0"/>
                <a:ea typeface="Verdana" panose="020B0604030504040204" pitchFamily="34" charset="0"/>
                <a:cs typeface="Verdana" panose="020B0604030504040204" pitchFamily="34" charset="0"/>
              </a:rPr>
              <a:t>PL/SQL WHILE Loop Example 2</a:t>
            </a:r>
            <a:endParaRPr lang="en-US" sz="1800" b="1" dirty="0">
              <a:latin typeface="Verdana" panose="020B0604030504040204" pitchFamily="34" charset="0"/>
              <a:ea typeface="Verdana" panose="020B0604030504040204" pitchFamily="34" charset="0"/>
              <a:cs typeface="Verdana" panose="020B0604030504040204" pitchFamily="34" charset="0"/>
            </a:endParaRPr>
          </a:p>
          <a:p>
            <a:pPr marL="0" indent="0" eaLnBrk="1" fontAlgn="auto" hangingPunct="1">
              <a:spcAft>
                <a:spcPts val="0"/>
              </a:spcAft>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DECLARE</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VAR1 NUMBER;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VAR2 NUMBER;  </a:t>
            </a:r>
          </a:p>
          <a:p>
            <a:pPr marL="0" indent="0" eaLnBrk="1" fontAlgn="auto" hangingPunct="1">
              <a:spcAft>
                <a:spcPts val="0"/>
              </a:spcAft>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BEGIN</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VAR1:=200;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VAR2:=1;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WHILE (VAR2&lt;=10)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LOOP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DBMS_OUTPUT.PUT_LINE (VAR1*VAR2);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VAR2:=VAR2+1;  </a:t>
            </a:r>
          </a:p>
          <a:p>
            <a:pPr marL="0" indent="0" eaLnBrk="1" fontAlgn="auto" hangingPunct="1">
              <a:spcAft>
                <a:spcPts val="0"/>
              </a:spcAft>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END</a:t>
            </a:r>
            <a:r>
              <a:rPr lang="en-US" sz="1800" dirty="0">
                <a:latin typeface="Verdana" panose="020B0604030504040204" pitchFamily="34" charset="0"/>
                <a:ea typeface="Verdana" panose="020B0604030504040204" pitchFamily="34" charset="0"/>
                <a:cs typeface="Verdana" panose="020B0604030504040204" pitchFamily="34" charset="0"/>
              </a:rPr>
              <a:t> LOOP;  </a:t>
            </a:r>
          </a:p>
          <a:p>
            <a:pPr marL="0" indent="0" eaLnBrk="1" fontAlgn="auto" hangingPunct="1">
              <a:spcAft>
                <a:spcPts val="0"/>
              </a:spcAft>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END</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fontAlgn="auto" hangingPunct="1">
              <a:spcAft>
                <a:spcPts val="0"/>
              </a:spcAft>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NOTE:</a:t>
            </a:r>
          </a:p>
          <a:p>
            <a:pPr eaLnBrk="1" fontAlgn="auto" hangingPunct="1">
              <a:spcAft>
                <a:spcPts val="0"/>
              </a:spcAft>
              <a:defRPr/>
            </a:pPr>
            <a:r>
              <a:rPr lang="en-US" sz="1800" dirty="0">
                <a:latin typeface="Verdana" panose="020B0604030504040204" pitchFamily="34" charset="0"/>
                <a:ea typeface="Verdana" panose="020B0604030504040204" pitchFamily="34" charset="0"/>
                <a:cs typeface="Verdana" panose="020B0604030504040204" pitchFamily="34" charset="0"/>
              </a:rPr>
              <a:t>Initialize a variable before the loop body.</a:t>
            </a:r>
          </a:p>
          <a:p>
            <a:pPr eaLnBrk="1" fontAlgn="auto" hangingPunct="1">
              <a:spcAft>
                <a:spcPts val="0"/>
              </a:spcAft>
              <a:defRPr/>
            </a:pPr>
            <a:r>
              <a:rPr lang="en-US" sz="1800" dirty="0">
                <a:latin typeface="Verdana" panose="020B0604030504040204" pitchFamily="34" charset="0"/>
                <a:ea typeface="Verdana" panose="020B0604030504040204" pitchFamily="34" charset="0"/>
                <a:cs typeface="Verdana" panose="020B0604030504040204" pitchFamily="34" charset="0"/>
              </a:rPr>
              <a:t>Increment the variable in the loop.</a:t>
            </a:r>
          </a:p>
          <a:p>
            <a:pPr eaLnBrk="1" fontAlgn="auto" hangingPunct="1">
              <a:spcAft>
                <a:spcPts val="0"/>
              </a:spcAft>
              <a:defRPr/>
            </a:pPr>
            <a:r>
              <a:rPr lang="en-US" sz="1800" dirty="0">
                <a:latin typeface="Verdana" panose="020B0604030504040204" pitchFamily="34" charset="0"/>
                <a:ea typeface="Verdana" panose="020B0604030504040204" pitchFamily="34" charset="0"/>
                <a:cs typeface="Verdana" panose="020B0604030504040204" pitchFamily="34" charset="0"/>
              </a:rPr>
              <a:t>You can use EXIT WHEN statements and EXIT statements in While loop but it is not done often.</a:t>
            </a:r>
          </a:p>
          <a:p>
            <a:pPr marL="0" indent="0" eaLnBrk="1" fontAlgn="auto" hangingPunct="1">
              <a:spcAft>
                <a:spcPts val="0"/>
              </a:spcAft>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94AB15E9-F813-44A6-9AA3-3E0CF86B6873}"/>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7AC2BB3B-E675-4CEB-9640-E7EF3C8EF6E7}"/>
              </a:ext>
            </a:extLst>
          </p:cNvPr>
          <p:cNvSpPr>
            <a:spLocks noGrp="1"/>
          </p:cNvSpPr>
          <p:nvPr>
            <p:ph type="title"/>
          </p:nvPr>
        </p:nvSpPr>
        <p:spPr>
          <a:xfrm>
            <a:off x="628650" y="228600"/>
            <a:ext cx="7886700" cy="457200"/>
          </a:xfrm>
        </p:spPr>
        <p:txBody>
          <a:bodyPr/>
          <a:lstStyle/>
          <a:p>
            <a:pPr eaLnBrk="1" hangingPunct="1"/>
            <a:r>
              <a:rPr lang="en-US" altLang="en-US" sz="2000" b="1" u="sng">
                <a:latin typeface="Verdana" panose="020B0604030504040204" pitchFamily="34" charset="0"/>
                <a:ea typeface="Verdana" panose="020B0604030504040204" pitchFamily="34" charset="0"/>
                <a:cs typeface="Verdana" panose="020B0604030504040204" pitchFamily="34" charset="0"/>
              </a:rPr>
              <a:t>3. PL/SQL FOR LOOP</a:t>
            </a:r>
          </a:p>
        </p:txBody>
      </p:sp>
      <p:sp>
        <p:nvSpPr>
          <p:cNvPr id="45059" name="Content Placeholder 2">
            <a:extLst>
              <a:ext uri="{FF2B5EF4-FFF2-40B4-BE49-F238E27FC236}">
                <a16:creationId xmlns:a16="http://schemas.microsoft.com/office/drawing/2014/main" id="{553BA860-42D4-4D40-A979-A24D0C8F50B2}"/>
              </a:ext>
            </a:extLst>
          </p:cNvPr>
          <p:cNvSpPr>
            <a:spLocks noGrp="1"/>
          </p:cNvSpPr>
          <p:nvPr>
            <p:ph idx="1"/>
          </p:nvPr>
        </p:nvSpPr>
        <p:spPr>
          <a:xfrm>
            <a:off x="628650" y="685800"/>
            <a:ext cx="7886700" cy="5670550"/>
          </a:xfrm>
        </p:spPr>
        <p:txBody>
          <a:bodyPr rtlCol="0">
            <a:normAutofit fontScale="92500" lnSpcReduction="10000"/>
          </a:bodyPr>
          <a:lstStyle/>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PL/SQL for loop is used when you want to execute a set of statements for a predetermined number of times.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The loop is iterated between the start and end integer values. The counter is always incremented by 1 and once the counter reaches the value of end integer, the loop ends.</a:t>
            </a:r>
          </a:p>
          <a:p>
            <a:pPr marL="0" indent="0" eaLnBrk="1" hangingPunct="1">
              <a:buFont typeface="Arial" panose="020B0604020202020204" pitchFamily="34" charset="0"/>
              <a:buNone/>
              <a:defRPr/>
            </a:pPr>
            <a:r>
              <a:rPr lang="en-US" altLang="en-US" sz="1800" dirty="0">
                <a:latin typeface="Verdana" panose="020B0604030504040204" pitchFamily="34" charset="0"/>
                <a:ea typeface="Verdana" panose="020B0604030504040204" pitchFamily="34" charset="0"/>
                <a:cs typeface="Verdana" panose="020B0604030504040204" pitchFamily="34" charset="0"/>
              </a:rPr>
              <a:t>EXAMPLE 1:</a:t>
            </a:r>
          </a:p>
          <a:p>
            <a:pPr marL="0" indent="0" eaLnBrk="1" hangingPunct="1">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BEGIN</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FOR</a:t>
            </a:r>
            <a:r>
              <a:rPr lang="en-US" sz="1800" dirty="0">
                <a:latin typeface="Verdana" panose="020B0604030504040204" pitchFamily="34" charset="0"/>
                <a:ea typeface="Verdana" panose="020B0604030504040204" pitchFamily="34" charset="0"/>
                <a:cs typeface="Verdana" panose="020B0604030504040204" pitchFamily="34" charset="0"/>
              </a:rPr>
              <a:t> k IN 1..10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LOOP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note that k was not declared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DBMS_OUTPUT.PUT_LINE(k);  </a:t>
            </a:r>
          </a:p>
          <a:p>
            <a:pPr marL="0" indent="0" eaLnBrk="1" hangingPunct="1">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END</a:t>
            </a:r>
            <a:r>
              <a:rPr lang="en-US" sz="1800" dirty="0">
                <a:latin typeface="Verdana" panose="020B0604030504040204" pitchFamily="34" charset="0"/>
                <a:ea typeface="Verdana" panose="020B0604030504040204" pitchFamily="34" charset="0"/>
                <a:cs typeface="Verdana" panose="020B0604030504040204" pitchFamily="34" charset="0"/>
              </a:rPr>
              <a:t> LOOP;  </a:t>
            </a:r>
          </a:p>
          <a:p>
            <a:pPr marL="0" indent="0" eaLnBrk="1" hangingPunct="1">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END</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NOTE:</a:t>
            </a:r>
          </a:p>
          <a:p>
            <a:pPr marL="342900" indent="-342900" eaLnBrk="1" hangingPunct="1">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You don't need to declare the counter variable explicitly because it is declared implicitly in the declaration section.</a:t>
            </a:r>
          </a:p>
          <a:p>
            <a:pPr marL="342900" indent="-342900" eaLnBrk="1" hangingPunct="1">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The counter variable is incremented by 1 and does not need to be incremented explicitly.</a:t>
            </a:r>
          </a:p>
          <a:p>
            <a:pPr marL="342900" indent="-342900" eaLnBrk="1" hangingPunct="1">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You can use EXIT WHEN statements and EXIT statements in FOR Loops but it is not done often.</a:t>
            </a:r>
          </a:p>
          <a:p>
            <a:pPr marL="0" indent="0" eaLnBrk="1" hangingPunct="1">
              <a:buFont typeface="Arial" panose="020B0604020202020204" pitchFamily="34" charset="0"/>
              <a:buNone/>
              <a:defRPr/>
            </a:pPr>
            <a:endParaRPr lang="en-US" altLang="en-US" sz="1800" dirty="0">
              <a:latin typeface="Verdana" panose="020B0604030504040204" pitchFamily="34" charset="0"/>
              <a:ea typeface="Verdana" panose="020B0604030504040204" pitchFamily="34" charset="0"/>
              <a:cs typeface="Verdana" panose="020B0604030504040204" pitchFamily="34" charset="0"/>
            </a:endParaRPr>
          </a:p>
          <a:p>
            <a:pPr marL="0" indent="0" eaLnBrk="1" hangingPunct="1">
              <a:buFont typeface="Arial" panose="020B0604020202020204" pitchFamily="34" charset="0"/>
              <a:buNone/>
              <a:defRPr/>
            </a:pPr>
            <a:endParaRPr lang="en-US" altLang="en-US" sz="1800" dirty="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D5BEA8B1-831C-4C45-8AC5-213B7CDAF278}"/>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2">
            <a:extLst>
              <a:ext uri="{FF2B5EF4-FFF2-40B4-BE49-F238E27FC236}">
                <a16:creationId xmlns:a16="http://schemas.microsoft.com/office/drawing/2014/main" id="{E5347869-11C2-402E-9967-6FC3F410717C}"/>
              </a:ext>
            </a:extLst>
          </p:cNvPr>
          <p:cNvSpPr>
            <a:spLocks noGrp="1"/>
          </p:cNvSpPr>
          <p:nvPr>
            <p:ph idx="1"/>
          </p:nvPr>
        </p:nvSpPr>
        <p:spPr>
          <a:xfrm>
            <a:off x="628650" y="152400"/>
            <a:ext cx="7886700" cy="6024563"/>
          </a:xfrm>
        </p:spPr>
        <p:txBody>
          <a:bodyPr/>
          <a:lstStyle/>
          <a:p>
            <a:pPr marL="0" indent="0" eaLnBrk="1" hangingPunct="1">
              <a:buFont typeface="Arial" panose="020B0604020202020204" pitchFamily="34" charset="0"/>
              <a:buNone/>
            </a:pPr>
            <a:r>
              <a:rPr lang="en-US" altLang="en-US" sz="2000" b="1">
                <a:latin typeface="Verdana" panose="020B0604030504040204" pitchFamily="34" charset="0"/>
                <a:ea typeface="Verdana" panose="020B0604030504040204" pitchFamily="34" charset="0"/>
                <a:cs typeface="Verdana" panose="020B0604030504040204" pitchFamily="34" charset="0"/>
              </a:rPr>
              <a:t>PL/SQL For Loop Example 2</a:t>
            </a:r>
          </a:p>
          <a:p>
            <a:pPr marL="0" indent="0" eaLnBrk="1" hangingPunct="1">
              <a:buFont typeface="Arial" panose="020B0604020202020204" pitchFamily="34" charset="0"/>
              <a:buNone/>
            </a:pPr>
            <a:endParaRPr lang="da-DK" altLang="en-US" b="1"/>
          </a:p>
          <a:p>
            <a:pPr marL="0" indent="0" eaLnBrk="1" hangingPunct="1">
              <a:buFont typeface="Arial" panose="020B0604020202020204" pitchFamily="34" charset="0"/>
              <a:buNone/>
            </a:pPr>
            <a:r>
              <a:rPr lang="da-DK" altLang="en-US" sz="1800" b="1">
                <a:latin typeface="Verdana" panose="020B0604030504040204" pitchFamily="34" charset="0"/>
                <a:ea typeface="Verdana" panose="020B0604030504040204" pitchFamily="34" charset="0"/>
                <a:cs typeface="Verdana" panose="020B0604030504040204" pitchFamily="34" charset="0"/>
              </a:rPr>
              <a:t>DECLARE</a:t>
            </a:r>
            <a:r>
              <a:rPr lang="da-DK"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r>
              <a:rPr lang="da-DK" altLang="en-US" sz="1800">
                <a:latin typeface="Verdana" panose="020B0604030504040204" pitchFamily="34" charset="0"/>
                <a:ea typeface="Verdana" panose="020B0604030504040204" pitchFamily="34" charset="0"/>
                <a:cs typeface="Verdana" panose="020B0604030504040204" pitchFamily="34" charset="0"/>
              </a:rPr>
              <a:t>VAR1 NUMBER;  </a:t>
            </a:r>
          </a:p>
          <a:p>
            <a:pPr marL="0" indent="0" eaLnBrk="1" hangingPunct="1">
              <a:buFont typeface="Arial" panose="020B0604020202020204" pitchFamily="34" charset="0"/>
              <a:buNone/>
            </a:pPr>
            <a:r>
              <a:rPr lang="da-DK" altLang="en-US" sz="1800" b="1">
                <a:latin typeface="Verdana" panose="020B0604030504040204" pitchFamily="34" charset="0"/>
                <a:ea typeface="Verdana" panose="020B0604030504040204" pitchFamily="34" charset="0"/>
                <a:cs typeface="Verdana" panose="020B0604030504040204" pitchFamily="34" charset="0"/>
              </a:rPr>
              <a:t>BEGIN</a:t>
            </a:r>
            <a:r>
              <a:rPr lang="da-DK"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r>
              <a:rPr lang="da-DK" altLang="en-US" sz="1800">
                <a:latin typeface="Verdana" panose="020B0604030504040204" pitchFamily="34" charset="0"/>
                <a:ea typeface="Verdana" panose="020B0604030504040204" pitchFamily="34" charset="0"/>
                <a:cs typeface="Verdana" panose="020B0604030504040204" pitchFamily="34" charset="0"/>
              </a:rPr>
              <a:t>VAR1:=10;  </a:t>
            </a:r>
          </a:p>
          <a:p>
            <a:pPr marL="0" indent="0" eaLnBrk="1" hangingPunct="1">
              <a:buFont typeface="Arial" panose="020B0604020202020204" pitchFamily="34" charset="0"/>
              <a:buNone/>
            </a:pPr>
            <a:r>
              <a:rPr lang="da-DK" altLang="en-US" sz="1800" b="1">
                <a:latin typeface="Verdana" panose="020B0604030504040204" pitchFamily="34" charset="0"/>
                <a:ea typeface="Verdana" panose="020B0604030504040204" pitchFamily="34" charset="0"/>
                <a:cs typeface="Verdana" panose="020B0604030504040204" pitchFamily="34" charset="0"/>
              </a:rPr>
              <a:t>FOR</a:t>
            </a:r>
            <a:r>
              <a:rPr lang="da-DK" altLang="en-US" sz="1800">
                <a:latin typeface="Verdana" panose="020B0604030504040204" pitchFamily="34" charset="0"/>
                <a:ea typeface="Verdana" panose="020B0604030504040204" pitchFamily="34" charset="0"/>
                <a:cs typeface="Verdana" panose="020B0604030504040204" pitchFamily="34" charset="0"/>
              </a:rPr>
              <a:t> VAR2 IN 1..10  </a:t>
            </a:r>
          </a:p>
          <a:p>
            <a:pPr marL="0" indent="0" eaLnBrk="1" hangingPunct="1">
              <a:buFont typeface="Arial" panose="020B0604020202020204" pitchFamily="34" charset="0"/>
              <a:buNone/>
            </a:pPr>
            <a:r>
              <a:rPr lang="da-DK" altLang="en-US" sz="1800">
                <a:latin typeface="Verdana" panose="020B0604030504040204" pitchFamily="34" charset="0"/>
                <a:ea typeface="Verdana" panose="020B0604030504040204" pitchFamily="34" charset="0"/>
                <a:cs typeface="Verdana" panose="020B0604030504040204" pitchFamily="34" charset="0"/>
              </a:rPr>
              <a:t>LOOP  </a:t>
            </a:r>
          </a:p>
          <a:p>
            <a:pPr marL="0" indent="0" eaLnBrk="1" hangingPunct="1">
              <a:buFont typeface="Arial" panose="020B0604020202020204" pitchFamily="34" charset="0"/>
              <a:buNone/>
            </a:pPr>
            <a:r>
              <a:rPr lang="da-DK" altLang="en-US" sz="1800">
                <a:latin typeface="Verdana" panose="020B0604030504040204" pitchFamily="34" charset="0"/>
                <a:ea typeface="Verdana" panose="020B0604030504040204" pitchFamily="34" charset="0"/>
                <a:cs typeface="Verdana" panose="020B0604030504040204" pitchFamily="34" charset="0"/>
              </a:rPr>
              <a:t>DBMS_OUTPUT.PUT_LINE (VAR1*VAR2);  </a:t>
            </a:r>
          </a:p>
          <a:p>
            <a:pPr marL="0" indent="0" eaLnBrk="1" hangingPunct="1">
              <a:buFont typeface="Arial" panose="020B0604020202020204" pitchFamily="34" charset="0"/>
              <a:buNone/>
            </a:pPr>
            <a:r>
              <a:rPr lang="da-DK" altLang="en-US" sz="1800" b="1">
                <a:latin typeface="Verdana" panose="020B0604030504040204" pitchFamily="34" charset="0"/>
                <a:ea typeface="Verdana" panose="020B0604030504040204" pitchFamily="34" charset="0"/>
                <a:cs typeface="Verdana" panose="020B0604030504040204" pitchFamily="34" charset="0"/>
              </a:rPr>
              <a:t>END</a:t>
            </a:r>
            <a:r>
              <a:rPr lang="da-DK" altLang="en-US" sz="1800">
                <a:latin typeface="Verdana" panose="020B0604030504040204" pitchFamily="34" charset="0"/>
                <a:ea typeface="Verdana" panose="020B0604030504040204" pitchFamily="34" charset="0"/>
                <a:cs typeface="Verdana" panose="020B0604030504040204" pitchFamily="34" charset="0"/>
              </a:rPr>
              <a:t> LOOP;  </a:t>
            </a:r>
          </a:p>
          <a:p>
            <a:pPr marL="0" indent="0" eaLnBrk="1" hangingPunct="1">
              <a:buFont typeface="Arial" panose="020B0604020202020204" pitchFamily="34" charset="0"/>
              <a:buNone/>
            </a:pPr>
            <a:r>
              <a:rPr lang="da-DK" altLang="en-US" sz="1800" b="1">
                <a:latin typeface="Verdana" panose="020B0604030504040204" pitchFamily="34" charset="0"/>
                <a:ea typeface="Verdana" panose="020B0604030504040204" pitchFamily="34" charset="0"/>
                <a:cs typeface="Verdana" panose="020B0604030504040204" pitchFamily="34" charset="0"/>
              </a:rPr>
              <a:t>END</a:t>
            </a:r>
            <a:r>
              <a:rPr lang="da-DK"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1D3BE3C6-E8E8-4BA2-BBE2-7B885E567AEF}"/>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6AE6C770-CA5A-4573-B06A-BE305A1A5C95}"/>
              </a:ext>
            </a:extLst>
          </p:cNvPr>
          <p:cNvSpPr>
            <a:spLocks noGrp="1"/>
          </p:cNvSpPr>
          <p:nvPr>
            <p:ph type="title"/>
          </p:nvPr>
        </p:nvSpPr>
        <p:spPr>
          <a:xfrm>
            <a:off x="628650" y="152400"/>
            <a:ext cx="7886700" cy="277813"/>
          </a:xfrm>
        </p:spPr>
        <p:txBody>
          <a:bodyPr/>
          <a:lstStyle/>
          <a:p>
            <a:pPr eaLnBrk="1" hangingPunct="1"/>
            <a:br>
              <a:rPr lang="en-US" altLang="en-US"/>
            </a:br>
            <a:r>
              <a:rPr lang="en-US" altLang="en-US" sz="2000" b="1" u="sng">
                <a:latin typeface="Verdana" panose="020B0604030504040204" pitchFamily="34" charset="0"/>
                <a:ea typeface="Verdana" panose="020B0604030504040204" pitchFamily="34" charset="0"/>
                <a:cs typeface="Verdana" panose="020B0604030504040204" pitchFamily="34" charset="0"/>
              </a:rPr>
              <a:t>PL/SQL Continue Statement</a:t>
            </a:r>
            <a:br>
              <a:rPr lang="en-US" altLang="en-US" sz="2000" b="1" u="sng">
                <a:latin typeface="Verdana" panose="020B0604030504040204" pitchFamily="34" charset="0"/>
                <a:ea typeface="Verdana" panose="020B0604030504040204" pitchFamily="34" charset="0"/>
                <a:cs typeface="Verdana" panose="020B0604030504040204" pitchFamily="34" charset="0"/>
              </a:rPr>
            </a:br>
            <a:br>
              <a:rPr lang="en-US" altLang="en-US" sz="2000" b="1" u="sng">
                <a:latin typeface="Verdana" panose="020B0604030504040204" pitchFamily="34" charset="0"/>
                <a:ea typeface="Verdana" panose="020B0604030504040204" pitchFamily="34" charset="0"/>
                <a:cs typeface="Verdana" panose="020B0604030504040204" pitchFamily="34" charset="0"/>
              </a:rPr>
            </a:br>
            <a:endParaRPr lang="en-US" altLang="en-US" sz="2000" b="1" u="sng">
              <a:latin typeface="Verdana" panose="020B0604030504040204" pitchFamily="34" charset="0"/>
              <a:ea typeface="Verdana" panose="020B0604030504040204" pitchFamily="34" charset="0"/>
              <a:cs typeface="Verdana" panose="020B0604030504040204" pitchFamily="34" charset="0"/>
            </a:endParaRPr>
          </a:p>
        </p:txBody>
      </p:sp>
      <p:sp>
        <p:nvSpPr>
          <p:cNvPr id="47107" name="Content Placeholder 2">
            <a:extLst>
              <a:ext uri="{FF2B5EF4-FFF2-40B4-BE49-F238E27FC236}">
                <a16:creationId xmlns:a16="http://schemas.microsoft.com/office/drawing/2014/main" id="{9C7E3697-9E73-437D-8168-9EDAC6AFDEAC}"/>
              </a:ext>
            </a:extLst>
          </p:cNvPr>
          <p:cNvSpPr>
            <a:spLocks noGrp="1"/>
          </p:cNvSpPr>
          <p:nvPr>
            <p:ph idx="1"/>
          </p:nvPr>
        </p:nvSpPr>
        <p:spPr>
          <a:xfrm>
            <a:off x="628650" y="609600"/>
            <a:ext cx="7886700" cy="5567363"/>
          </a:xfrm>
        </p:spPr>
        <p:txBody>
          <a:bodyPr rtlCol="0">
            <a:normAutofit/>
          </a:bodyPr>
          <a:lstStyle/>
          <a:p>
            <a:pPr eaLnBrk="1" hangingPunct="1">
              <a:defRPr/>
            </a:pPr>
            <a:r>
              <a:rPr lang="en-US" sz="1800" dirty="0">
                <a:latin typeface="Verdana" panose="020B0604030504040204" pitchFamily="34" charset="0"/>
                <a:ea typeface="Verdana" panose="020B0604030504040204" pitchFamily="34" charset="0"/>
                <a:cs typeface="Verdana" panose="020B0604030504040204" pitchFamily="34" charset="0"/>
              </a:rPr>
              <a:t>CONTINUE Statement unconditionally skip the current loop iteration and next iteration iterate as normal, only skip matched condition.</a:t>
            </a:r>
          </a:p>
          <a:p>
            <a:pPr eaLnBrk="1" hangingPunct="1">
              <a:defRPr/>
            </a:pPr>
            <a:r>
              <a:rPr lang="en-US" sz="1800" dirty="0">
                <a:latin typeface="Verdana" panose="020B0604030504040204" pitchFamily="34" charset="0"/>
                <a:ea typeface="Verdana" panose="020B0604030504040204" pitchFamily="34" charset="0"/>
                <a:cs typeface="Verdana" panose="020B0604030504040204" pitchFamily="34" charset="0"/>
              </a:rPr>
              <a:t>In other words, it forces the next iteration of the loop to take place, skipping any code in between.</a:t>
            </a:r>
          </a:p>
          <a:p>
            <a:pPr eaLnBrk="1" hangingPunct="1">
              <a:defRPr/>
            </a:pPr>
            <a:r>
              <a:rPr lang="en-US" sz="1800" dirty="0">
                <a:latin typeface="Verdana" panose="020B0604030504040204" pitchFamily="34" charset="0"/>
                <a:ea typeface="Verdana" panose="020B0604030504040204" pitchFamily="34" charset="0"/>
                <a:cs typeface="Verdana" panose="020B0604030504040204" pitchFamily="34" charset="0"/>
              </a:rPr>
              <a:t>The continue statement is not a keyword in Oracle 10g. It is a new feature incorporated in oracle 11g.</a:t>
            </a:r>
          </a:p>
          <a:p>
            <a:pPr eaLnBrk="1" hangingPunct="1">
              <a:defRPr/>
            </a:pPr>
            <a:r>
              <a:rPr lang="en-US" sz="1800" dirty="0">
                <a:latin typeface="Verdana" panose="020B0604030504040204" pitchFamily="34" charset="0"/>
                <a:ea typeface="Verdana" panose="020B0604030504040204" pitchFamily="34" charset="0"/>
                <a:cs typeface="Verdana" panose="020B0604030504040204" pitchFamily="34" charset="0"/>
              </a:rPr>
              <a:t>For example: If a continue statement exits a cursor FOR LOOP prematurely then it exits an inner loop and transfer control to the next iteration of an outer loop, the cursor closes (in this context, CONTINUE works like GOTO).</a:t>
            </a:r>
          </a:p>
          <a:p>
            <a:pPr marL="0" indent="0" eaLnBrk="1" hangingPunct="1">
              <a:buFont typeface="Arial" panose="020B0604020202020204" pitchFamily="34" charset="0"/>
              <a:buNone/>
              <a:defRPr/>
            </a:pPr>
            <a:r>
              <a:rPr lang="en-US" altLang="en-US" dirty="0"/>
              <a:t> </a:t>
            </a:r>
            <a:r>
              <a:rPr lang="en-US" altLang="en-US" sz="1800" dirty="0">
                <a:latin typeface="Verdana" panose="020B0604030504040204" pitchFamily="34" charset="0"/>
                <a:ea typeface="Verdana" panose="020B0604030504040204" pitchFamily="34" charset="0"/>
                <a:cs typeface="Verdana" panose="020B0604030504040204" pitchFamily="34" charset="0"/>
              </a:rPr>
              <a:t>PROGRAM:</a:t>
            </a:r>
          </a:p>
          <a:p>
            <a:pPr marL="0" indent="0" eaLnBrk="1" hangingPunct="1">
              <a:buFont typeface="Arial" panose="020B0604020202020204" pitchFamily="34" charset="0"/>
              <a:buNone/>
              <a:defRPr/>
            </a:pPr>
            <a:endParaRPr lang="en-US" altLang="en-US" dirty="0"/>
          </a:p>
        </p:txBody>
      </p:sp>
      <p:sp>
        <p:nvSpPr>
          <p:cNvPr id="4" name="Date Placeholder 3">
            <a:extLst>
              <a:ext uri="{FF2B5EF4-FFF2-40B4-BE49-F238E27FC236}">
                <a16:creationId xmlns:a16="http://schemas.microsoft.com/office/drawing/2014/main" id="{0C0D1547-BA61-45E2-9DC6-83403908D4CB}"/>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Content Placeholder 2">
            <a:extLst>
              <a:ext uri="{FF2B5EF4-FFF2-40B4-BE49-F238E27FC236}">
                <a16:creationId xmlns:a16="http://schemas.microsoft.com/office/drawing/2014/main" id="{160F4AF8-C7B9-4069-A824-5D1D367BC1D2}"/>
              </a:ext>
            </a:extLst>
          </p:cNvPr>
          <p:cNvSpPr>
            <a:spLocks noGrp="1"/>
          </p:cNvSpPr>
          <p:nvPr>
            <p:ph idx="1"/>
          </p:nvPr>
        </p:nvSpPr>
        <p:spPr>
          <a:xfrm>
            <a:off x="628650" y="152400"/>
            <a:ext cx="7886700" cy="6024563"/>
          </a:xfrm>
        </p:spPr>
        <p:txBody>
          <a:bodyPr rtlCol="0">
            <a:normAutofit fontScale="92500" lnSpcReduction="10000"/>
          </a:bodyPr>
          <a:lstStyle/>
          <a:p>
            <a:pPr marL="0" indent="0" eaLnBrk="1" hangingPunct="1">
              <a:buFont typeface="Arial" panose="020B0604020202020204" pitchFamily="34" charset="0"/>
              <a:buNone/>
              <a:defRPr/>
            </a:pPr>
            <a:r>
              <a:rPr lang="en-US" sz="1900" b="1" dirty="0">
                <a:latin typeface="Verdana" panose="020B0604030504040204" pitchFamily="34" charset="0"/>
                <a:ea typeface="Verdana" panose="020B0604030504040204" pitchFamily="34" charset="0"/>
                <a:cs typeface="Verdana" panose="020B0604030504040204" pitchFamily="34" charset="0"/>
              </a:rPr>
              <a:t>DECLARE</a:t>
            </a:r>
            <a:r>
              <a:rPr lang="en-US" sz="19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sz="1900" dirty="0">
                <a:latin typeface="Verdana" panose="020B0604030504040204" pitchFamily="34" charset="0"/>
                <a:ea typeface="Verdana" panose="020B0604030504040204" pitchFamily="34" charset="0"/>
                <a:cs typeface="Verdana" panose="020B0604030504040204" pitchFamily="34" charset="0"/>
              </a:rPr>
              <a:t>  x NUMBER := 0;  </a:t>
            </a:r>
          </a:p>
          <a:p>
            <a:pPr marL="0" indent="0" eaLnBrk="1" hangingPunct="1">
              <a:buFont typeface="Arial" panose="020B0604020202020204" pitchFamily="34" charset="0"/>
              <a:buNone/>
              <a:defRPr/>
            </a:pPr>
            <a:r>
              <a:rPr lang="en-US" sz="1900" b="1" dirty="0">
                <a:latin typeface="Verdana" panose="020B0604030504040204" pitchFamily="34" charset="0"/>
                <a:ea typeface="Verdana" panose="020B0604030504040204" pitchFamily="34" charset="0"/>
                <a:cs typeface="Verdana" panose="020B0604030504040204" pitchFamily="34" charset="0"/>
              </a:rPr>
              <a:t>BEGIN</a:t>
            </a:r>
            <a:r>
              <a:rPr lang="en-US" sz="19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sz="1900" dirty="0">
                <a:latin typeface="Verdana" panose="020B0604030504040204" pitchFamily="34" charset="0"/>
                <a:ea typeface="Verdana" panose="020B0604030504040204" pitchFamily="34" charset="0"/>
                <a:cs typeface="Verdana" panose="020B0604030504040204" pitchFamily="34" charset="0"/>
              </a:rPr>
              <a:t>  LOOP -- </a:t>
            </a:r>
            <a:r>
              <a:rPr lang="en-US" sz="1900" b="1" dirty="0">
                <a:latin typeface="Verdana" panose="020B0604030504040204" pitchFamily="34" charset="0"/>
                <a:ea typeface="Verdana" panose="020B0604030504040204" pitchFamily="34" charset="0"/>
                <a:cs typeface="Verdana" panose="020B0604030504040204" pitchFamily="34" charset="0"/>
              </a:rPr>
              <a:t>After CONTINUE statement, control resumes here </a:t>
            </a:r>
            <a:r>
              <a:rPr lang="en-US" sz="19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sz="1900" dirty="0">
                <a:latin typeface="Verdana" panose="020B0604030504040204" pitchFamily="34" charset="0"/>
                <a:ea typeface="Verdana" panose="020B0604030504040204" pitchFamily="34" charset="0"/>
                <a:cs typeface="Verdana" panose="020B0604030504040204" pitchFamily="34" charset="0"/>
              </a:rPr>
              <a:t>    DBMS_OUTPUT.PUT_LINE ('Inside loop:  x = ' || TO_CHAR(x));  </a:t>
            </a:r>
          </a:p>
          <a:p>
            <a:pPr marL="0" indent="0" eaLnBrk="1" hangingPunct="1">
              <a:buFont typeface="Arial" panose="020B0604020202020204" pitchFamily="34" charset="0"/>
              <a:buNone/>
              <a:defRPr/>
            </a:pPr>
            <a:r>
              <a:rPr lang="en-US" sz="1900" dirty="0">
                <a:latin typeface="Verdana" panose="020B0604030504040204" pitchFamily="34" charset="0"/>
                <a:ea typeface="Verdana" panose="020B0604030504040204" pitchFamily="34" charset="0"/>
                <a:cs typeface="Verdana" panose="020B0604030504040204" pitchFamily="34" charset="0"/>
              </a:rPr>
              <a:t>    x := x + 1;  </a:t>
            </a:r>
          </a:p>
          <a:p>
            <a:pPr marL="0" indent="0" eaLnBrk="1" hangingPunct="1">
              <a:buFont typeface="Arial" panose="020B0604020202020204" pitchFamily="34" charset="0"/>
              <a:buNone/>
              <a:defRPr/>
            </a:pPr>
            <a:r>
              <a:rPr lang="en-US" sz="1900" dirty="0">
                <a:latin typeface="Verdana" panose="020B0604030504040204" pitchFamily="34" charset="0"/>
                <a:ea typeface="Verdana" panose="020B0604030504040204" pitchFamily="34" charset="0"/>
                <a:cs typeface="Verdana" panose="020B0604030504040204" pitchFamily="34" charset="0"/>
              </a:rPr>
              <a:t>    IF x &lt; 3 </a:t>
            </a:r>
            <a:r>
              <a:rPr lang="en-US" sz="1900" b="1" dirty="0">
                <a:latin typeface="Verdana" panose="020B0604030504040204" pitchFamily="34" charset="0"/>
                <a:ea typeface="Verdana" panose="020B0604030504040204" pitchFamily="34" charset="0"/>
                <a:cs typeface="Verdana" panose="020B0604030504040204" pitchFamily="34" charset="0"/>
              </a:rPr>
              <a:t>THEN</a:t>
            </a:r>
            <a:r>
              <a:rPr lang="en-US" sz="19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sz="1900" dirty="0">
                <a:latin typeface="Verdana" panose="020B0604030504040204" pitchFamily="34" charset="0"/>
                <a:ea typeface="Verdana" panose="020B0604030504040204" pitchFamily="34" charset="0"/>
                <a:cs typeface="Verdana" panose="020B0604030504040204" pitchFamily="34" charset="0"/>
              </a:rPr>
              <a:t>      </a:t>
            </a:r>
            <a:r>
              <a:rPr lang="en-US" sz="1900" b="1" dirty="0">
                <a:latin typeface="Verdana" panose="020B0604030504040204" pitchFamily="34" charset="0"/>
                <a:ea typeface="Verdana" panose="020B0604030504040204" pitchFamily="34" charset="0"/>
                <a:cs typeface="Verdana" panose="020B0604030504040204" pitchFamily="34" charset="0"/>
              </a:rPr>
              <a:t>CONTINUE</a:t>
            </a:r>
            <a:r>
              <a:rPr lang="en-US" sz="19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sz="1900" dirty="0">
                <a:latin typeface="Verdana" panose="020B0604030504040204" pitchFamily="34" charset="0"/>
                <a:ea typeface="Verdana" panose="020B0604030504040204" pitchFamily="34" charset="0"/>
                <a:cs typeface="Verdana" panose="020B0604030504040204" pitchFamily="34" charset="0"/>
              </a:rPr>
              <a:t>    </a:t>
            </a:r>
            <a:r>
              <a:rPr lang="en-US" sz="1900" b="1" dirty="0">
                <a:latin typeface="Verdana" panose="020B0604030504040204" pitchFamily="34" charset="0"/>
                <a:ea typeface="Verdana" panose="020B0604030504040204" pitchFamily="34" charset="0"/>
                <a:cs typeface="Verdana" panose="020B0604030504040204" pitchFamily="34" charset="0"/>
              </a:rPr>
              <a:t>END</a:t>
            </a:r>
            <a:r>
              <a:rPr lang="en-US" sz="1900" dirty="0">
                <a:latin typeface="Verdana" panose="020B0604030504040204" pitchFamily="34" charset="0"/>
                <a:ea typeface="Verdana" panose="020B0604030504040204" pitchFamily="34" charset="0"/>
                <a:cs typeface="Verdana" panose="020B0604030504040204" pitchFamily="34" charset="0"/>
              </a:rPr>
              <a:t> IF;  </a:t>
            </a:r>
          </a:p>
          <a:p>
            <a:pPr marL="0" indent="0" eaLnBrk="1" hangingPunct="1">
              <a:buFont typeface="Arial" panose="020B0604020202020204" pitchFamily="34" charset="0"/>
              <a:buNone/>
              <a:defRPr/>
            </a:pPr>
            <a:r>
              <a:rPr lang="en-US" sz="1900" dirty="0">
                <a:latin typeface="Verdana" panose="020B0604030504040204" pitchFamily="34" charset="0"/>
                <a:ea typeface="Verdana" panose="020B0604030504040204" pitchFamily="34" charset="0"/>
                <a:cs typeface="Verdana" panose="020B0604030504040204" pitchFamily="34" charset="0"/>
              </a:rPr>
              <a:t>    DBMS_OUTPUT.PUT_LINE  </a:t>
            </a:r>
          </a:p>
          <a:p>
            <a:pPr marL="0" indent="0" eaLnBrk="1" hangingPunct="1">
              <a:buFont typeface="Arial" panose="020B0604020202020204" pitchFamily="34" charset="0"/>
              <a:buNone/>
              <a:defRPr/>
            </a:pPr>
            <a:r>
              <a:rPr lang="en-US" sz="1900" dirty="0">
                <a:latin typeface="Verdana" panose="020B0604030504040204" pitchFamily="34" charset="0"/>
                <a:ea typeface="Verdana" panose="020B0604030504040204" pitchFamily="34" charset="0"/>
                <a:cs typeface="Verdana" panose="020B0604030504040204" pitchFamily="34" charset="0"/>
              </a:rPr>
              <a:t>      ('Inside loop, after CONTINUE:  x = ' || TO_CHAR(x));  </a:t>
            </a:r>
          </a:p>
          <a:p>
            <a:pPr marL="0" indent="0" eaLnBrk="1" hangingPunct="1">
              <a:buFont typeface="Arial" panose="020B0604020202020204" pitchFamily="34" charset="0"/>
              <a:buNone/>
              <a:defRPr/>
            </a:pPr>
            <a:r>
              <a:rPr lang="en-US" sz="1900" dirty="0">
                <a:latin typeface="Verdana" panose="020B0604030504040204" pitchFamily="34" charset="0"/>
                <a:ea typeface="Verdana" panose="020B0604030504040204" pitchFamily="34" charset="0"/>
                <a:cs typeface="Verdana" panose="020B0604030504040204" pitchFamily="34" charset="0"/>
              </a:rPr>
              <a:t>    EXIT </a:t>
            </a:r>
            <a:r>
              <a:rPr lang="en-US" sz="1900" b="1" dirty="0">
                <a:latin typeface="Verdana" panose="020B0604030504040204" pitchFamily="34" charset="0"/>
                <a:ea typeface="Verdana" panose="020B0604030504040204" pitchFamily="34" charset="0"/>
                <a:cs typeface="Verdana" panose="020B0604030504040204" pitchFamily="34" charset="0"/>
              </a:rPr>
              <a:t>WHEN</a:t>
            </a:r>
            <a:r>
              <a:rPr lang="en-US" sz="1900" dirty="0">
                <a:latin typeface="Verdana" panose="020B0604030504040204" pitchFamily="34" charset="0"/>
                <a:ea typeface="Verdana" panose="020B0604030504040204" pitchFamily="34" charset="0"/>
                <a:cs typeface="Verdana" panose="020B0604030504040204" pitchFamily="34" charset="0"/>
              </a:rPr>
              <a:t> x = 5;  </a:t>
            </a:r>
          </a:p>
          <a:p>
            <a:pPr marL="0" indent="0" eaLnBrk="1" hangingPunct="1">
              <a:buFont typeface="Arial" panose="020B0604020202020204" pitchFamily="34" charset="0"/>
              <a:buNone/>
              <a:defRPr/>
            </a:pPr>
            <a:r>
              <a:rPr lang="en-US" sz="1900" dirty="0">
                <a:latin typeface="Verdana" panose="020B0604030504040204" pitchFamily="34" charset="0"/>
                <a:ea typeface="Verdana" panose="020B0604030504040204" pitchFamily="34" charset="0"/>
                <a:cs typeface="Verdana" panose="020B0604030504040204" pitchFamily="34" charset="0"/>
              </a:rPr>
              <a:t>  </a:t>
            </a:r>
            <a:r>
              <a:rPr lang="en-US" sz="1900" b="1" dirty="0">
                <a:latin typeface="Verdana" panose="020B0604030504040204" pitchFamily="34" charset="0"/>
                <a:ea typeface="Verdana" panose="020B0604030504040204" pitchFamily="34" charset="0"/>
                <a:cs typeface="Verdana" panose="020B0604030504040204" pitchFamily="34" charset="0"/>
              </a:rPr>
              <a:t>END</a:t>
            </a:r>
            <a:r>
              <a:rPr lang="en-US" sz="1900" dirty="0">
                <a:latin typeface="Verdana" panose="020B0604030504040204" pitchFamily="34" charset="0"/>
                <a:ea typeface="Verdana" panose="020B0604030504040204" pitchFamily="34" charset="0"/>
                <a:cs typeface="Verdana" panose="020B0604030504040204" pitchFamily="34" charset="0"/>
              </a:rPr>
              <a:t> LOOP;  </a:t>
            </a:r>
          </a:p>
          <a:p>
            <a:pPr marL="0" indent="0" eaLnBrk="1" hangingPunct="1">
              <a:buFont typeface="Arial" panose="020B0604020202020204" pitchFamily="34" charset="0"/>
              <a:buNone/>
              <a:defRPr/>
            </a:pPr>
            <a:r>
              <a:rPr lang="en-US" sz="19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sz="1900" dirty="0">
                <a:latin typeface="Verdana" panose="020B0604030504040204" pitchFamily="34" charset="0"/>
                <a:ea typeface="Verdana" panose="020B0604030504040204" pitchFamily="34" charset="0"/>
                <a:cs typeface="Verdana" panose="020B0604030504040204" pitchFamily="34" charset="0"/>
              </a:rPr>
              <a:t>  DBMS_OUTPUT.PUT_LINE (' After loop:  x = ' || TO_CHAR(x));  </a:t>
            </a:r>
          </a:p>
          <a:p>
            <a:pPr marL="0" indent="0" eaLnBrk="1" hangingPunct="1">
              <a:buFont typeface="Arial" panose="020B0604020202020204" pitchFamily="34" charset="0"/>
              <a:buNone/>
              <a:defRPr/>
            </a:pPr>
            <a:r>
              <a:rPr lang="en-US" sz="1900" b="1" dirty="0">
                <a:latin typeface="Verdana" panose="020B0604030504040204" pitchFamily="34" charset="0"/>
                <a:ea typeface="Verdana" panose="020B0604030504040204" pitchFamily="34" charset="0"/>
                <a:cs typeface="Verdana" panose="020B0604030504040204" pitchFamily="34" charset="0"/>
              </a:rPr>
              <a:t>END</a:t>
            </a:r>
            <a:r>
              <a:rPr lang="en-US" sz="19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sz="19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endParaRPr lang="en-US" altLang="en-US" dirty="0"/>
          </a:p>
        </p:txBody>
      </p:sp>
      <p:sp>
        <p:nvSpPr>
          <p:cNvPr id="4" name="Date Placeholder 3">
            <a:extLst>
              <a:ext uri="{FF2B5EF4-FFF2-40B4-BE49-F238E27FC236}">
                <a16:creationId xmlns:a16="http://schemas.microsoft.com/office/drawing/2014/main" id="{7A20C0EE-6EB6-4064-B5A1-244DD800B17A}"/>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ntent Placeholder 2">
            <a:extLst>
              <a:ext uri="{FF2B5EF4-FFF2-40B4-BE49-F238E27FC236}">
                <a16:creationId xmlns:a16="http://schemas.microsoft.com/office/drawing/2014/main" id="{2770E1E9-08FC-4AAD-AD74-5BE3B0686C06}"/>
              </a:ext>
            </a:extLst>
          </p:cNvPr>
          <p:cNvSpPr>
            <a:spLocks noGrp="1"/>
          </p:cNvSpPr>
          <p:nvPr>
            <p:ph idx="1"/>
          </p:nvPr>
        </p:nvSpPr>
        <p:spPr>
          <a:xfrm>
            <a:off x="628650" y="228600"/>
            <a:ext cx="7886700" cy="5948363"/>
          </a:xfrm>
        </p:spPr>
        <p:txBody>
          <a:bodyPr/>
          <a:lstStyle/>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OUTPUT:</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Inside loop:  x = 0</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Inside loop:  x = 1</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Inside loop:  x = 2</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Inside loop, after CONTINUE:  x = 3</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Inside loop:  x = 3</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Inside loop, after CONTINUE:  x = 4</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Inside loop:  x = 4</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Inside loop, after CONTINUE:  x = 5</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After loop:  x = 5</a:t>
            </a:r>
          </a:p>
          <a:p>
            <a:pPr marL="0" indent="0" eaLnBrk="1" hangingPunct="1">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eaLnBrk="1" hangingPunct="1">
              <a:buFont typeface="Arial" panose="020B0604020202020204" pitchFamily="34" charset="0"/>
              <a:buNone/>
            </a:pPr>
            <a:r>
              <a:rPr lang="en-US" altLang="en-US" sz="1800" b="1"/>
              <a:t>Note: The continue statement is not supported in Oracle 10g. Oracle 11g supports this as a new feature.</a:t>
            </a:r>
          </a:p>
          <a:p>
            <a:pPr marL="0" indent="0" eaLnBrk="1" hangingPunct="1">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eaLnBrk="1" hangingPunct="1">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44A73548-E3CD-4852-B42A-06404B2BB990}"/>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502AB47F-F27B-467B-B50C-A429763ECB9A}"/>
              </a:ext>
            </a:extLst>
          </p:cNvPr>
          <p:cNvSpPr>
            <a:spLocks noGrp="1"/>
          </p:cNvSpPr>
          <p:nvPr>
            <p:ph type="title"/>
          </p:nvPr>
        </p:nvSpPr>
        <p:spPr>
          <a:xfrm>
            <a:off x="628650" y="228600"/>
            <a:ext cx="7886700" cy="457200"/>
          </a:xfrm>
        </p:spPr>
        <p:txBody>
          <a:bodyPr/>
          <a:lstStyle/>
          <a:p>
            <a:pPr eaLnBrk="1" hangingPunct="1"/>
            <a:br>
              <a:rPr lang="en-US" altLang="en-US"/>
            </a:br>
            <a:r>
              <a:rPr lang="en-US" altLang="en-US" sz="2000" b="1" u="sng">
                <a:latin typeface="Verdana" panose="020B0604030504040204" pitchFamily="34" charset="0"/>
                <a:ea typeface="Verdana" panose="020B0604030504040204" pitchFamily="34" charset="0"/>
                <a:cs typeface="Verdana" panose="020B0604030504040204" pitchFamily="34" charset="0"/>
              </a:rPr>
              <a:t>PL/SQL GOTO Statement:</a:t>
            </a:r>
            <a:br>
              <a:rPr lang="en-US" altLang="en-US" sz="2000" b="1" u="sng">
                <a:latin typeface="Verdana" panose="020B0604030504040204" pitchFamily="34" charset="0"/>
                <a:ea typeface="Verdana" panose="020B0604030504040204" pitchFamily="34" charset="0"/>
                <a:cs typeface="Verdana" panose="020B0604030504040204" pitchFamily="34" charset="0"/>
              </a:rPr>
            </a:br>
            <a:endParaRPr lang="en-US" altLang="en-US" sz="2000" b="1" u="sng">
              <a:latin typeface="Verdana" panose="020B0604030504040204" pitchFamily="34" charset="0"/>
              <a:ea typeface="Verdana" panose="020B0604030504040204" pitchFamily="34" charset="0"/>
              <a:cs typeface="Verdana" panose="020B0604030504040204" pitchFamily="34" charset="0"/>
            </a:endParaRPr>
          </a:p>
        </p:txBody>
      </p:sp>
      <p:sp>
        <p:nvSpPr>
          <p:cNvPr id="50179" name="Content Placeholder 2">
            <a:extLst>
              <a:ext uri="{FF2B5EF4-FFF2-40B4-BE49-F238E27FC236}">
                <a16:creationId xmlns:a16="http://schemas.microsoft.com/office/drawing/2014/main" id="{C82C1F26-DCA3-449B-ADBC-2D4CE2888D4D}"/>
              </a:ext>
            </a:extLst>
          </p:cNvPr>
          <p:cNvSpPr>
            <a:spLocks noGrp="1"/>
          </p:cNvSpPr>
          <p:nvPr>
            <p:ph idx="1"/>
          </p:nvPr>
        </p:nvSpPr>
        <p:spPr>
          <a:xfrm>
            <a:off x="628650" y="685800"/>
            <a:ext cx="7886700" cy="5491163"/>
          </a:xfrm>
        </p:spPr>
        <p:txBody>
          <a:bodyPr rtlCol="0">
            <a:normAutofit lnSpcReduction="10000"/>
          </a:bodyPr>
          <a:lstStyle/>
          <a:p>
            <a:pPr marL="342900" indent="-342900" eaLnBrk="1" hangingPunct="1">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In PL/SQL, GOTO statement makes you able to get an unconditional jump from the GOTO to a specific executable statement label in the same subprogram of the PL/SQL block.</a:t>
            </a:r>
          </a:p>
          <a:p>
            <a:pPr marL="342900" indent="-342900" eaLnBrk="1" hangingPunct="1">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Here the label declaration which contains the </a:t>
            </a:r>
            <a:r>
              <a:rPr lang="en-US" sz="1800" dirty="0" err="1">
                <a:latin typeface="Verdana" panose="020B0604030504040204" pitchFamily="34" charset="0"/>
                <a:ea typeface="Verdana" panose="020B0604030504040204" pitchFamily="34" charset="0"/>
                <a:cs typeface="Verdana" panose="020B0604030504040204" pitchFamily="34" charset="0"/>
              </a:rPr>
              <a:t>label_name</a:t>
            </a:r>
            <a:r>
              <a:rPr lang="en-US" sz="1800" dirty="0">
                <a:latin typeface="Verdana" panose="020B0604030504040204" pitchFamily="34" charset="0"/>
                <a:ea typeface="Verdana" panose="020B0604030504040204" pitchFamily="34" charset="0"/>
                <a:cs typeface="Verdana" panose="020B0604030504040204" pitchFamily="34" charset="0"/>
              </a:rPr>
              <a:t> encapsulated within the &lt;&lt; &gt;&gt; symbol and must be followed by </a:t>
            </a:r>
            <a:r>
              <a:rPr lang="en-US" sz="1800" b="1" dirty="0">
                <a:latin typeface="Verdana" panose="020B0604030504040204" pitchFamily="34" charset="0"/>
                <a:ea typeface="Verdana" panose="020B0604030504040204" pitchFamily="34" charset="0"/>
                <a:cs typeface="Verdana" panose="020B0604030504040204" pitchFamily="34" charset="0"/>
              </a:rPr>
              <a:t>at least one statement to execute</a:t>
            </a:r>
            <a:r>
              <a:rPr lang="en-US" sz="1800" dirty="0">
                <a:latin typeface="Verdana" panose="020B0604030504040204" pitchFamily="34" charset="0"/>
                <a:ea typeface="Verdana" panose="020B0604030504040204" pitchFamily="34" charset="0"/>
                <a:cs typeface="Verdana" panose="020B0604030504040204" pitchFamily="34" charset="0"/>
              </a:rPr>
              <a:t>.</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SYNTAX:</a:t>
            </a:r>
          </a:p>
          <a:p>
            <a:pPr marL="0" indent="0" eaLnBrk="1" hangingPunct="1">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GOTO</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dirty="0" err="1">
                <a:latin typeface="Verdana" panose="020B0604030504040204" pitchFamily="34" charset="0"/>
                <a:ea typeface="Verdana" panose="020B0604030504040204" pitchFamily="34" charset="0"/>
                <a:cs typeface="Verdana" panose="020B0604030504040204" pitchFamily="34" charset="0"/>
              </a:rPr>
              <a:t>label_name</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Here the label declaration which contains the </a:t>
            </a:r>
            <a:r>
              <a:rPr lang="en-US" sz="1800" dirty="0" err="1">
                <a:latin typeface="Verdana" panose="020B0604030504040204" pitchFamily="34" charset="0"/>
                <a:ea typeface="Verdana" panose="020B0604030504040204" pitchFamily="34" charset="0"/>
                <a:cs typeface="Verdana" panose="020B0604030504040204" pitchFamily="34" charset="0"/>
              </a:rPr>
              <a:t>label_name</a:t>
            </a:r>
            <a:r>
              <a:rPr lang="en-US" sz="1800" dirty="0">
                <a:latin typeface="Verdana" panose="020B0604030504040204" pitchFamily="34" charset="0"/>
                <a:ea typeface="Verdana" panose="020B0604030504040204" pitchFamily="34" charset="0"/>
                <a:cs typeface="Verdana" panose="020B0604030504040204" pitchFamily="34" charset="0"/>
              </a:rPr>
              <a:t> encapsulated within the &lt;&lt; &gt;&gt; symbol and must be followed by at least one statement to execute.</a:t>
            </a:r>
          </a:p>
          <a:p>
            <a:pPr marL="0" indent="0" eaLnBrk="1" hangingPunct="1">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GOTO</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dirty="0" err="1">
                <a:latin typeface="Verdana" panose="020B0604030504040204" pitchFamily="34" charset="0"/>
                <a:ea typeface="Verdana" panose="020B0604030504040204" pitchFamily="34" charset="0"/>
                <a:cs typeface="Verdana" panose="020B0604030504040204" pitchFamily="34" charset="0"/>
              </a:rPr>
              <a:t>label_name</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&lt;&lt;</a:t>
            </a:r>
            <a:r>
              <a:rPr lang="en-US" sz="1800" dirty="0" err="1">
                <a:latin typeface="Verdana" panose="020B0604030504040204" pitchFamily="34" charset="0"/>
                <a:ea typeface="Verdana" panose="020B0604030504040204" pitchFamily="34" charset="0"/>
                <a:cs typeface="Verdana" panose="020B0604030504040204" pitchFamily="34" charset="0"/>
              </a:rPr>
              <a:t>label_name</a:t>
            </a:r>
            <a:r>
              <a:rPr lang="en-US" sz="1800" dirty="0">
                <a:latin typeface="Verdana" panose="020B0604030504040204" pitchFamily="34" charset="0"/>
                <a:ea typeface="Verdana" panose="020B0604030504040204" pitchFamily="34" charset="0"/>
                <a:cs typeface="Verdana" panose="020B0604030504040204" pitchFamily="34" charset="0"/>
              </a:rPr>
              <a:t>&gt;&gt;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Statement; </a:t>
            </a:r>
          </a:p>
          <a:p>
            <a:pPr marL="0" indent="0" eaLnBrk="1" hangingPunct="1">
              <a:buFont typeface="Arial" panose="020B0604020202020204" pitchFamily="34" charset="0"/>
              <a:buNone/>
              <a:defRPr/>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eaLnBrk="1" hangingPunct="1">
              <a:buFont typeface="Arial" panose="020B0604020202020204" pitchFamily="34" charset="0"/>
              <a:buNone/>
              <a:defRPr/>
            </a:pPr>
            <a:r>
              <a:rPr lang="en-US" altLang="en-US" sz="1800" b="1" dirty="0">
                <a:latin typeface="Verdana" panose="020B0604030504040204" pitchFamily="34" charset="0"/>
                <a:ea typeface="Verdana" panose="020B0604030504040204" pitchFamily="34" charset="0"/>
                <a:cs typeface="Verdana" panose="020B0604030504040204" pitchFamily="34" charset="0"/>
              </a:rPr>
              <a:t>EXAMPLE:</a:t>
            </a:r>
          </a:p>
          <a:p>
            <a:pPr marL="0" indent="0" eaLnBrk="1" hangingPunct="1">
              <a:buFont typeface="Arial" panose="020B0604020202020204" pitchFamily="34" charset="0"/>
              <a:buNone/>
              <a:defRPr/>
            </a:pPr>
            <a:endParaRPr lang="en-US" altLang="en-US" sz="1800" dirty="0">
              <a:latin typeface="Verdana" panose="020B0604030504040204" pitchFamily="34" charset="0"/>
              <a:ea typeface="Verdana" panose="020B0604030504040204" pitchFamily="34" charset="0"/>
              <a:cs typeface="Verdana" panose="020B0604030504040204" pitchFamily="34" charset="0"/>
            </a:endParaRPr>
          </a:p>
          <a:p>
            <a:pPr marL="0" indent="0" eaLnBrk="1" hangingPunct="1">
              <a:buFont typeface="Arial" panose="020B0604020202020204" pitchFamily="34" charset="0"/>
              <a:buNone/>
              <a:defRPr/>
            </a:pPr>
            <a:endParaRPr lang="en-US" altLang="en-US" dirty="0"/>
          </a:p>
        </p:txBody>
      </p:sp>
      <p:sp>
        <p:nvSpPr>
          <p:cNvPr id="4" name="Date Placeholder 3">
            <a:extLst>
              <a:ext uri="{FF2B5EF4-FFF2-40B4-BE49-F238E27FC236}">
                <a16:creationId xmlns:a16="http://schemas.microsoft.com/office/drawing/2014/main" id="{49810B06-65D9-423D-B533-8F145BE570C8}"/>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Content Placeholder 2">
            <a:extLst>
              <a:ext uri="{FF2B5EF4-FFF2-40B4-BE49-F238E27FC236}">
                <a16:creationId xmlns:a16="http://schemas.microsoft.com/office/drawing/2014/main" id="{8107CF4C-E0AA-4101-AEA8-7D17680362DE}"/>
              </a:ext>
            </a:extLst>
          </p:cNvPr>
          <p:cNvSpPr>
            <a:spLocks noGrp="1"/>
          </p:cNvSpPr>
          <p:nvPr>
            <p:ph idx="1"/>
          </p:nvPr>
        </p:nvSpPr>
        <p:spPr>
          <a:xfrm>
            <a:off x="628650" y="228600"/>
            <a:ext cx="7886700" cy="5948363"/>
          </a:xfrm>
        </p:spPr>
        <p:txBody>
          <a:bodyPr/>
          <a:lstStyle/>
          <a:p>
            <a:pPr marL="0" indent="0" eaLnBrk="1" hangingPunct="1">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DECLARE</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 number(2) := 30;  </a:t>
            </a:r>
          </a:p>
          <a:p>
            <a:pPr marL="0" indent="0" eaLnBrk="1" hangingPunct="1">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BEGIN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&lt;&lt;loopstart&gt;&gt;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 while loop execution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WHILE a &lt; 50 LOOP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 ('value of a: ' || a);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 := a + 1;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IF a = 35 </a:t>
            </a:r>
            <a:r>
              <a:rPr lang="en-US" altLang="en-US" sz="1800" b="1">
                <a:latin typeface="Verdana" panose="020B0604030504040204" pitchFamily="34" charset="0"/>
                <a:ea typeface="Verdana" panose="020B0604030504040204" pitchFamily="34" charset="0"/>
                <a:cs typeface="Verdana" panose="020B0604030504040204" pitchFamily="34" charset="0"/>
              </a:rPr>
              <a:t>THEN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 := a + 1;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GOTO</a:t>
            </a:r>
            <a:r>
              <a:rPr lang="en-US" altLang="en-US" sz="1800">
                <a:latin typeface="Verdana" panose="020B0604030504040204" pitchFamily="34" charset="0"/>
                <a:ea typeface="Verdana" panose="020B0604030504040204" pitchFamily="34" charset="0"/>
                <a:cs typeface="Verdana" panose="020B0604030504040204" pitchFamily="34" charset="0"/>
              </a:rPr>
              <a:t> loopstart;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sz="1800">
                <a:latin typeface="Verdana" panose="020B0604030504040204" pitchFamily="34" charset="0"/>
                <a:ea typeface="Verdana" panose="020B0604030504040204" pitchFamily="34" charset="0"/>
                <a:cs typeface="Verdana" panose="020B0604030504040204" pitchFamily="34" charset="0"/>
              </a:rPr>
              <a:t> IF;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sz="1800">
                <a:latin typeface="Verdana" panose="020B0604030504040204" pitchFamily="34" charset="0"/>
                <a:ea typeface="Verdana" panose="020B0604030504040204" pitchFamily="34" charset="0"/>
                <a:cs typeface="Verdana" panose="020B0604030504040204" pitchFamily="34" charset="0"/>
              </a:rPr>
              <a:t> LOOP;  </a:t>
            </a:r>
          </a:p>
          <a:p>
            <a:pPr marL="0" indent="0" eaLnBrk="1" hangingPunct="1">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9424C360-C875-4984-A187-5FE1BCC9877F}"/>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FFE545-50C9-4872-9E2F-8D6812802C28}"/>
              </a:ext>
            </a:extLst>
          </p:cNvPr>
          <p:cNvSpPr>
            <a:spLocks noGrp="1"/>
          </p:cNvSpPr>
          <p:nvPr>
            <p:ph idx="1"/>
          </p:nvPr>
        </p:nvSpPr>
        <p:spPr>
          <a:xfrm>
            <a:off x="628650" y="152400"/>
            <a:ext cx="7886700" cy="6024563"/>
          </a:xfrm>
        </p:spPr>
        <p:txBody>
          <a:bodyPr rtlCol="0">
            <a:normAutofit fontScale="77500" lnSpcReduction="20000"/>
          </a:bodyPr>
          <a:lstStyle/>
          <a:p>
            <a:pPr marL="0" indent="0" eaLnBrk="1" hangingPunct="1">
              <a:buFont typeface="Arial" panose="020B0604020202020204" pitchFamily="34" charset="0"/>
              <a:buNone/>
              <a:defRPr/>
            </a:pPr>
            <a:r>
              <a:rPr lang="en-US" dirty="0"/>
              <a:t>OUTPUT:</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30</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31</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32</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33</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34</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36</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37</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38</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39</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40</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41</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42</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43</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44</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45</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46</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47</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48</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value of a: 49</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Statement processed.</a:t>
            </a:r>
          </a:p>
          <a:p>
            <a:pPr marL="0" indent="0" eaLnBrk="1" hangingPunct="1">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8C74F7F8-10A0-4902-852E-DC014830E961}"/>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Content Placeholder 2">
            <a:extLst>
              <a:ext uri="{FF2B5EF4-FFF2-40B4-BE49-F238E27FC236}">
                <a16:creationId xmlns:a16="http://schemas.microsoft.com/office/drawing/2014/main" id="{1419B21C-1F6E-4FFA-980E-7C5BFE3CE1F4}"/>
              </a:ext>
            </a:extLst>
          </p:cNvPr>
          <p:cNvSpPr>
            <a:spLocks noGrp="1"/>
          </p:cNvSpPr>
          <p:nvPr>
            <p:ph idx="1"/>
          </p:nvPr>
        </p:nvSpPr>
        <p:spPr>
          <a:xfrm>
            <a:off x="228600" y="214313"/>
            <a:ext cx="8134350" cy="6507162"/>
          </a:xfrm>
        </p:spPr>
        <p:txBody>
          <a:bodyPr/>
          <a:lstStyle/>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EXAMPLE 2: GOTO statement:</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CREATE OR REPLACE Function FindCourse</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 name_in IN varchar2 )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RETURN number</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IS</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cnumber number;</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CURSOR c1</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IS</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SELECT MAX(course_number)</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FROM courses_tbl</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WHERE course_name = name_in;</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BEGIN</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open c1;</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fetch c1 into cnumber;</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IF c1%notfound then</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GOTO default_number;</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F49975E4-AA45-4C2A-96C6-397DBAD0C463}"/>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Content Placeholder 2">
            <a:extLst>
              <a:ext uri="{FF2B5EF4-FFF2-40B4-BE49-F238E27FC236}">
                <a16:creationId xmlns:a16="http://schemas.microsoft.com/office/drawing/2014/main" id="{8565C339-FD7A-4730-83E6-3E079D76923A}"/>
              </a:ext>
            </a:extLst>
          </p:cNvPr>
          <p:cNvSpPr>
            <a:spLocks noGrp="1"/>
          </p:cNvSpPr>
          <p:nvPr>
            <p:ph idx="1"/>
          </p:nvPr>
        </p:nvSpPr>
        <p:spPr>
          <a:xfrm>
            <a:off x="457200" y="76200"/>
            <a:ext cx="8058150" cy="6280150"/>
          </a:xfrm>
        </p:spPr>
        <p:txBody>
          <a:bodyPr/>
          <a:lstStyle/>
          <a:p>
            <a:pPr marL="0" indent="0">
              <a:buFont typeface="Arial" panose="020B0604020202020204" pitchFamily="34" charset="0"/>
              <a:buNone/>
            </a:pPr>
            <a:r>
              <a:rPr lang="en-US" altLang="en-US"/>
              <a:t> </a:t>
            </a:r>
            <a:r>
              <a:rPr lang="en-US" altLang="en-US" sz="1800">
                <a:latin typeface="Verdana" panose="020B0604030504040204" pitchFamily="34" charset="0"/>
                <a:ea typeface="Verdana" panose="020B0604030504040204" pitchFamily="34" charset="0"/>
                <a:cs typeface="Verdana" panose="020B0604030504040204" pitchFamily="34" charset="0"/>
              </a:rPr>
              <a:t>ELSE</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GOTO increment_number;</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END IF;</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&lt;&lt;default_number&gt;&gt;</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cnumber := 0;</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&lt;&lt;increment_number&gt;&gt;</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cnumber := cnumber + 1;</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close c1;</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RETURN cnumber;</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END;</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In this GOTO example, we have created two GOTO statements. The first one is called default_number and the second one is called increment_number.</a:t>
            </a:r>
          </a:p>
        </p:txBody>
      </p:sp>
      <p:sp>
        <p:nvSpPr>
          <p:cNvPr id="4" name="Date Placeholder 3">
            <a:extLst>
              <a:ext uri="{FF2B5EF4-FFF2-40B4-BE49-F238E27FC236}">
                <a16:creationId xmlns:a16="http://schemas.microsoft.com/office/drawing/2014/main" id="{66D5E9C0-E0B4-46ED-A89D-5D22AC628AC5}"/>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1896C563-7E93-4AA4-A964-B600549EABCE}"/>
              </a:ext>
            </a:extLst>
          </p:cNvPr>
          <p:cNvSpPr>
            <a:spLocks noGrp="1"/>
          </p:cNvSpPr>
          <p:nvPr>
            <p:ph type="title"/>
          </p:nvPr>
        </p:nvSpPr>
        <p:spPr>
          <a:xfrm>
            <a:off x="533400" y="152400"/>
            <a:ext cx="7981950" cy="533400"/>
          </a:xfrm>
        </p:spPr>
        <p:txBody>
          <a:bodyPr/>
          <a:lstStyle/>
          <a:p>
            <a:pPr eaLnBrk="1" hangingPunct="1"/>
            <a:br>
              <a:rPr lang="en-US" altLang="en-US"/>
            </a:br>
            <a:r>
              <a:rPr lang="en-US" altLang="en-US" sz="2400">
                <a:latin typeface="Verdana" panose="020B0604030504040204" pitchFamily="34" charset="0"/>
                <a:ea typeface="Verdana" panose="020B0604030504040204" pitchFamily="34" charset="0"/>
                <a:cs typeface="Verdana" panose="020B0604030504040204" pitchFamily="34" charset="0"/>
              </a:rPr>
              <a:t>PL/SQL Procedure</a:t>
            </a:r>
            <a:br>
              <a:rPr lang="en-US" altLang="en-US" sz="2400">
                <a:latin typeface="Verdana" panose="020B0604030504040204" pitchFamily="34" charset="0"/>
                <a:ea typeface="Verdana" panose="020B0604030504040204" pitchFamily="34" charset="0"/>
                <a:cs typeface="Verdana" panose="020B0604030504040204" pitchFamily="34" charset="0"/>
              </a:rPr>
            </a:br>
            <a:endParaRPr lang="en-US" altLang="en-US" sz="2400">
              <a:latin typeface="Verdana" panose="020B0604030504040204" pitchFamily="34" charset="0"/>
              <a:ea typeface="Verdana" panose="020B0604030504040204" pitchFamily="34" charset="0"/>
              <a:cs typeface="Verdana" panose="020B0604030504040204" pitchFamily="34" charset="0"/>
            </a:endParaRPr>
          </a:p>
        </p:txBody>
      </p:sp>
      <p:sp>
        <p:nvSpPr>
          <p:cNvPr id="3" name="Content Placeholder 2">
            <a:extLst>
              <a:ext uri="{FF2B5EF4-FFF2-40B4-BE49-F238E27FC236}">
                <a16:creationId xmlns:a16="http://schemas.microsoft.com/office/drawing/2014/main" id="{46076F51-531C-4B19-BC61-4DDBD84F5166}"/>
              </a:ext>
            </a:extLst>
          </p:cNvPr>
          <p:cNvSpPr>
            <a:spLocks noGrp="1"/>
          </p:cNvSpPr>
          <p:nvPr>
            <p:ph idx="1"/>
          </p:nvPr>
        </p:nvSpPr>
        <p:spPr>
          <a:xfrm>
            <a:off x="533400" y="685800"/>
            <a:ext cx="7981950" cy="5670550"/>
          </a:xfrm>
        </p:spPr>
        <p:txBody>
          <a:bodyPr rtlCol="0">
            <a:normAutofit/>
          </a:bodyPr>
          <a:lstStyle/>
          <a:p>
            <a:pPr eaLnBrk="1" hangingPunct="1">
              <a:buFont typeface="Wingdings" panose="05000000000000000000" pitchFamily="2" charset="2"/>
              <a:buChar char="v"/>
              <a:defRPr/>
            </a:pPr>
            <a:r>
              <a:rPr lang="en-US" sz="1800" dirty="0">
                <a:latin typeface="Verdana" panose="020B0604030504040204" pitchFamily="34" charset="0"/>
                <a:ea typeface="Verdana" panose="020B0604030504040204" pitchFamily="34" charset="0"/>
                <a:cs typeface="Verdana" panose="020B0604030504040204" pitchFamily="34" charset="0"/>
              </a:rPr>
              <a:t>The PL/SQL stored procedure or simply a procedure is a PL/SQL block which performs one or more specific tasks. It is just like procedures in other programming languages.</a:t>
            </a:r>
          </a:p>
          <a:p>
            <a:pPr eaLnBrk="1" hangingPunct="1">
              <a:buFont typeface="Wingdings" panose="05000000000000000000" pitchFamily="2" charset="2"/>
              <a:buChar char="v"/>
              <a:defRPr/>
            </a:pPr>
            <a:r>
              <a:rPr lang="en-US" sz="1800" dirty="0">
                <a:latin typeface="Verdana" panose="020B0604030504040204" pitchFamily="34" charset="0"/>
                <a:ea typeface="Verdana" panose="020B0604030504040204" pitchFamily="34" charset="0"/>
                <a:cs typeface="Verdana" panose="020B0604030504040204" pitchFamily="34" charset="0"/>
              </a:rPr>
              <a:t>The procedure contains a header and a body.</a:t>
            </a:r>
          </a:p>
          <a:p>
            <a:pPr marL="342900" indent="-342900" eaLnBrk="1" hangingPunct="1">
              <a:buFont typeface="+mj-lt"/>
              <a:buAutoNum type="arabicPeriod"/>
              <a:defRPr/>
            </a:pPr>
            <a:r>
              <a:rPr lang="en-US" sz="1800" b="1" dirty="0">
                <a:latin typeface="Verdana" panose="020B0604030504040204" pitchFamily="34" charset="0"/>
                <a:ea typeface="Verdana" panose="020B0604030504040204" pitchFamily="34" charset="0"/>
                <a:cs typeface="Verdana" panose="020B0604030504040204" pitchFamily="34" charset="0"/>
              </a:rPr>
              <a:t>Header:</a:t>
            </a:r>
            <a:r>
              <a:rPr lang="en-US" sz="1800" dirty="0">
                <a:latin typeface="Verdana" panose="020B0604030504040204" pitchFamily="34" charset="0"/>
                <a:ea typeface="Verdana" panose="020B0604030504040204" pitchFamily="34" charset="0"/>
                <a:cs typeface="Verdana" panose="020B0604030504040204" pitchFamily="34" charset="0"/>
              </a:rPr>
              <a:t> The header contains the name of the procedure and the parameters or variables passed to the procedure.</a:t>
            </a:r>
          </a:p>
          <a:p>
            <a:pPr marL="342900" indent="-342900" eaLnBrk="1" hangingPunct="1">
              <a:buFont typeface="+mj-lt"/>
              <a:buAutoNum type="arabicPeriod"/>
              <a:defRPr/>
            </a:pPr>
            <a:r>
              <a:rPr lang="en-US" sz="1800" b="1" dirty="0">
                <a:latin typeface="Verdana" panose="020B0604030504040204" pitchFamily="34" charset="0"/>
                <a:ea typeface="Verdana" panose="020B0604030504040204" pitchFamily="34" charset="0"/>
                <a:cs typeface="Verdana" panose="020B0604030504040204" pitchFamily="34" charset="0"/>
              </a:rPr>
              <a:t>Body:</a:t>
            </a:r>
            <a:r>
              <a:rPr lang="en-US" sz="1800" dirty="0">
                <a:latin typeface="Verdana" panose="020B0604030504040204" pitchFamily="34" charset="0"/>
                <a:ea typeface="Verdana" panose="020B0604030504040204" pitchFamily="34" charset="0"/>
                <a:cs typeface="Verdana" panose="020B0604030504040204" pitchFamily="34" charset="0"/>
              </a:rPr>
              <a:t> The body contains a declaration section, execution section and exception section similar to a general PL/SQL block.</a:t>
            </a:r>
          </a:p>
          <a:p>
            <a:pPr marL="0" indent="0" eaLnBrk="1" hangingPunct="1">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How to pass parameters in procedure:</a:t>
            </a:r>
          </a:p>
          <a:p>
            <a:pPr eaLnBrk="1" hangingPunct="1">
              <a:defRPr/>
            </a:pPr>
            <a:r>
              <a:rPr lang="en-US" sz="1800" b="1" dirty="0">
                <a:latin typeface="Verdana" panose="020B0604030504040204" pitchFamily="34" charset="0"/>
                <a:ea typeface="Verdana" panose="020B0604030504040204" pitchFamily="34" charset="0"/>
                <a:cs typeface="Verdana" panose="020B0604030504040204" pitchFamily="34" charset="0"/>
              </a:rPr>
              <a:t>IN parameters: </a:t>
            </a:r>
            <a:r>
              <a:rPr lang="en-US" sz="1800" dirty="0">
                <a:latin typeface="Verdana" panose="020B0604030504040204" pitchFamily="34" charset="0"/>
                <a:ea typeface="Verdana" panose="020B0604030504040204" pitchFamily="34" charset="0"/>
                <a:cs typeface="Verdana" panose="020B0604030504040204" pitchFamily="34" charset="0"/>
              </a:rPr>
              <a:t>The IN parameter can be referenced by the procedure or function. The value of the parameter cannot be overwritten by the procedure or the function.</a:t>
            </a:r>
          </a:p>
          <a:p>
            <a:pPr eaLnBrk="1" hangingPunct="1">
              <a:defRPr/>
            </a:pPr>
            <a:r>
              <a:rPr lang="en-US" sz="1800" b="1" dirty="0">
                <a:latin typeface="Verdana" panose="020B0604030504040204" pitchFamily="34" charset="0"/>
                <a:ea typeface="Verdana" panose="020B0604030504040204" pitchFamily="34" charset="0"/>
                <a:cs typeface="Verdana" panose="020B0604030504040204" pitchFamily="34" charset="0"/>
              </a:rPr>
              <a:t>OUT parameters: </a:t>
            </a:r>
            <a:r>
              <a:rPr lang="en-US" sz="1800" dirty="0">
                <a:latin typeface="Verdana" panose="020B0604030504040204" pitchFamily="34" charset="0"/>
                <a:ea typeface="Verdana" panose="020B0604030504040204" pitchFamily="34" charset="0"/>
                <a:cs typeface="Verdana" panose="020B0604030504040204" pitchFamily="34" charset="0"/>
              </a:rPr>
              <a:t>The OUT parameter cannot be referenced by the procedure or function, but the value of the parameter can be overwritten by the procedure or function.</a:t>
            </a:r>
          </a:p>
          <a:p>
            <a:pPr eaLnBrk="1" hangingPunct="1">
              <a:defRPr/>
            </a:pPr>
            <a:r>
              <a:rPr lang="en-US" sz="1800" b="1" dirty="0">
                <a:latin typeface="Verdana" panose="020B0604030504040204" pitchFamily="34" charset="0"/>
                <a:ea typeface="Verdana" panose="020B0604030504040204" pitchFamily="34" charset="0"/>
                <a:cs typeface="Verdana" panose="020B0604030504040204" pitchFamily="34" charset="0"/>
              </a:rPr>
              <a:t>INOUT parameters: </a:t>
            </a:r>
            <a:r>
              <a:rPr lang="en-US" sz="1800" dirty="0">
                <a:latin typeface="Verdana" panose="020B0604030504040204" pitchFamily="34" charset="0"/>
                <a:ea typeface="Verdana" panose="020B0604030504040204" pitchFamily="34" charset="0"/>
                <a:cs typeface="Verdana" panose="020B0604030504040204" pitchFamily="34" charset="0"/>
              </a:rPr>
              <a:t>The INOUT parameter can be referenced by the procedure or function and the value of the parameter can be overwritten by the procedure or function.</a:t>
            </a:r>
          </a:p>
          <a:p>
            <a:pPr marL="0" indent="0" eaLnBrk="1" hangingPunct="1">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36E77AAB-71B4-4C54-A271-AE564E4531F2}"/>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Content Placeholder 2">
            <a:extLst>
              <a:ext uri="{FF2B5EF4-FFF2-40B4-BE49-F238E27FC236}">
                <a16:creationId xmlns:a16="http://schemas.microsoft.com/office/drawing/2014/main" id="{8549F657-6205-4F48-873C-967658176B37}"/>
              </a:ext>
            </a:extLst>
          </p:cNvPr>
          <p:cNvSpPr>
            <a:spLocks noGrp="1"/>
          </p:cNvSpPr>
          <p:nvPr>
            <p:ph idx="1"/>
          </p:nvPr>
        </p:nvSpPr>
        <p:spPr>
          <a:xfrm>
            <a:off x="304800" y="152400"/>
            <a:ext cx="8210550" cy="6324600"/>
          </a:xfrm>
        </p:spPr>
        <p:txBody>
          <a:bodyPr/>
          <a:lstStyle/>
          <a:p>
            <a:pPr marL="0" indent="0" eaLnBrk="1" hangingPunct="1">
              <a:buFont typeface="Arial" panose="020B0604020202020204" pitchFamily="34" charset="0"/>
              <a:buNone/>
              <a:defRPr/>
            </a:pPr>
            <a:r>
              <a:rPr lang="en-US" altLang="en-US" sz="1800" b="1" dirty="0">
                <a:latin typeface="Verdana" panose="020B0604030504040204" pitchFamily="34" charset="0"/>
                <a:ea typeface="Verdana" panose="020B0604030504040204" pitchFamily="34" charset="0"/>
                <a:cs typeface="Verdana" panose="020B0604030504040204" pitchFamily="34" charset="0"/>
              </a:rPr>
              <a:t>IN SHORT:</a:t>
            </a:r>
          </a:p>
          <a:p>
            <a:pPr eaLnBrk="1" hangingPunct="1">
              <a:buFont typeface="Wingdings" panose="05000000000000000000" pitchFamily="2" charset="2"/>
              <a:buChar char="à"/>
              <a:defRPr/>
            </a:pP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a:t>
            </a:r>
            <a:r>
              <a:rPr lang="en-US" sz="1800" dirty="0">
                <a:latin typeface="Verdana" panose="020B0604030504040204" pitchFamily="34" charset="0"/>
                <a:ea typeface="Verdana" panose="020B0604030504040204" pitchFamily="34" charset="0"/>
                <a:cs typeface="Verdana" panose="020B0604030504040204" pitchFamily="34" charset="0"/>
              </a:rPr>
              <a:t> stored Procedure is a self-contained subprogram that is meant to do some specific tasks.</a:t>
            </a:r>
          </a:p>
          <a:p>
            <a:pPr eaLnBrk="1" hangingPunct="1">
              <a:buFont typeface="Wingdings" panose="05000000000000000000" pitchFamily="2" charset="2"/>
              <a:buChar char="à"/>
              <a:defRPr/>
            </a:pPr>
            <a:r>
              <a:rPr lang="en-US" sz="1800" dirty="0">
                <a:latin typeface="Verdana" panose="020B0604030504040204" pitchFamily="34" charset="0"/>
                <a:ea typeface="Verdana" panose="020B0604030504040204" pitchFamily="34" charset="0"/>
                <a:cs typeface="Verdana" panose="020B0604030504040204" pitchFamily="34" charset="0"/>
              </a:rPr>
              <a:t>Procedures are named PL/SQL blocks thus they can be reused because they are stored into the database as a database object. </a:t>
            </a:r>
          </a:p>
          <a:p>
            <a:pPr eaLnBrk="1" hangingPunct="1">
              <a:buFont typeface="Wingdings" panose="05000000000000000000" pitchFamily="2" charset="2"/>
              <a:buChar char="à"/>
              <a:defRPr/>
            </a:pPr>
            <a:r>
              <a:rPr lang="en-US" sz="1800" dirty="0">
                <a:latin typeface="Verdana" panose="020B0604030504040204" pitchFamily="34" charset="0"/>
                <a:ea typeface="Verdana" panose="020B0604030504040204" pitchFamily="34" charset="0"/>
                <a:cs typeface="Verdana" panose="020B0604030504040204" pitchFamily="34" charset="0"/>
              </a:rPr>
              <a:t>But unlike PL/SQL functions a stored procedure does not return any value.</a:t>
            </a:r>
            <a:endParaRPr lang="en-US" altLang="en-US" sz="1800" dirty="0">
              <a:latin typeface="Verdana" panose="020B0604030504040204" pitchFamily="34" charset="0"/>
              <a:ea typeface="Verdana" panose="020B0604030504040204" pitchFamily="34" charset="0"/>
              <a:cs typeface="Verdana" panose="020B0604030504040204" pitchFamily="34" charset="0"/>
            </a:endParaRPr>
          </a:p>
          <a:p>
            <a:pPr marL="0" indent="0" eaLnBrk="1" hangingPunct="1">
              <a:buFont typeface="Arial" panose="020B0604020202020204" pitchFamily="34" charset="0"/>
              <a:buNone/>
              <a:defRPr/>
            </a:pPr>
            <a:r>
              <a:rPr lang="en-US" altLang="en-US" sz="1800" b="1" u="sng" dirty="0">
                <a:latin typeface="Verdana" panose="020B0604030504040204" pitchFamily="34" charset="0"/>
                <a:ea typeface="Verdana" panose="020B0604030504040204" pitchFamily="34" charset="0"/>
                <a:cs typeface="Verdana" panose="020B0604030504040204" pitchFamily="34" charset="0"/>
              </a:rPr>
              <a:t>SYNYAX FOR CREATING PROCEDURE:</a:t>
            </a: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a:p>
            <a:pPr marL="0" indent="0" eaLnBrk="1" hangingPunct="1">
              <a:buFont typeface="Arial" panose="020B0604020202020204" pitchFamily="34" charset="0"/>
              <a:buNone/>
              <a:defRPr/>
            </a:pPr>
            <a:r>
              <a:rPr lang="en-US" altLang="en-US" sz="1800" b="1" dirty="0">
                <a:latin typeface="Verdana" panose="020B0604030504040204" pitchFamily="34" charset="0"/>
                <a:ea typeface="Verdana" panose="020B0604030504040204" pitchFamily="34" charset="0"/>
                <a:cs typeface="Verdana" panose="020B0604030504040204" pitchFamily="34" charset="0"/>
              </a:rPr>
              <a:t>CREATE</a:t>
            </a:r>
            <a:r>
              <a:rPr lang="en-US" altLang="en-US" sz="1800" dirty="0">
                <a:latin typeface="Verdana" panose="020B0604030504040204" pitchFamily="34" charset="0"/>
                <a:ea typeface="Verdana" panose="020B0604030504040204" pitchFamily="34" charset="0"/>
                <a:cs typeface="Verdana" panose="020B0604030504040204" pitchFamily="34" charset="0"/>
              </a:rPr>
              <a:t> [OR REPLACE] </a:t>
            </a:r>
            <a:r>
              <a:rPr lang="en-US" altLang="en-US" sz="1800" b="1" dirty="0">
                <a:latin typeface="Verdana" panose="020B0604030504040204" pitchFamily="34" charset="0"/>
                <a:ea typeface="Verdana" panose="020B0604030504040204" pitchFamily="34" charset="0"/>
                <a:cs typeface="Verdana" panose="020B0604030504040204" pitchFamily="34" charset="0"/>
              </a:rPr>
              <a:t>PROCEDURE</a:t>
            </a:r>
            <a:r>
              <a:rPr lang="en-US" altLang="en-US" sz="1800" dirty="0">
                <a:latin typeface="Verdana" panose="020B0604030504040204" pitchFamily="34" charset="0"/>
                <a:ea typeface="Verdana" panose="020B0604030504040204" pitchFamily="34" charset="0"/>
                <a:cs typeface="Verdana" panose="020B0604030504040204" pitchFamily="34" charset="0"/>
              </a:rPr>
              <a:t> </a:t>
            </a:r>
            <a:r>
              <a:rPr lang="en-US" altLang="en-US" sz="1800" dirty="0" err="1">
                <a:latin typeface="Verdana" panose="020B0604030504040204" pitchFamily="34" charset="0"/>
                <a:ea typeface="Verdana" panose="020B0604030504040204" pitchFamily="34" charset="0"/>
                <a:cs typeface="Verdana" panose="020B0604030504040204" pitchFamily="34" charset="0"/>
              </a:rPr>
              <a:t>procedure_name</a:t>
            </a:r>
            <a:r>
              <a:rPr lang="en-US" alt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altLang="en-US" sz="1800" dirty="0">
                <a:latin typeface="Verdana" panose="020B0604030504040204" pitchFamily="34" charset="0"/>
                <a:ea typeface="Verdana" panose="020B0604030504040204" pitchFamily="34" charset="0"/>
                <a:cs typeface="Verdana" panose="020B0604030504040204" pitchFamily="34" charset="0"/>
              </a:rPr>
              <a:t>    [ (parameter [,parameter]) ]  </a:t>
            </a:r>
          </a:p>
          <a:p>
            <a:pPr marL="0" indent="0" eaLnBrk="1" hangingPunct="1">
              <a:buFont typeface="Arial" panose="020B0604020202020204" pitchFamily="34" charset="0"/>
              <a:buNone/>
              <a:defRPr/>
            </a:pPr>
            <a:r>
              <a:rPr lang="en-US" altLang="en-US" sz="1800" b="1" dirty="0">
                <a:latin typeface="Verdana" panose="020B0604030504040204" pitchFamily="34" charset="0"/>
                <a:ea typeface="Verdana" panose="020B0604030504040204" pitchFamily="34" charset="0"/>
                <a:cs typeface="Verdana" panose="020B0604030504040204" pitchFamily="34" charset="0"/>
              </a:rPr>
              <a:t>IS</a:t>
            </a:r>
            <a:r>
              <a:rPr lang="en-US" alt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altLang="en-US" sz="1800" dirty="0">
                <a:latin typeface="Verdana" panose="020B0604030504040204" pitchFamily="34" charset="0"/>
                <a:ea typeface="Verdana" panose="020B0604030504040204" pitchFamily="34" charset="0"/>
                <a:cs typeface="Verdana" panose="020B0604030504040204" pitchFamily="34" charset="0"/>
              </a:rPr>
              <a:t>    [</a:t>
            </a:r>
            <a:r>
              <a:rPr lang="en-US" altLang="en-US" sz="1800" dirty="0" err="1">
                <a:latin typeface="Verdana" panose="020B0604030504040204" pitchFamily="34" charset="0"/>
                <a:ea typeface="Verdana" panose="020B0604030504040204" pitchFamily="34" charset="0"/>
                <a:cs typeface="Verdana" panose="020B0604030504040204" pitchFamily="34" charset="0"/>
              </a:rPr>
              <a:t>declaration_section</a:t>
            </a:r>
            <a:r>
              <a:rPr lang="en-US" alt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altLang="en-US" sz="1800" b="1" dirty="0">
                <a:latin typeface="Verdana" panose="020B0604030504040204" pitchFamily="34" charset="0"/>
                <a:ea typeface="Verdana" panose="020B0604030504040204" pitchFamily="34" charset="0"/>
                <a:cs typeface="Verdana" panose="020B0604030504040204" pitchFamily="34" charset="0"/>
              </a:rPr>
              <a:t>BEGIN</a:t>
            </a:r>
            <a:r>
              <a:rPr lang="en-US" alt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altLang="en-US" sz="1800" dirty="0">
                <a:latin typeface="Verdana" panose="020B0604030504040204" pitchFamily="34" charset="0"/>
                <a:ea typeface="Verdana" panose="020B0604030504040204" pitchFamily="34" charset="0"/>
                <a:cs typeface="Verdana" panose="020B0604030504040204" pitchFamily="34" charset="0"/>
              </a:rPr>
              <a:t>    </a:t>
            </a:r>
            <a:r>
              <a:rPr lang="en-US" altLang="en-US" sz="1800" dirty="0" err="1">
                <a:latin typeface="Verdana" panose="020B0604030504040204" pitchFamily="34" charset="0"/>
                <a:ea typeface="Verdana" panose="020B0604030504040204" pitchFamily="34" charset="0"/>
                <a:cs typeface="Verdana" panose="020B0604030504040204" pitchFamily="34" charset="0"/>
              </a:rPr>
              <a:t>executable_section</a:t>
            </a:r>
            <a:r>
              <a:rPr lang="en-US" alt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altLang="en-US" sz="1800" dirty="0">
                <a:latin typeface="Verdana" panose="020B0604030504040204" pitchFamily="34" charset="0"/>
                <a:ea typeface="Verdana" panose="020B0604030504040204" pitchFamily="34" charset="0"/>
                <a:cs typeface="Verdana" panose="020B0604030504040204" pitchFamily="34" charset="0"/>
              </a:rPr>
              <a:t>[EXCEPTION  </a:t>
            </a:r>
          </a:p>
          <a:p>
            <a:pPr marL="0" indent="0" eaLnBrk="1" hangingPunct="1">
              <a:buFont typeface="Arial" panose="020B0604020202020204" pitchFamily="34" charset="0"/>
              <a:buNone/>
              <a:defRPr/>
            </a:pPr>
            <a:r>
              <a:rPr lang="en-US" altLang="en-US" sz="1800" dirty="0">
                <a:latin typeface="Verdana" panose="020B0604030504040204" pitchFamily="34" charset="0"/>
                <a:ea typeface="Verdana" panose="020B0604030504040204" pitchFamily="34" charset="0"/>
                <a:cs typeface="Verdana" panose="020B0604030504040204" pitchFamily="34" charset="0"/>
              </a:rPr>
              <a:t>    </a:t>
            </a:r>
            <a:r>
              <a:rPr lang="en-US" altLang="en-US" sz="1800" dirty="0" err="1">
                <a:latin typeface="Verdana" panose="020B0604030504040204" pitchFamily="34" charset="0"/>
                <a:ea typeface="Verdana" panose="020B0604030504040204" pitchFamily="34" charset="0"/>
                <a:cs typeface="Verdana" panose="020B0604030504040204" pitchFamily="34" charset="0"/>
              </a:rPr>
              <a:t>exception_section</a:t>
            </a:r>
            <a:r>
              <a:rPr lang="en-US" alt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altLang="en-US" sz="1800" b="1" dirty="0">
                <a:latin typeface="Verdana" panose="020B0604030504040204" pitchFamily="34" charset="0"/>
                <a:ea typeface="Verdana" panose="020B0604030504040204" pitchFamily="34" charset="0"/>
                <a:cs typeface="Verdana" panose="020B0604030504040204" pitchFamily="34" charset="0"/>
              </a:rPr>
              <a:t>END</a:t>
            </a:r>
            <a:r>
              <a:rPr lang="en-US" altLang="en-US" sz="1800" dirty="0">
                <a:latin typeface="Verdana" panose="020B0604030504040204" pitchFamily="34" charset="0"/>
                <a:ea typeface="Verdana" panose="020B0604030504040204" pitchFamily="34" charset="0"/>
                <a:cs typeface="Verdana" panose="020B0604030504040204" pitchFamily="34" charset="0"/>
              </a:rPr>
              <a:t> [</a:t>
            </a:r>
            <a:r>
              <a:rPr lang="en-US" altLang="en-US" sz="1800" dirty="0" err="1">
                <a:latin typeface="Verdana" panose="020B0604030504040204" pitchFamily="34" charset="0"/>
                <a:ea typeface="Verdana" panose="020B0604030504040204" pitchFamily="34" charset="0"/>
                <a:cs typeface="Verdana" panose="020B0604030504040204" pitchFamily="34" charset="0"/>
              </a:rPr>
              <a:t>procedure_name</a:t>
            </a:r>
            <a:r>
              <a:rPr lang="en-US" alt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endParaRPr lang="en-US" altLang="en-US" dirty="0"/>
          </a:p>
          <a:p>
            <a:pPr marL="0" indent="0" eaLnBrk="1" hangingPunct="1">
              <a:buFont typeface="Arial" panose="020B0604020202020204" pitchFamily="34" charset="0"/>
              <a:buNone/>
              <a:defRPr/>
            </a:pPr>
            <a:endParaRPr lang="en-US" altLang="en-US" dirty="0"/>
          </a:p>
        </p:txBody>
      </p:sp>
      <p:sp>
        <p:nvSpPr>
          <p:cNvPr id="4" name="Date Placeholder 3">
            <a:extLst>
              <a:ext uri="{FF2B5EF4-FFF2-40B4-BE49-F238E27FC236}">
                <a16:creationId xmlns:a16="http://schemas.microsoft.com/office/drawing/2014/main" id="{99653B4F-9F71-49DA-8ED4-96EF917D2B89}"/>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5E30F8-A943-4B4A-9006-0AC00A1B7E8D}"/>
              </a:ext>
            </a:extLst>
          </p:cNvPr>
          <p:cNvSpPr>
            <a:spLocks noGrp="1"/>
          </p:cNvSpPr>
          <p:nvPr>
            <p:ph idx="1"/>
          </p:nvPr>
        </p:nvSpPr>
        <p:spPr>
          <a:xfrm>
            <a:off x="628650" y="152400"/>
            <a:ext cx="7886700" cy="6027738"/>
          </a:xfrm>
        </p:spPr>
        <p:txBody>
          <a:bodyPr rtlCol="0">
            <a:normAutofit lnSpcReduction="10000"/>
          </a:bodyPr>
          <a:lstStyle/>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In this example, we are going to insert record in user table. So you need to create user table first.</a:t>
            </a:r>
          </a:p>
          <a:p>
            <a:pPr marL="0" indent="0" eaLnBrk="1" hangingPunct="1">
              <a:buFont typeface="Arial" panose="020B0604020202020204" pitchFamily="34" charset="0"/>
              <a:buNone/>
              <a:defRPr/>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eaLnBrk="1" hangingPunct="1">
              <a:buFont typeface="Arial" panose="020B0604020202020204" pitchFamily="34" charset="0"/>
              <a:buNone/>
              <a:defRPr/>
            </a:pPr>
            <a:r>
              <a:rPr lang="en-US" sz="1800" b="1" u="sng" dirty="0">
                <a:latin typeface="Verdana" panose="020B0604030504040204" pitchFamily="34" charset="0"/>
                <a:ea typeface="Verdana" panose="020B0604030504040204" pitchFamily="34" charset="0"/>
                <a:cs typeface="Verdana" panose="020B0604030504040204" pitchFamily="34" charset="0"/>
              </a:rPr>
              <a:t>STEP 1: Table Creation</a:t>
            </a:r>
          </a:p>
          <a:p>
            <a:pPr marL="0" indent="0" eaLnBrk="1" hangingPunct="1">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create</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table</a:t>
            </a:r>
            <a:r>
              <a:rPr lang="en-US" sz="1800" dirty="0">
                <a:latin typeface="Verdana" panose="020B0604030504040204" pitchFamily="34" charset="0"/>
                <a:ea typeface="Verdana" panose="020B0604030504040204" pitchFamily="34" charset="0"/>
                <a:cs typeface="Verdana" panose="020B0604030504040204" pitchFamily="34" charset="0"/>
              </a:rPr>
              <a:t> user302251</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id number(10) </a:t>
            </a:r>
            <a:r>
              <a:rPr lang="en-US" sz="1800" b="1" dirty="0">
                <a:latin typeface="Verdana" panose="020B0604030504040204" pitchFamily="34" charset="0"/>
                <a:ea typeface="Verdana" panose="020B0604030504040204" pitchFamily="34" charset="0"/>
                <a:cs typeface="Verdana" panose="020B0604030504040204" pitchFamily="34" charset="0"/>
              </a:rPr>
              <a:t>primary</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key</a:t>
            </a:r>
            <a:r>
              <a:rPr lang="en-US" sz="1800" dirty="0">
                <a:latin typeface="Verdana" panose="020B0604030504040204" pitchFamily="34" charset="0"/>
                <a:ea typeface="Verdana" panose="020B0604030504040204" pitchFamily="34" charset="0"/>
                <a:cs typeface="Verdana" panose="020B0604030504040204" pitchFamily="34" charset="0"/>
              </a:rPr>
              <a:t>,</a:t>
            </a:r>
          </a:p>
          <a:p>
            <a:pPr marL="0" indent="0" eaLnBrk="1" hangingPunct="1">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name</a:t>
            </a:r>
            <a:r>
              <a:rPr lang="en-US" sz="1800" dirty="0">
                <a:latin typeface="Verdana" panose="020B0604030504040204" pitchFamily="34" charset="0"/>
                <a:ea typeface="Verdana" panose="020B0604030504040204" pitchFamily="34" charset="0"/>
                <a:cs typeface="Verdana" panose="020B0604030504040204" pitchFamily="34" charset="0"/>
              </a:rPr>
              <a:t> varchar2(100)</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Now write procedure code to insert record in user table.</a:t>
            </a:r>
          </a:p>
          <a:p>
            <a:pPr marL="0" indent="0" eaLnBrk="1" hangingPunct="1">
              <a:buFont typeface="Arial" panose="020B0604020202020204" pitchFamily="34" charset="0"/>
              <a:buNone/>
              <a:defRPr/>
            </a:pPr>
            <a:r>
              <a:rPr lang="en-US" sz="1800" b="1" u="sng" dirty="0">
                <a:latin typeface="Verdana" panose="020B0604030504040204" pitchFamily="34" charset="0"/>
                <a:ea typeface="Verdana" panose="020B0604030504040204" pitchFamily="34" charset="0"/>
                <a:cs typeface="Verdana" panose="020B0604030504040204" pitchFamily="34" charset="0"/>
              </a:rPr>
              <a:t>STEP2: Procedure Code  </a:t>
            </a:r>
          </a:p>
          <a:p>
            <a:pPr marL="0" indent="0" eaLnBrk="1" hangingPunct="1">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create</a:t>
            </a:r>
            <a:r>
              <a:rPr lang="en-US" sz="1800" dirty="0">
                <a:latin typeface="Verdana" panose="020B0604030504040204" pitchFamily="34" charset="0"/>
                <a:ea typeface="Verdana" panose="020B0604030504040204" pitchFamily="34" charset="0"/>
                <a:cs typeface="Verdana" panose="020B0604030504040204" pitchFamily="34" charset="0"/>
              </a:rPr>
              <a:t> or replace </a:t>
            </a:r>
            <a:r>
              <a:rPr lang="en-US" sz="1800" b="1" dirty="0">
                <a:latin typeface="Verdana" panose="020B0604030504040204" pitchFamily="34" charset="0"/>
                <a:ea typeface="Verdana" panose="020B0604030504040204" pitchFamily="34" charset="0"/>
                <a:cs typeface="Verdana" panose="020B0604030504040204" pitchFamily="34" charset="0"/>
              </a:rPr>
              <a:t>procedure</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dirty="0">
                <a:solidFill>
                  <a:srgbClr val="FF0000"/>
                </a:solidFill>
                <a:latin typeface="Verdana" panose="020B0604030504040204" pitchFamily="34" charset="0"/>
                <a:ea typeface="Verdana" panose="020B0604030504040204" pitchFamily="34" charset="0"/>
                <a:cs typeface="Verdana" panose="020B0604030504040204" pitchFamily="34" charset="0"/>
              </a:rPr>
              <a:t>INSERTUSER</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(id IN NUMBER,    </a:t>
            </a:r>
          </a:p>
          <a:p>
            <a:pPr marL="0" indent="0" eaLnBrk="1" hangingPunct="1">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name</a:t>
            </a:r>
            <a:r>
              <a:rPr lang="en-US" sz="1800" dirty="0">
                <a:latin typeface="Verdana" panose="020B0604030504040204" pitchFamily="34" charset="0"/>
                <a:ea typeface="Verdana" panose="020B0604030504040204" pitchFamily="34" charset="0"/>
                <a:cs typeface="Verdana" panose="020B0604030504040204" pitchFamily="34" charset="0"/>
              </a:rPr>
              <a:t> IN VARCHAR2)    </a:t>
            </a:r>
          </a:p>
          <a:p>
            <a:pPr marL="0" indent="0" eaLnBrk="1" hangingPunct="1">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is</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begin</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insert</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into</a:t>
            </a:r>
            <a:r>
              <a:rPr lang="en-US" sz="1800" dirty="0">
                <a:latin typeface="Verdana" panose="020B0604030504040204" pitchFamily="34" charset="0"/>
                <a:ea typeface="Verdana" panose="020B0604030504040204" pitchFamily="34" charset="0"/>
                <a:cs typeface="Verdana" panose="020B0604030504040204" pitchFamily="34" charset="0"/>
              </a:rPr>
              <a:t> user302251 </a:t>
            </a:r>
            <a:r>
              <a:rPr lang="en-US" sz="1800" b="1" dirty="0">
                <a:latin typeface="Verdana" panose="020B0604030504040204" pitchFamily="34" charset="0"/>
                <a:ea typeface="Verdana" panose="020B0604030504040204" pitchFamily="34" charset="0"/>
                <a:cs typeface="Verdana" panose="020B0604030504040204" pitchFamily="34" charset="0"/>
              </a:rPr>
              <a:t>values</a:t>
            </a:r>
            <a:r>
              <a:rPr lang="en-US" sz="1800" dirty="0">
                <a:latin typeface="Verdana" panose="020B0604030504040204" pitchFamily="34" charset="0"/>
                <a:ea typeface="Verdana" panose="020B0604030504040204" pitchFamily="34" charset="0"/>
                <a:cs typeface="Verdana" panose="020B0604030504040204" pitchFamily="34" charset="0"/>
              </a:rPr>
              <a:t>(</a:t>
            </a:r>
            <a:r>
              <a:rPr lang="en-US" sz="1800" dirty="0" err="1">
                <a:latin typeface="Verdana" panose="020B0604030504040204" pitchFamily="34" charset="0"/>
                <a:ea typeface="Verdana" panose="020B0604030504040204" pitchFamily="34" charset="0"/>
                <a:cs typeface="Verdana" panose="020B0604030504040204" pitchFamily="34" charset="0"/>
              </a:rPr>
              <a:t>id,</a:t>
            </a:r>
            <a:r>
              <a:rPr lang="en-US" sz="1800" b="1" dirty="0" err="1">
                <a:latin typeface="Verdana" panose="020B0604030504040204" pitchFamily="34" charset="0"/>
                <a:ea typeface="Verdana" panose="020B0604030504040204" pitchFamily="34" charset="0"/>
                <a:cs typeface="Verdana" panose="020B0604030504040204" pitchFamily="34" charset="0"/>
              </a:rPr>
              <a:t>name</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end</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defRPr/>
            </a:pPr>
            <a:endParaRPr lang="en-US" sz="1800" b="1" u="sng" dirty="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77BF12D4-37DF-40BC-9C2B-1E3718E4A658}"/>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Content Placeholder 2">
            <a:extLst>
              <a:ext uri="{FF2B5EF4-FFF2-40B4-BE49-F238E27FC236}">
                <a16:creationId xmlns:a16="http://schemas.microsoft.com/office/drawing/2014/main" id="{3666F067-A864-47C0-A747-3E50C20E7A58}"/>
              </a:ext>
            </a:extLst>
          </p:cNvPr>
          <p:cNvSpPr>
            <a:spLocks noGrp="1"/>
          </p:cNvSpPr>
          <p:nvPr>
            <p:ph idx="1"/>
          </p:nvPr>
        </p:nvSpPr>
        <p:spPr>
          <a:xfrm>
            <a:off x="628650" y="228600"/>
            <a:ext cx="8134350" cy="5948363"/>
          </a:xfrm>
        </p:spPr>
        <p:txBody>
          <a:bodyPr/>
          <a:lstStyle/>
          <a:p>
            <a:pPr marL="0" indent="0" eaLnBrk="1" hangingPunct="1">
              <a:buFont typeface="Arial" panose="020B0604020202020204" pitchFamily="34" charset="0"/>
              <a:buNone/>
            </a:pPr>
            <a:r>
              <a:rPr lang="en-US" altLang="en-US" sz="1800" b="1" u="sng">
                <a:latin typeface="Verdana" panose="020B0604030504040204" pitchFamily="34" charset="0"/>
                <a:ea typeface="Verdana" panose="020B0604030504040204" pitchFamily="34" charset="0"/>
                <a:cs typeface="Verdana" panose="020B0604030504040204" pitchFamily="34" charset="0"/>
              </a:rPr>
              <a:t>STEP 3: PL/SQL program to call Procedure.</a:t>
            </a:r>
          </a:p>
          <a:p>
            <a:pPr marL="0" indent="0" eaLnBrk="1" hangingPunct="1">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BEGIN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a:solidFill>
                  <a:srgbClr val="FF0000"/>
                </a:solidFill>
                <a:latin typeface="Verdana" panose="020B0604030504040204" pitchFamily="34" charset="0"/>
                <a:ea typeface="Verdana" panose="020B0604030504040204" pitchFamily="34" charset="0"/>
                <a:cs typeface="Verdana" panose="020B0604030504040204" pitchFamily="34" charset="0"/>
              </a:rPr>
              <a:t>insertuser</a:t>
            </a:r>
            <a:r>
              <a:rPr lang="en-US" altLang="en-US" sz="1800">
                <a:latin typeface="Verdana" panose="020B0604030504040204" pitchFamily="34" charset="0"/>
                <a:ea typeface="Verdana" panose="020B0604030504040204" pitchFamily="34" charset="0"/>
                <a:cs typeface="Verdana" panose="020B0604030504040204" pitchFamily="34" charset="0"/>
              </a:rPr>
              <a:t>(101,'Rahul');   -- procedure name</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dbms_output.put_line('record inserted successfully');    </a:t>
            </a:r>
          </a:p>
          <a:p>
            <a:pPr marL="0" indent="0" eaLnBrk="1" hangingPunct="1">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Now </a:t>
            </a:r>
            <a:r>
              <a:rPr lang="en-US" altLang="en-US" sz="1800"/>
              <a:t>, see the "USER302251" table, you will see one record is inserted.</a:t>
            </a:r>
          </a:p>
          <a:p>
            <a:pPr marL="0" indent="0" eaLnBrk="1" hangingPunct="1">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C2687D5E-3AAC-4396-B272-BD642EB79084}"/>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graphicFrame>
        <p:nvGraphicFramePr>
          <p:cNvPr id="5" name="Table 4">
            <a:extLst>
              <a:ext uri="{FF2B5EF4-FFF2-40B4-BE49-F238E27FC236}">
                <a16:creationId xmlns:a16="http://schemas.microsoft.com/office/drawing/2014/main" id="{F32245DD-5C33-45EE-954F-22681653BB89}"/>
              </a:ext>
            </a:extLst>
          </p:cNvPr>
          <p:cNvGraphicFramePr>
            <a:graphicFrameLocks noGrp="1"/>
          </p:cNvGraphicFramePr>
          <p:nvPr/>
        </p:nvGraphicFramePr>
        <p:xfrm>
          <a:off x="1676400" y="2743200"/>
          <a:ext cx="5715000" cy="938213"/>
        </p:xfrm>
        <a:graphic>
          <a:graphicData uri="http://schemas.openxmlformats.org/drawingml/2006/table">
            <a:tbl>
              <a:tblPr/>
              <a:tblGrid>
                <a:gridCol w="2857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tblGrid>
              <a:tr h="469107">
                <a:tc>
                  <a:txBody>
                    <a:bodyPr/>
                    <a:lstStyle/>
                    <a:p>
                      <a:pPr algn="l" fontAlgn="t"/>
                      <a:r>
                        <a:rPr lang="en-US" sz="1300" dirty="0">
                          <a:solidFill>
                            <a:srgbClr val="000000"/>
                          </a:solidFill>
                          <a:effectLst/>
                          <a:latin typeface="times new roman" panose="02020603050405020304" pitchFamily="18" charset="0"/>
                        </a:rPr>
                        <a:t>ID</a:t>
                      </a:r>
                    </a:p>
                  </a:txBody>
                  <a:tcPr marL="45906" marR="45906" marT="45886" marB="45886">
                    <a:lnL w="9525" cap="flat" cmpd="sng" algn="ctr">
                      <a:solidFill>
                        <a:srgbClr val="50C89C"/>
                      </a:solidFill>
                      <a:prstDash val="solid"/>
                      <a:round/>
                      <a:headEnd type="none" w="med" len="med"/>
                      <a:tailEnd type="none" w="med" len="med"/>
                    </a:lnL>
                    <a:lnR w="9525" cap="flat" cmpd="sng" algn="ctr">
                      <a:solidFill>
                        <a:srgbClr val="50C89C"/>
                      </a:solidFill>
                      <a:prstDash val="solid"/>
                      <a:round/>
                      <a:headEnd type="none" w="med" len="med"/>
                      <a:tailEnd type="none" w="med" len="med"/>
                    </a:lnR>
                    <a:lnT w="9525" cap="flat" cmpd="sng" algn="ctr">
                      <a:solidFill>
                        <a:srgbClr val="50C89C"/>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tc>
                  <a:txBody>
                    <a:bodyPr/>
                    <a:lstStyle/>
                    <a:p>
                      <a:pPr algn="l" fontAlgn="t"/>
                      <a:r>
                        <a:rPr lang="en-US" sz="1300">
                          <a:solidFill>
                            <a:srgbClr val="000000"/>
                          </a:solidFill>
                          <a:effectLst/>
                          <a:latin typeface="times new roman" panose="02020603050405020304" pitchFamily="18" charset="0"/>
                        </a:rPr>
                        <a:t>Name</a:t>
                      </a:r>
                    </a:p>
                  </a:txBody>
                  <a:tcPr marL="45906" marR="45906" marT="45886" marB="45886">
                    <a:lnL w="9525" cap="flat" cmpd="sng" algn="ctr">
                      <a:solidFill>
                        <a:srgbClr val="50C89C"/>
                      </a:solidFill>
                      <a:prstDash val="solid"/>
                      <a:round/>
                      <a:headEnd type="none" w="med" len="med"/>
                      <a:tailEnd type="none" w="med" len="med"/>
                    </a:lnL>
                    <a:lnR w="9525" cap="flat" cmpd="sng" algn="ctr">
                      <a:solidFill>
                        <a:srgbClr val="50C89C"/>
                      </a:solidFill>
                      <a:prstDash val="solid"/>
                      <a:round/>
                      <a:headEnd type="none" w="med" len="med"/>
                      <a:tailEnd type="none" w="med" len="med"/>
                    </a:lnR>
                    <a:lnT w="9525" cap="flat" cmpd="sng" algn="ctr">
                      <a:solidFill>
                        <a:srgbClr val="50C89C"/>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extLst>
                  <a:ext uri="{0D108BD9-81ED-4DB2-BD59-A6C34878D82A}">
                    <a16:rowId xmlns:a16="http://schemas.microsoft.com/office/drawing/2014/main" val="10000"/>
                  </a:ext>
                </a:extLst>
              </a:tr>
              <a:tr h="469107">
                <a:tc>
                  <a:txBody>
                    <a:bodyPr/>
                    <a:lstStyle/>
                    <a:p>
                      <a:pPr algn="just" fontAlgn="t"/>
                      <a:r>
                        <a:rPr lang="en-US" sz="1300" b="0" i="0" dirty="0">
                          <a:solidFill>
                            <a:srgbClr val="000000"/>
                          </a:solidFill>
                          <a:effectLst/>
                          <a:latin typeface="verdana" panose="020B0604030504040204" pitchFamily="34" charset="0"/>
                        </a:rPr>
                        <a:t>101</a:t>
                      </a:r>
                    </a:p>
                  </a:txBody>
                  <a:tcPr marL="45906" marR="45906" marT="45886" marB="45886">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tc>
                  <a:txBody>
                    <a:bodyPr/>
                    <a:lstStyle/>
                    <a:p>
                      <a:pPr algn="just" fontAlgn="t"/>
                      <a:r>
                        <a:rPr lang="en-US" sz="1300" b="0" i="0" dirty="0">
                          <a:solidFill>
                            <a:srgbClr val="000000"/>
                          </a:solidFill>
                          <a:effectLst/>
                          <a:latin typeface="verdana" panose="020B0604030504040204" pitchFamily="34" charset="0"/>
                        </a:rPr>
                        <a:t>Rahul</a:t>
                      </a:r>
                    </a:p>
                  </a:txBody>
                  <a:tcPr marL="45906" marR="45906" marT="45886" marB="45886">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E7B8A-493E-4EB7-855E-6FAAF9DFEE3D}"/>
              </a:ext>
            </a:extLst>
          </p:cNvPr>
          <p:cNvSpPr>
            <a:spLocks noGrp="1"/>
          </p:cNvSpPr>
          <p:nvPr>
            <p:ph idx="1"/>
          </p:nvPr>
        </p:nvSpPr>
        <p:spPr>
          <a:xfrm>
            <a:off x="628650" y="228600"/>
            <a:ext cx="7886700" cy="5948363"/>
          </a:xfrm>
        </p:spPr>
        <p:txBody>
          <a:bodyPr rtlCol="0">
            <a:normAutofit fontScale="92500" lnSpcReduction="20000"/>
          </a:bodyPr>
          <a:lstStyle/>
          <a:p>
            <a:pPr marL="0" indent="0" eaLnBrk="1" hangingPunct="1">
              <a:buFont typeface="Arial" panose="020B0604020202020204" pitchFamily="34" charset="0"/>
              <a:buNone/>
              <a:defRPr/>
            </a:pPr>
            <a:r>
              <a:rPr lang="en-US" b="1" u="sng" dirty="0"/>
              <a:t>IN &amp; OUT Mode Example 1</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DECLARE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a number;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b number;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c number;</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PROCEDURE </a:t>
            </a:r>
            <a:r>
              <a:rPr lang="en-US" sz="1800" dirty="0" err="1">
                <a:latin typeface="Verdana" panose="020B0604030504040204" pitchFamily="34" charset="0"/>
                <a:ea typeface="Verdana" panose="020B0604030504040204" pitchFamily="34" charset="0"/>
                <a:cs typeface="Verdana" panose="020B0604030504040204" pitchFamily="34" charset="0"/>
              </a:rPr>
              <a:t>findMin</a:t>
            </a:r>
            <a:r>
              <a:rPr lang="en-US" sz="1800" dirty="0">
                <a:latin typeface="Verdana" panose="020B0604030504040204" pitchFamily="34" charset="0"/>
                <a:ea typeface="Verdana" panose="020B0604030504040204" pitchFamily="34" charset="0"/>
                <a:cs typeface="Verdana" panose="020B0604030504040204" pitchFamily="34" charset="0"/>
              </a:rPr>
              <a:t>(x IN number, y IN number, z OUT number) IS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BEGIN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IF x &lt; y THEN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z:= x;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ELSE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z:= y;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END IF;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END;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BEGIN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a:= 23;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b:= 45;    </a:t>
            </a:r>
          </a:p>
          <a:p>
            <a:pPr marL="0" indent="0" eaLnBrk="1" hangingPunct="1">
              <a:buFont typeface="Arial" panose="020B0604020202020204" pitchFamily="34" charset="0"/>
              <a:buNone/>
              <a:defRPr/>
            </a:pPr>
            <a:r>
              <a:rPr lang="en-US" sz="1800" dirty="0" err="1">
                <a:latin typeface="Verdana" panose="020B0604030504040204" pitchFamily="34" charset="0"/>
                <a:ea typeface="Verdana" panose="020B0604030504040204" pitchFamily="34" charset="0"/>
                <a:cs typeface="Verdana" panose="020B0604030504040204" pitchFamily="34" charset="0"/>
              </a:rPr>
              <a:t>findMin</a:t>
            </a:r>
            <a:r>
              <a:rPr lang="en-US" sz="1800" dirty="0">
                <a:latin typeface="Verdana" panose="020B0604030504040204" pitchFamily="34" charset="0"/>
                <a:ea typeface="Verdana" panose="020B0604030504040204" pitchFamily="34" charset="0"/>
                <a:cs typeface="Verdana" panose="020B0604030504040204" pitchFamily="34" charset="0"/>
              </a:rPr>
              <a:t>(a, b, c);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dbms_output.put_line(' Minimum of (23, 45) : ' || c);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END; </a:t>
            </a:r>
          </a:p>
          <a:p>
            <a:pPr marL="0" indent="0" eaLnBrk="1" hangingPunct="1">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a:t>
            </a:r>
          </a:p>
          <a:p>
            <a:pPr marL="0" indent="0" eaLnBrk="1" hangingPunct="1">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E0FBFFA5-D240-4ABC-BBCA-DBE1DAB0E251}"/>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ontent Placeholder 2">
            <a:extLst>
              <a:ext uri="{FF2B5EF4-FFF2-40B4-BE49-F238E27FC236}">
                <a16:creationId xmlns:a16="http://schemas.microsoft.com/office/drawing/2014/main" id="{EAD31307-775A-4453-AEE4-4C18373D5AC8}"/>
              </a:ext>
            </a:extLst>
          </p:cNvPr>
          <p:cNvSpPr>
            <a:spLocks noGrp="1"/>
          </p:cNvSpPr>
          <p:nvPr>
            <p:ph idx="1"/>
          </p:nvPr>
        </p:nvSpPr>
        <p:spPr>
          <a:xfrm>
            <a:off x="381000" y="152400"/>
            <a:ext cx="8134350" cy="6024563"/>
          </a:xfrm>
        </p:spPr>
        <p:txBody>
          <a:bodyPr/>
          <a:lstStyle/>
          <a:p>
            <a:pPr marL="0" indent="0" eaLnBrk="1" hangingPunct="1">
              <a:buFont typeface="Arial" panose="020B0604020202020204" pitchFamily="34" charset="0"/>
              <a:buNone/>
            </a:pPr>
            <a:r>
              <a:rPr lang="en-US" altLang="en-US" b="1" u="sng"/>
              <a:t>OUTPUT:</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Minimum of (23, 45) : 23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PL/SQL procedure successfully completed. </a:t>
            </a:r>
          </a:p>
          <a:p>
            <a:pPr marL="0" indent="0" eaLnBrk="1" hangingPunct="1">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This program finds the minimum of two values.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Here, the procedure takes two numbers using the IN mode and returns their minimum using the OUT parameters.</a:t>
            </a:r>
          </a:p>
          <a:p>
            <a:pPr marL="0" indent="0" eaLnBrk="1" hangingPunct="1">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7347E68C-3C2B-4122-8BCE-2CA07F288D06}"/>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Content Placeholder 2">
            <a:extLst>
              <a:ext uri="{FF2B5EF4-FFF2-40B4-BE49-F238E27FC236}">
                <a16:creationId xmlns:a16="http://schemas.microsoft.com/office/drawing/2014/main" id="{8448543D-E22B-49BE-B6C3-F7314ABC3FEF}"/>
              </a:ext>
            </a:extLst>
          </p:cNvPr>
          <p:cNvSpPr>
            <a:spLocks noGrp="1"/>
          </p:cNvSpPr>
          <p:nvPr>
            <p:ph idx="1"/>
          </p:nvPr>
        </p:nvSpPr>
        <p:spPr>
          <a:xfrm>
            <a:off x="628650" y="152400"/>
            <a:ext cx="7886700" cy="6024563"/>
          </a:xfrm>
        </p:spPr>
        <p:txBody>
          <a:bodyPr/>
          <a:lstStyle/>
          <a:p>
            <a:pPr marL="0" indent="0" eaLnBrk="1" hangingPunct="1">
              <a:buFont typeface="Arial" panose="020B0604020202020204" pitchFamily="34" charset="0"/>
              <a:buNone/>
            </a:pPr>
            <a:r>
              <a:rPr lang="en-US" altLang="en-US" b="1" u="sng"/>
              <a:t>IN &amp; OUT Mode Example 2 (OVERRIDING)</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DECLARE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 number;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PROCEDURE squareNum(x IN OUT number)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IS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BEGIN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x := x * x;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END;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BEGIN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a:= 23;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squareNum(a);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 Square of (23): ' || a);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END;</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OUTPUT:</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Square of (23): 529</a:t>
            </a:r>
          </a:p>
          <a:p>
            <a:pPr marL="0" indent="0" eaLnBrk="1" hangingPunct="1">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eaLnBrk="1" hangingPunct="1">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999E461B-43CA-4004-A4F4-E22598B6E797}"/>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C1116BCC-C6FD-42D5-95D5-FC45D9F90D18}"/>
              </a:ext>
            </a:extLst>
          </p:cNvPr>
          <p:cNvSpPr>
            <a:spLocks noGrp="1"/>
          </p:cNvSpPr>
          <p:nvPr>
            <p:ph type="title"/>
          </p:nvPr>
        </p:nvSpPr>
        <p:spPr>
          <a:xfrm>
            <a:off x="628650" y="152400"/>
            <a:ext cx="7886700" cy="533400"/>
          </a:xfrm>
        </p:spPr>
        <p:txBody>
          <a:bodyPr/>
          <a:lstStyle/>
          <a:p>
            <a:r>
              <a:rPr lang="en-US" altLang="en-US" sz="1800" b="1">
                <a:latin typeface="Verdana" panose="020B0604030504040204" pitchFamily="34" charset="0"/>
                <a:ea typeface="Verdana" panose="020B0604030504040204" pitchFamily="34" charset="0"/>
                <a:cs typeface="Verdana" panose="020B0604030504040204" pitchFamily="34" charset="0"/>
              </a:rPr>
              <a:t>PL/SQL FUNCTIONS:</a:t>
            </a:r>
          </a:p>
        </p:txBody>
      </p:sp>
      <p:sp>
        <p:nvSpPr>
          <p:cNvPr id="3" name="Content Placeholder 2">
            <a:extLst>
              <a:ext uri="{FF2B5EF4-FFF2-40B4-BE49-F238E27FC236}">
                <a16:creationId xmlns:a16="http://schemas.microsoft.com/office/drawing/2014/main" id="{80EC0926-7FBA-44B0-BE4C-45FD50310855}"/>
              </a:ext>
            </a:extLst>
          </p:cNvPr>
          <p:cNvSpPr>
            <a:spLocks noGrp="1"/>
          </p:cNvSpPr>
          <p:nvPr>
            <p:ph idx="1"/>
          </p:nvPr>
        </p:nvSpPr>
        <p:spPr>
          <a:xfrm>
            <a:off x="381000" y="533400"/>
            <a:ext cx="8134350" cy="5643563"/>
          </a:xfrm>
        </p:spPr>
        <p:txBody>
          <a:bodyPr/>
          <a:lstStyle/>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To anyone, who has ever studied programming languages like C, C++ or Java, the concept of functions isn’t new. Functions are nothing but a group of executable statements. Using Functions you can save yourself from re-writing the same programming logic again and again.</a:t>
            </a:r>
          </a:p>
          <a:p>
            <a:pPr>
              <a:defRPr/>
            </a:pPr>
            <a:r>
              <a:rPr lang="en-US" sz="1800" b="1" dirty="0">
                <a:latin typeface="Verdana" panose="020B0604030504040204" pitchFamily="34" charset="0"/>
                <a:ea typeface="Verdana" panose="020B0604030504040204" pitchFamily="34" charset="0"/>
                <a:cs typeface="Verdana" panose="020B0604030504040204" pitchFamily="34" charset="0"/>
              </a:rPr>
              <a:t>What are PL/SQL functions in Oracle Database?</a:t>
            </a: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lang="en-US" sz="1800" dirty="0">
                <a:latin typeface="Verdana" panose="020B0604030504040204" pitchFamily="34" charset="0"/>
                <a:ea typeface="Verdana" panose="020B0604030504040204" pitchFamily="34" charset="0"/>
                <a:cs typeface="Verdana" panose="020B0604030504040204" pitchFamily="34" charset="0"/>
              </a:rPr>
              <a:t>In Oracle Database we can define a PL/SQL function as a self-contained sub-program that is meant to do some specific well defined task. </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lang="en-US" sz="1800" dirty="0">
                <a:latin typeface="Verdana" panose="020B0604030504040204" pitchFamily="34" charset="0"/>
                <a:ea typeface="Verdana" panose="020B0604030504040204" pitchFamily="34" charset="0"/>
                <a:cs typeface="Verdana" panose="020B0604030504040204" pitchFamily="34" charset="0"/>
              </a:rPr>
              <a:t>Functions are named PL/SQL block which means they can be stored into the database as a database object and can be reused. That is also the reason why some books refer to PL/SQL functions as stored functions.</a:t>
            </a:r>
            <a:br>
              <a:rPr lang="en-US" sz="1800" dirty="0">
                <a:latin typeface="Verdana" panose="020B0604030504040204" pitchFamily="34" charset="0"/>
                <a:ea typeface="Verdana" panose="020B0604030504040204" pitchFamily="34" charset="0"/>
                <a:cs typeface="Verdana" panose="020B0604030504040204" pitchFamily="34" charset="0"/>
              </a:rPr>
            </a:b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lang="en-US" sz="1800" dirty="0">
                <a:latin typeface="Verdana" panose="020B0604030504040204" pitchFamily="34" charset="0"/>
                <a:ea typeface="Verdana" panose="020B0604030504040204" pitchFamily="34" charset="0"/>
                <a:cs typeface="Verdana" panose="020B0604030504040204" pitchFamily="34" charset="0"/>
              </a:rPr>
              <a:t>In Oracle Database both types of functions should have to return some values and these values should be a valid SQL or PL/SQL datatype. </a:t>
            </a:r>
            <a:br>
              <a:rPr lang="en-US" sz="1800" dirty="0">
                <a:latin typeface="Verdana" panose="020B0604030504040204" pitchFamily="34" charset="0"/>
                <a:ea typeface="Verdana" panose="020B0604030504040204" pitchFamily="34" charset="0"/>
                <a:cs typeface="Verdana" panose="020B0604030504040204" pitchFamily="34" charset="0"/>
              </a:rPr>
            </a:br>
            <a:endParaRPr lang="en-US" sz="1800" dirty="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7839B621-6EFF-4826-9C22-9E634A2B4E67}"/>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Content Placeholder 2">
            <a:extLst>
              <a:ext uri="{FF2B5EF4-FFF2-40B4-BE49-F238E27FC236}">
                <a16:creationId xmlns:a16="http://schemas.microsoft.com/office/drawing/2014/main" id="{1A118DA0-F176-4891-9938-6C3BF7294591}"/>
              </a:ext>
            </a:extLst>
          </p:cNvPr>
          <p:cNvSpPr>
            <a:spLocks noGrp="1"/>
          </p:cNvSpPr>
          <p:nvPr>
            <p:ph idx="1"/>
          </p:nvPr>
        </p:nvSpPr>
        <p:spPr>
          <a:xfrm>
            <a:off x="228600" y="152400"/>
            <a:ext cx="8286750" cy="6203950"/>
          </a:xfrm>
        </p:spPr>
        <p:txBody>
          <a:bodyPr/>
          <a:lstStyle/>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The PL/SQL Function is very similar to PL/SQL Procedure.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The main difference between procedure and a function is, a function must always return a value, and on the other hand a procedure may or may not return a value. </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Except this, all the other things of PL/SQL procedure are true for PL/SQL function too.</a:t>
            </a:r>
          </a:p>
          <a:p>
            <a:pPr marL="0" indent="0" eaLnBrk="1" hangingPunct="1">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SYNTAX:</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CREATE</a:t>
            </a:r>
            <a:r>
              <a:rPr lang="en-US" altLang="en-US" sz="1800">
                <a:latin typeface="Verdana" panose="020B0604030504040204" pitchFamily="34" charset="0"/>
                <a:ea typeface="Verdana" panose="020B0604030504040204" pitchFamily="34" charset="0"/>
                <a:cs typeface="Verdana" panose="020B0604030504040204" pitchFamily="34" charset="0"/>
              </a:rPr>
              <a:t> [OR REPLACE] </a:t>
            </a:r>
            <a:r>
              <a:rPr lang="en-US" altLang="en-US" sz="1800" b="1">
                <a:latin typeface="Verdana" panose="020B0604030504040204" pitchFamily="34" charset="0"/>
                <a:ea typeface="Verdana" panose="020B0604030504040204" pitchFamily="34" charset="0"/>
                <a:cs typeface="Verdana" panose="020B0604030504040204" pitchFamily="34" charset="0"/>
              </a:rPr>
              <a:t>FUNCTION</a:t>
            </a:r>
            <a:r>
              <a:rPr lang="en-US" altLang="en-US" sz="1800">
                <a:latin typeface="Verdana" panose="020B0604030504040204" pitchFamily="34" charset="0"/>
                <a:ea typeface="Verdana" panose="020B0604030504040204" pitchFamily="34" charset="0"/>
                <a:cs typeface="Verdana" panose="020B0604030504040204" pitchFamily="34" charset="0"/>
              </a:rPr>
              <a:t> function_name [parameters]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[(parameter_name [IN | </a:t>
            </a:r>
            <a:r>
              <a:rPr lang="en-US" altLang="en-US" sz="1800" b="1">
                <a:latin typeface="Verdana" panose="020B0604030504040204" pitchFamily="34" charset="0"/>
                <a:ea typeface="Verdana" panose="020B0604030504040204" pitchFamily="34" charset="0"/>
                <a:cs typeface="Verdana" panose="020B0604030504040204" pitchFamily="34" charset="0"/>
              </a:rPr>
              <a:t>OUT</a:t>
            </a:r>
            <a:r>
              <a:rPr lang="en-US" altLang="en-US" sz="1800">
                <a:latin typeface="Verdana" panose="020B0604030504040204" pitchFamily="34" charset="0"/>
                <a:ea typeface="Verdana" panose="020B0604030504040204" pitchFamily="34" charset="0"/>
                <a:cs typeface="Verdana" panose="020B0604030504040204" pitchFamily="34" charset="0"/>
              </a:rPr>
              <a:t> | IN </a:t>
            </a:r>
            <a:r>
              <a:rPr lang="en-US" altLang="en-US" sz="1800" b="1">
                <a:latin typeface="Verdana" panose="020B0604030504040204" pitchFamily="34" charset="0"/>
                <a:ea typeface="Verdana" panose="020B0604030504040204" pitchFamily="34" charset="0"/>
                <a:cs typeface="Verdana" panose="020B0604030504040204" pitchFamily="34" charset="0"/>
              </a:rPr>
              <a:t>OUT</a:t>
            </a:r>
            <a:r>
              <a:rPr lang="en-US" altLang="en-US" sz="1800">
                <a:latin typeface="Verdana" panose="020B0604030504040204" pitchFamily="34" charset="0"/>
                <a:ea typeface="Verdana" panose="020B0604030504040204" pitchFamily="34" charset="0"/>
                <a:cs typeface="Verdana" panose="020B0604030504040204" pitchFamily="34" charset="0"/>
              </a:rPr>
              <a:t>] type [, ...])]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RETURN</a:t>
            </a:r>
            <a:r>
              <a:rPr lang="en-US" altLang="en-US" sz="1800">
                <a:latin typeface="Verdana" panose="020B0604030504040204" pitchFamily="34" charset="0"/>
                <a:ea typeface="Verdana" panose="020B0604030504040204" pitchFamily="34" charset="0"/>
                <a:cs typeface="Verdana" panose="020B0604030504040204" pitchFamily="34" charset="0"/>
              </a:rPr>
              <a:t> return_datatype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a:t>
            </a:r>
            <a:r>
              <a:rPr lang="en-US" altLang="en-US" sz="1800" b="1">
                <a:latin typeface="Verdana" panose="020B0604030504040204" pitchFamily="34" charset="0"/>
                <a:ea typeface="Verdana" panose="020B0604030504040204" pitchFamily="34" charset="0"/>
                <a:cs typeface="Verdana" panose="020B0604030504040204" pitchFamily="34" charset="0"/>
              </a:rPr>
              <a:t>IS</a:t>
            </a:r>
            <a:r>
              <a:rPr lang="en-US" altLang="en-US" sz="1800">
                <a:latin typeface="Verdana" panose="020B0604030504040204" pitchFamily="34" charset="0"/>
                <a:ea typeface="Verdana" panose="020B0604030504040204" pitchFamily="34" charset="0"/>
                <a:cs typeface="Verdana" panose="020B0604030504040204" pitchFamily="34" charset="0"/>
              </a:rPr>
              <a:t> | </a:t>
            </a:r>
            <a:r>
              <a:rPr lang="en-US" altLang="en-US" sz="1800" b="1">
                <a:latin typeface="Verdana" panose="020B0604030504040204" pitchFamily="34" charset="0"/>
                <a:ea typeface="Verdana" panose="020B0604030504040204" pitchFamily="34" charset="0"/>
                <a:cs typeface="Verdana" panose="020B0604030504040204" pitchFamily="34" charset="0"/>
              </a:rPr>
              <a:t>AS</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BEGIN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&lt; function_body &gt;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sz="1800">
                <a:latin typeface="Verdana" panose="020B0604030504040204" pitchFamily="34" charset="0"/>
                <a:ea typeface="Verdana" panose="020B0604030504040204" pitchFamily="34" charset="0"/>
                <a:cs typeface="Verdana" panose="020B0604030504040204" pitchFamily="34" charset="0"/>
              </a:rPr>
              <a:t> [function_name]; </a:t>
            </a:r>
          </a:p>
          <a:p>
            <a:pPr marL="0" indent="0" eaLnBrk="1" hangingPunct="1">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F0045EC3-459A-4654-AC4B-8233F4E209D5}"/>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Content Placeholder 2">
            <a:extLst>
              <a:ext uri="{FF2B5EF4-FFF2-40B4-BE49-F238E27FC236}">
                <a16:creationId xmlns:a16="http://schemas.microsoft.com/office/drawing/2014/main" id="{BF8FC6E6-6CA9-42D8-8326-2DD503A8542F}"/>
              </a:ext>
            </a:extLst>
          </p:cNvPr>
          <p:cNvSpPr>
            <a:spLocks noGrp="1"/>
          </p:cNvSpPr>
          <p:nvPr>
            <p:ph idx="1"/>
          </p:nvPr>
        </p:nvSpPr>
        <p:spPr>
          <a:xfrm>
            <a:off x="628650" y="228600"/>
            <a:ext cx="7886700" cy="5948363"/>
          </a:xfrm>
        </p:spPr>
        <p:txBody>
          <a:bodyPr/>
          <a:lstStyle/>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Here:</a:t>
            </a:r>
            <a:endParaRPr lang="en-US" sz="1800" dirty="0">
              <a:latin typeface="Verdana" panose="020B0604030504040204" pitchFamily="34" charset="0"/>
              <a:ea typeface="Verdana" panose="020B0604030504040204" pitchFamily="34" charset="0"/>
              <a:cs typeface="Verdana" panose="020B0604030504040204" pitchFamily="34" charset="0"/>
            </a:endParaRPr>
          </a:p>
          <a:p>
            <a:pPr>
              <a:buFont typeface="Wingdings" panose="05000000000000000000" pitchFamily="2" charset="2"/>
              <a:buChar char="v"/>
              <a:defRPr/>
            </a:pPr>
            <a:r>
              <a:rPr lang="en-US" sz="1800" b="1" dirty="0" err="1">
                <a:latin typeface="Verdana" panose="020B0604030504040204" pitchFamily="34" charset="0"/>
                <a:ea typeface="Verdana" panose="020B0604030504040204" pitchFamily="34" charset="0"/>
                <a:cs typeface="Verdana" panose="020B0604030504040204" pitchFamily="34" charset="0"/>
              </a:rPr>
              <a:t>Function_name</a:t>
            </a:r>
            <a:r>
              <a:rPr lang="en-US" sz="1800" b="1" dirty="0">
                <a:latin typeface="Verdana" panose="020B0604030504040204" pitchFamily="34" charset="0"/>
                <a:ea typeface="Verdana" panose="020B0604030504040204" pitchFamily="34" charset="0"/>
                <a:cs typeface="Verdana" panose="020B0604030504040204" pitchFamily="34" charset="0"/>
              </a:rPr>
              <a:t>:</a:t>
            </a:r>
            <a:r>
              <a:rPr lang="en-US" sz="1800" dirty="0">
                <a:latin typeface="Verdana" panose="020B0604030504040204" pitchFamily="34" charset="0"/>
                <a:ea typeface="Verdana" panose="020B0604030504040204" pitchFamily="34" charset="0"/>
                <a:cs typeface="Verdana" panose="020B0604030504040204" pitchFamily="34" charset="0"/>
              </a:rPr>
              <a:t> specifies the name of the function.</a:t>
            </a:r>
          </a:p>
          <a:p>
            <a:pPr>
              <a:buFont typeface="Wingdings" panose="05000000000000000000" pitchFamily="2" charset="2"/>
              <a:buChar char="v"/>
              <a:defRPr/>
            </a:pPr>
            <a:r>
              <a:rPr lang="en-US" sz="1800" b="1" dirty="0">
                <a:latin typeface="Verdana" panose="020B0604030504040204" pitchFamily="34" charset="0"/>
                <a:ea typeface="Verdana" panose="020B0604030504040204" pitchFamily="34" charset="0"/>
                <a:cs typeface="Verdana" panose="020B0604030504040204" pitchFamily="34" charset="0"/>
              </a:rPr>
              <a:t>[OR REPLACE]</a:t>
            </a:r>
            <a:r>
              <a:rPr lang="en-US" sz="1800" dirty="0">
                <a:latin typeface="Verdana" panose="020B0604030504040204" pitchFamily="34" charset="0"/>
                <a:ea typeface="Verdana" panose="020B0604030504040204" pitchFamily="34" charset="0"/>
                <a:cs typeface="Verdana" panose="020B0604030504040204" pitchFamily="34" charset="0"/>
              </a:rPr>
              <a:t> option allows modifying an existing function.</a:t>
            </a:r>
          </a:p>
          <a:p>
            <a:pPr>
              <a:buFont typeface="Wingdings" panose="05000000000000000000" pitchFamily="2" charset="2"/>
              <a:buChar char="v"/>
              <a:defRPr/>
            </a:pPr>
            <a:r>
              <a:rPr lang="en-US" sz="1800" dirty="0">
                <a:latin typeface="Verdana" panose="020B0604030504040204" pitchFamily="34" charset="0"/>
                <a:ea typeface="Verdana" panose="020B0604030504040204" pitchFamily="34" charset="0"/>
                <a:cs typeface="Verdana" panose="020B0604030504040204" pitchFamily="34" charset="0"/>
              </a:rPr>
              <a:t>The </a:t>
            </a:r>
            <a:r>
              <a:rPr lang="en-US" sz="1800" b="1" dirty="0">
                <a:latin typeface="Verdana" panose="020B0604030504040204" pitchFamily="34" charset="0"/>
                <a:ea typeface="Verdana" panose="020B0604030504040204" pitchFamily="34" charset="0"/>
                <a:cs typeface="Verdana" panose="020B0604030504040204" pitchFamily="34" charset="0"/>
              </a:rPr>
              <a:t>optional parameter list</a:t>
            </a:r>
            <a:r>
              <a:rPr lang="en-US" sz="1800" dirty="0">
                <a:latin typeface="Verdana" panose="020B0604030504040204" pitchFamily="34" charset="0"/>
                <a:ea typeface="Verdana" panose="020B0604030504040204" pitchFamily="34" charset="0"/>
                <a:cs typeface="Verdana" panose="020B0604030504040204" pitchFamily="34" charset="0"/>
              </a:rPr>
              <a:t> contains name, mode and types of the parameters.</a:t>
            </a:r>
          </a:p>
          <a:p>
            <a:pPr>
              <a:buFont typeface="Wingdings" panose="05000000000000000000" pitchFamily="2" charset="2"/>
              <a:buChar char="v"/>
              <a:defRPr/>
            </a:pPr>
            <a:r>
              <a:rPr lang="en-US" sz="1800" b="1" dirty="0">
                <a:latin typeface="Verdana" panose="020B0604030504040204" pitchFamily="34" charset="0"/>
                <a:ea typeface="Verdana" panose="020B0604030504040204" pitchFamily="34" charset="0"/>
                <a:cs typeface="Verdana" panose="020B0604030504040204" pitchFamily="34" charset="0"/>
              </a:rPr>
              <a:t>IN</a:t>
            </a:r>
            <a:r>
              <a:rPr lang="en-US" sz="1800" dirty="0">
                <a:latin typeface="Verdana" panose="020B0604030504040204" pitchFamily="34" charset="0"/>
                <a:ea typeface="Verdana" panose="020B0604030504040204" pitchFamily="34" charset="0"/>
                <a:cs typeface="Verdana" panose="020B0604030504040204" pitchFamily="34" charset="0"/>
              </a:rPr>
              <a:t> represents that value will be passed from outside and OUT represents that this parameter will be used to return a value outside of the procedure.</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The function must contain a return statement.</a:t>
            </a:r>
          </a:p>
          <a:p>
            <a:pPr>
              <a:defRPr/>
            </a:pPr>
            <a:r>
              <a:rPr lang="en-US" sz="1800" dirty="0">
                <a:latin typeface="Verdana" panose="020B0604030504040204" pitchFamily="34" charset="0"/>
                <a:ea typeface="Verdana" panose="020B0604030504040204" pitchFamily="34" charset="0"/>
                <a:cs typeface="Verdana" panose="020B0604030504040204" pitchFamily="34" charset="0"/>
              </a:rPr>
              <a:t>RETURN clause specifies that data type you are going to return from the function.</a:t>
            </a:r>
          </a:p>
          <a:p>
            <a:pPr>
              <a:defRPr/>
            </a:pPr>
            <a:r>
              <a:rPr lang="en-US" sz="1800" dirty="0" err="1">
                <a:latin typeface="Verdana" panose="020B0604030504040204" pitchFamily="34" charset="0"/>
                <a:ea typeface="Verdana" panose="020B0604030504040204" pitchFamily="34" charset="0"/>
                <a:cs typeface="Verdana" panose="020B0604030504040204" pitchFamily="34" charset="0"/>
              </a:rPr>
              <a:t>Function_body</a:t>
            </a:r>
            <a:r>
              <a:rPr lang="en-US" sz="1800" dirty="0">
                <a:latin typeface="Verdana" panose="020B0604030504040204" pitchFamily="34" charset="0"/>
                <a:ea typeface="Verdana" panose="020B0604030504040204" pitchFamily="34" charset="0"/>
                <a:cs typeface="Verdana" panose="020B0604030504040204" pitchFamily="34" charset="0"/>
              </a:rPr>
              <a:t> contains the executable part.</a:t>
            </a:r>
          </a:p>
          <a:p>
            <a:pPr>
              <a:defRPr/>
            </a:pPr>
            <a:r>
              <a:rPr lang="en-US" sz="1800" dirty="0">
                <a:latin typeface="Verdana" panose="020B0604030504040204" pitchFamily="34" charset="0"/>
                <a:ea typeface="Verdana" panose="020B0604030504040204" pitchFamily="34" charset="0"/>
                <a:cs typeface="Verdana" panose="020B0604030504040204" pitchFamily="34" charset="0"/>
              </a:rPr>
              <a:t>The AS keyword is used instead of the IS keyword for creating a standalone function.</a:t>
            </a:r>
          </a:p>
          <a:p>
            <a:pPr marL="0" indent="0" eaLnBrk="1" hangingPunct="1">
              <a:buFont typeface="Arial" panose="020B0604020202020204" pitchFamily="34" charset="0"/>
              <a:buNone/>
              <a:defRPr/>
            </a:pPr>
            <a:endParaRPr lang="en-US" altLang="en-US" dirty="0"/>
          </a:p>
        </p:txBody>
      </p:sp>
      <p:sp>
        <p:nvSpPr>
          <p:cNvPr id="4" name="Date Placeholder 3">
            <a:extLst>
              <a:ext uri="{FF2B5EF4-FFF2-40B4-BE49-F238E27FC236}">
                <a16:creationId xmlns:a16="http://schemas.microsoft.com/office/drawing/2014/main" id="{6DFCE5F1-DCA3-452F-916F-5DF76698AE38}"/>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a:extLst>
              <a:ext uri="{FF2B5EF4-FFF2-40B4-BE49-F238E27FC236}">
                <a16:creationId xmlns:a16="http://schemas.microsoft.com/office/drawing/2014/main" id="{D6BCE763-D8B3-450C-A987-AAA443471413}"/>
              </a:ext>
            </a:extLst>
          </p:cNvPr>
          <p:cNvSpPr>
            <a:spLocks noGrp="1"/>
          </p:cNvSpPr>
          <p:nvPr>
            <p:ph idx="1"/>
          </p:nvPr>
        </p:nvSpPr>
        <p:spPr>
          <a:xfrm>
            <a:off x="457200" y="228600"/>
            <a:ext cx="8058150" cy="6248400"/>
          </a:xfrm>
        </p:spPr>
        <p:txBody>
          <a:bodyPr/>
          <a:lstStyle/>
          <a:p>
            <a:pPr marL="0" indent="0">
              <a:buFont typeface="Arial" panose="020B0604020202020204" pitchFamily="34" charset="0"/>
              <a:buNone/>
            </a:pPr>
            <a:r>
              <a:rPr lang="en-US" altLang="en-US" sz="1800" b="1" u="sng">
                <a:latin typeface="Verdana" panose="020B0604030504040204" pitchFamily="34" charset="0"/>
                <a:ea typeface="Verdana" panose="020B0604030504040204" pitchFamily="34" charset="0"/>
                <a:cs typeface="Verdana" panose="020B0604030504040204" pitchFamily="34" charset="0"/>
              </a:rPr>
              <a:t>STEP 1: CREATE A FUNCTION</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create</a:t>
            </a:r>
            <a:r>
              <a:rPr lang="en-US" altLang="en-US" sz="1800">
                <a:latin typeface="Verdana" panose="020B0604030504040204" pitchFamily="34" charset="0"/>
                <a:ea typeface="Verdana" panose="020B0604030504040204" pitchFamily="34" charset="0"/>
                <a:cs typeface="Verdana" panose="020B0604030504040204" pitchFamily="34" charset="0"/>
              </a:rPr>
              <a:t> or replace </a:t>
            </a:r>
            <a:r>
              <a:rPr lang="en-US" altLang="en-US" sz="1800" b="1">
                <a:latin typeface="Verdana" panose="020B0604030504040204" pitchFamily="34" charset="0"/>
                <a:ea typeface="Verdana" panose="020B0604030504040204" pitchFamily="34" charset="0"/>
                <a:cs typeface="Verdana" panose="020B0604030504040204" pitchFamily="34" charset="0"/>
              </a:rPr>
              <a:t>function</a:t>
            </a:r>
            <a:r>
              <a:rPr lang="en-US" altLang="en-US" sz="1800">
                <a:latin typeface="Verdana" panose="020B0604030504040204" pitchFamily="34" charset="0"/>
                <a:ea typeface="Verdana" panose="020B0604030504040204" pitchFamily="34" charset="0"/>
                <a:cs typeface="Verdana" panose="020B0604030504040204" pitchFamily="34" charset="0"/>
              </a:rPr>
              <a:t> adder(n1 in number, n2 in number)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return</a:t>
            </a:r>
            <a:r>
              <a:rPr lang="en-US" altLang="en-US" sz="1800">
                <a:latin typeface="Verdana" panose="020B0604030504040204" pitchFamily="34" charset="0"/>
                <a:ea typeface="Verdana" panose="020B0604030504040204" pitchFamily="34" charset="0"/>
                <a:cs typeface="Verdana" panose="020B0604030504040204" pitchFamily="34" charset="0"/>
              </a:rPr>
              <a:t> number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is</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n3 number(8);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begin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n3 :=n1+n2;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return</a:t>
            </a:r>
            <a:r>
              <a:rPr lang="en-US" altLang="en-US" sz="1800">
                <a:latin typeface="Verdana" panose="020B0604030504040204" pitchFamily="34" charset="0"/>
                <a:ea typeface="Verdana" panose="020B0604030504040204" pitchFamily="34" charset="0"/>
                <a:cs typeface="Verdana" panose="020B0604030504040204" pitchFamily="34" charset="0"/>
              </a:rPr>
              <a:t> n3;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b="1" u="sng">
                <a:latin typeface="Verdana" panose="020B0604030504040204" pitchFamily="34" charset="0"/>
                <a:ea typeface="Verdana" panose="020B0604030504040204" pitchFamily="34" charset="0"/>
                <a:cs typeface="Verdana" panose="020B0604030504040204" pitchFamily="34" charset="0"/>
              </a:rPr>
              <a:t>STEP 2: CALL THE FUNCTION:</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DECLARE</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n3 number(2);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BEGIN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n3 := adder(11,22);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dbms_output.put_line('Addition is: ' || n3);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a:t>;    </a:t>
            </a:r>
          </a:p>
          <a:p>
            <a:pPr marL="0" indent="0">
              <a:buFont typeface="Arial" panose="020B0604020202020204" pitchFamily="34" charset="0"/>
              <a:buNone/>
            </a:pPr>
            <a:r>
              <a:rPr lang="en-US" altLang="en-US"/>
              <a:t>/    </a:t>
            </a:r>
          </a:p>
          <a:p>
            <a:pPr marL="0" indent="0">
              <a:buFont typeface="Arial" panose="020B0604020202020204" pitchFamily="34" charset="0"/>
              <a:buNone/>
            </a:pPr>
            <a:endParaRPr lang="en-US" altLang="en-US"/>
          </a:p>
          <a:p>
            <a:pPr marL="0" indent="0">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2D90B68D-98E2-4395-9DB1-43A6BEC32890}"/>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2">
            <a:extLst>
              <a:ext uri="{FF2B5EF4-FFF2-40B4-BE49-F238E27FC236}">
                <a16:creationId xmlns:a16="http://schemas.microsoft.com/office/drawing/2014/main" id="{AC80CB64-64E2-4275-8E02-9B0450920EAC}"/>
              </a:ext>
            </a:extLst>
          </p:cNvPr>
          <p:cNvSpPr>
            <a:spLocks noGrp="1"/>
          </p:cNvSpPr>
          <p:nvPr>
            <p:ph idx="1"/>
          </p:nvPr>
        </p:nvSpPr>
        <p:spPr>
          <a:xfrm>
            <a:off x="628650" y="152400"/>
            <a:ext cx="7886700" cy="6024563"/>
          </a:xfrm>
        </p:spPr>
        <p:txBody>
          <a:bodyPr/>
          <a:lstStyle/>
          <a:p>
            <a:pPr marL="0" indent="0">
              <a:buFont typeface="Arial" panose="020B0604020202020204" pitchFamily="34" charset="0"/>
              <a:buNone/>
            </a:pPr>
            <a:r>
              <a:rPr lang="en-US" altLang="en-US" sz="1800" b="1" u="sng">
                <a:latin typeface="Verdana" panose="020B0604030504040204" pitchFamily="34" charset="0"/>
                <a:ea typeface="Verdana" panose="020B0604030504040204" pitchFamily="34" charset="0"/>
                <a:cs typeface="Verdana" panose="020B0604030504040204" pitchFamily="34" charset="0"/>
              </a:rPr>
              <a:t>Another PL/SQL Function Example</a:t>
            </a:r>
          </a:p>
          <a:p>
            <a:pPr marL="0" indent="0">
              <a:buFont typeface="Arial" panose="020B0604020202020204" pitchFamily="34" charset="0"/>
              <a:buNone/>
            </a:pPr>
            <a:r>
              <a:rPr lang="en-US" altLang="en-US" sz="1600" b="1">
                <a:latin typeface="Verdana" panose="020B0604030504040204" pitchFamily="34" charset="0"/>
                <a:ea typeface="Verdana" panose="020B0604030504040204" pitchFamily="34" charset="0"/>
                <a:cs typeface="Verdana" panose="020B0604030504040204" pitchFamily="34" charset="0"/>
              </a:rPr>
              <a:t>DECLARE</a:t>
            </a:r>
            <a:r>
              <a:rPr lang="en-US" altLang="en-US" sz="16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a number;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b number;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c number;  </a:t>
            </a:r>
          </a:p>
          <a:p>
            <a:pPr marL="0" indent="0">
              <a:buFont typeface="Arial" panose="020B0604020202020204" pitchFamily="34" charset="0"/>
              <a:buNone/>
            </a:pPr>
            <a:r>
              <a:rPr lang="en-US" altLang="en-US" sz="1600" b="1">
                <a:latin typeface="Verdana" panose="020B0604030504040204" pitchFamily="34" charset="0"/>
                <a:ea typeface="Verdana" panose="020B0604030504040204" pitchFamily="34" charset="0"/>
                <a:cs typeface="Verdana" panose="020B0604030504040204" pitchFamily="34" charset="0"/>
              </a:rPr>
              <a:t>FUNCTION</a:t>
            </a:r>
            <a:r>
              <a:rPr lang="en-US" altLang="en-US" sz="1600">
                <a:latin typeface="Verdana" panose="020B0604030504040204" pitchFamily="34" charset="0"/>
                <a:ea typeface="Verdana" panose="020B0604030504040204" pitchFamily="34" charset="0"/>
                <a:cs typeface="Verdana" panose="020B0604030504040204" pitchFamily="34" charset="0"/>
              </a:rPr>
              <a:t> findMax(x IN number, y IN number)   </a:t>
            </a:r>
          </a:p>
          <a:p>
            <a:pPr marL="0" indent="0">
              <a:buFont typeface="Arial" panose="020B0604020202020204" pitchFamily="34" charset="0"/>
              <a:buNone/>
            </a:pPr>
            <a:r>
              <a:rPr lang="en-US" altLang="en-US" sz="1600" b="1">
                <a:latin typeface="Verdana" panose="020B0604030504040204" pitchFamily="34" charset="0"/>
                <a:ea typeface="Verdana" panose="020B0604030504040204" pitchFamily="34" charset="0"/>
                <a:cs typeface="Verdana" panose="020B0604030504040204" pitchFamily="34" charset="0"/>
              </a:rPr>
              <a:t>RETURN</a:t>
            </a:r>
            <a:r>
              <a:rPr lang="en-US" altLang="en-US" sz="1600">
                <a:latin typeface="Verdana" panose="020B0604030504040204" pitchFamily="34" charset="0"/>
                <a:ea typeface="Verdana" panose="020B0604030504040204" pitchFamily="34" charset="0"/>
                <a:cs typeface="Verdana" panose="020B0604030504040204" pitchFamily="34" charset="0"/>
              </a:rPr>
              <a:t> number  </a:t>
            </a:r>
          </a:p>
          <a:p>
            <a:pPr marL="0" indent="0">
              <a:buFont typeface="Arial" panose="020B0604020202020204" pitchFamily="34" charset="0"/>
              <a:buNone/>
            </a:pPr>
            <a:r>
              <a:rPr lang="en-US" altLang="en-US" sz="1600" b="1">
                <a:latin typeface="Verdana" panose="020B0604030504040204" pitchFamily="34" charset="0"/>
                <a:ea typeface="Verdana" panose="020B0604030504040204" pitchFamily="34" charset="0"/>
                <a:cs typeface="Verdana" panose="020B0604030504040204" pitchFamily="34" charset="0"/>
              </a:rPr>
              <a:t>IS</a:t>
            </a:r>
            <a:r>
              <a:rPr lang="en-US" altLang="en-US" sz="16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z number;  </a:t>
            </a:r>
          </a:p>
          <a:p>
            <a:pPr marL="0" indent="0">
              <a:buFont typeface="Arial" panose="020B0604020202020204" pitchFamily="34" charset="0"/>
              <a:buNone/>
            </a:pPr>
            <a:r>
              <a:rPr lang="en-US" altLang="en-US" sz="1600" b="1">
                <a:latin typeface="Verdana" panose="020B0604030504040204" pitchFamily="34" charset="0"/>
                <a:ea typeface="Verdana" panose="020B0604030504040204" pitchFamily="34" charset="0"/>
                <a:cs typeface="Verdana" panose="020B0604030504040204" pitchFamily="34" charset="0"/>
              </a:rPr>
              <a:t>BEGIN</a:t>
            </a:r>
            <a:r>
              <a:rPr lang="en-US" altLang="en-US" sz="16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IF x &gt; y </a:t>
            </a:r>
            <a:r>
              <a:rPr lang="en-US" altLang="en-US" sz="1600" b="1">
                <a:latin typeface="Verdana" panose="020B0604030504040204" pitchFamily="34" charset="0"/>
                <a:ea typeface="Verdana" panose="020B0604030504040204" pitchFamily="34" charset="0"/>
                <a:cs typeface="Verdana" panose="020B0604030504040204" pitchFamily="34" charset="0"/>
              </a:rPr>
              <a:t>THEN</a:t>
            </a:r>
            <a:r>
              <a:rPr lang="en-US" altLang="en-US" sz="16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z:= x;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a:t>
            </a:r>
            <a:r>
              <a:rPr lang="en-US" altLang="en-US" sz="1600" b="1">
                <a:latin typeface="Verdana" panose="020B0604030504040204" pitchFamily="34" charset="0"/>
                <a:ea typeface="Verdana" panose="020B0604030504040204" pitchFamily="34" charset="0"/>
                <a:cs typeface="Verdana" panose="020B0604030504040204" pitchFamily="34" charset="0"/>
              </a:rPr>
              <a:t>ELSE</a:t>
            </a:r>
            <a:r>
              <a:rPr lang="en-US" altLang="en-US" sz="16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Z:= y;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a:t>
            </a:r>
            <a:r>
              <a:rPr lang="en-US" altLang="en-US" sz="1600" b="1">
                <a:latin typeface="Verdana" panose="020B0604030504040204" pitchFamily="34" charset="0"/>
                <a:ea typeface="Verdana" panose="020B0604030504040204" pitchFamily="34" charset="0"/>
                <a:cs typeface="Verdana" panose="020B0604030504040204" pitchFamily="34" charset="0"/>
              </a:rPr>
              <a:t>END</a:t>
            </a:r>
            <a:r>
              <a:rPr lang="en-US" altLang="en-US" sz="1600">
                <a:latin typeface="Verdana" panose="020B0604030504040204" pitchFamily="34" charset="0"/>
                <a:ea typeface="Verdana" panose="020B0604030504040204" pitchFamily="34" charset="0"/>
                <a:cs typeface="Verdana" panose="020B0604030504040204" pitchFamily="34" charset="0"/>
              </a:rPr>
              <a:t> IF;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a:t>
            </a:r>
            <a:r>
              <a:rPr lang="en-US" altLang="en-US" sz="1600" b="1">
                <a:latin typeface="Verdana" panose="020B0604030504040204" pitchFamily="34" charset="0"/>
                <a:ea typeface="Verdana" panose="020B0604030504040204" pitchFamily="34" charset="0"/>
                <a:cs typeface="Verdana" panose="020B0604030504040204" pitchFamily="34" charset="0"/>
              </a:rPr>
              <a:t>RETURN</a:t>
            </a:r>
            <a:r>
              <a:rPr lang="en-US" altLang="en-US" sz="1600">
                <a:latin typeface="Verdana" panose="020B0604030504040204" pitchFamily="34" charset="0"/>
                <a:ea typeface="Verdana" panose="020B0604030504040204" pitchFamily="34" charset="0"/>
                <a:cs typeface="Verdana" panose="020B0604030504040204" pitchFamily="34" charset="0"/>
              </a:rPr>
              <a:t> z;  </a:t>
            </a:r>
          </a:p>
          <a:p>
            <a:pPr marL="0" indent="0">
              <a:buFont typeface="Arial" panose="020B0604020202020204" pitchFamily="34" charset="0"/>
              <a:buNone/>
            </a:pPr>
            <a:r>
              <a:rPr lang="en-US" altLang="en-US" sz="1600" b="1">
                <a:latin typeface="Verdana" panose="020B0604030504040204" pitchFamily="34" charset="0"/>
                <a:ea typeface="Verdana" panose="020B0604030504040204" pitchFamily="34" charset="0"/>
                <a:cs typeface="Verdana" panose="020B0604030504040204" pitchFamily="34" charset="0"/>
              </a:rPr>
              <a:t>END</a:t>
            </a:r>
            <a:r>
              <a:rPr lang="en-US" altLang="en-US" sz="1600">
                <a:latin typeface="Verdana" panose="020B0604030504040204" pitchFamily="34" charset="0"/>
                <a:ea typeface="Verdana" panose="020B0604030504040204" pitchFamily="34" charset="0"/>
                <a:cs typeface="Verdana" panose="020B0604030504040204" pitchFamily="34" charset="0"/>
              </a:rPr>
              <a:t>;                                                                         cont.</a:t>
            </a:r>
          </a:p>
          <a:p>
            <a:pPr marL="0" indent="0">
              <a:buFont typeface="Arial" panose="020B0604020202020204" pitchFamily="34" charset="0"/>
              <a:buNone/>
            </a:pPr>
            <a:endParaRPr lang="en-US" altLang="en-US" b="1"/>
          </a:p>
        </p:txBody>
      </p:sp>
      <p:sp>
        <p:nvSpPr>
          <p:cNvPr id="4" name="Date Placeholder 3">
            <a:extLst>
              <a:ext uri="{FF2B5EF4-FFF2-40B4-BE49-F238E27FC236}">
                <a16:creationId xmlns:a16="http://schemas.microsoft.com/office/drawing/2014/main" id="{F6BD1273-6854-4E75-BDEF-BD019A0B9A59}"/>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a:extLst>
              <a:ext uri="{FF2B5EF4-FFF2-40B4-BE49-F238E27FC236}">
                <a16:creationId xmlns:a16="http://schemas.microsoft.com/office/drawing/2014/main" id="{8C2311E1-167C-4E4A-A845-54BE16175FA3}"/>
              </a:ext>
            </a:extLst>
          </p:cNvPr>
          <p:cNvSpPr>
            <a:spLocks noGrp="1"/>
          </p:cNvSpPr>
          <p:nvPr>
            <p:ph idx="1"/>
          </p:nvPr>
        </p:nvSpPr>
        <p:spPr>
          <a:xfrm>
            <a:off x="588963" y="152400"/>
            <a:ext cx="7886700" cy="5948363"/>
          </a:xfrm>
        </p:spPr>
        <p:txBody>
          <a:bodyPr/>
          <a:lstStyle/>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BEGIN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 23;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b:= 45;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 := findMax(a, b);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 Maximum of (23,45): ' || c);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OUTPUT:</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Maximum of (23,45): 45</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Statement processed.</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0.02 seconds</a:t>
            </a:r>
          </a:p>
        </p:txBody>
      </p:sp>
      <p:sp>
        <p:nvSpPr>
          <p:cNvPr id="4" name="Date Placeholder 3">
            <a:extLst>
              <a:ext uri="{FF2B5EF4-FFF2-40B4-BE49-F238E27FC236}">
                <a16:creationId xmlns:a16="http://schemas.microsoft.com/office/drawing/2014/main" id="{814F53AC-1AB0-42C0-B114-507AD3D6EF34}"/>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41CD28-B4A9-47B4-85BE-212F7FF27D5C}"/>
              </a:ext>
            </a:extLst>
          </p:cNvPr>
          <p:cNvSpPr>
            <a:spLocks noGrp="1"/>
          </p:cNvSpPr>
          <p:nvPr>
            <p:ph idx="1"/>
          </p:nvPr>
        </p:nvSpPr>
        <p:spPr>
          <a:xfrm>
            <a:off x="381000" y="7938"/>
            <a:ext cx="8305800" cy="6348412"/>
          </a:xfrm>
        </p:spPr>
        <p:txBody>
          <a:bodyPr/>
          <a:lstStyle/>
          <a:p>
            <a:pPr marL="0" indent="0">
              <a:buFont typeface="Arial" panose="020B0604020202020204" pitchFamily="34" charset="0"/>
              <a:buNone/>
              <a:defRPr/>
            </a:pPr>
            <a:r>
              <a:rPr lang="en-US" sz="1800" b="1" u="sng" dirty="0">
                <a:latin typeface="Verdana" panose="020B0604030504040204" pitchFamily="34" charset="0"/>
                <a:ea typeface="Verdana" panose="020B0604030504040204" pitchFamily="34" charset="0"/>
                <a:cs typeface="Verdana" panose="020B0604030504040204" pitchFamily="34" charset="0"/>
              </a:rPr>
              <a:t>PL/SQL function example using table</a:t>
            </a:r>
          </a:p>
          <a:p>
            <a:pPr marL="0" indent="0">
              <a:buFont typeface="Arial" panose="020B0604020202020204" pitchFamily="34" charset="0"/>
              <a:buNone/>
              <a:defRPr/>
            </a:pPr>
            <a:r>
              <a:rPr lang="en-US" dirty="0"/>
              <a:t>Create Customer table and Have record in it:</a:t>
            </a:r>
          </a:p>
          <a:p>
            <a:pPr marL="0" indent="0">
              <a:buFont typeface="Arial" panose="020B0604020202020204" pitchFamily="34" charset="0"/>
              <a:buNone/>
              <a:defRPr/>
            </a:pPr>
            <a:r>
              <a:rPr lang="en-US" sz="1800" b="1" dirty="0">
                <a:latin typeface="Courier New" panose="02070309020205020404" pitchFamily="49" charset="0"/>
                <a:cs typeface="Courier New" panose="02070309020205020404" pitchFamily="49" charset="0"/>
              </a:rPr>
              <a:t>Id	Name	     Department			Salary</a:t>
            </a:r>
          </a:p>
          <a:p>
            <a:pPr marL="0" indent="0">
              <a:buFont typeface="Arial" panose="020B0604020202020204" pitchFamily="34" charset="0"/>
              <a:buNone/>
              <a:defRPr/>
            </a:pPr>
            <a:r>
              <a:rPr lang="en-US" sz="1800" b="1" dirty="0">
                <a:latin typeface="Courier New" panose="02070309020205020404" pitchFamily="49" charset="0"/>
                <a:cs typeface="Courier New" panose="02070309020205020404" pitchFamily="49" charset="0"/>
              </a:rPr>
              <a:t>1	</a:t>
            </a:r>
            <a:r>
              <a:rPr lang="en-US" sz="1800" b="1" dirty="0" err="1">
                <a:latin typeface="Courier New" panose="02070309020205020404" pitchFamily="49" charset="0"/>
                <a:cs typeface="Courier New" panose="02070309020205020404" pitchFamily="49" charset="0"/>
              </a:rPr>
              <a:t>alex</a:t>
            </a:r>
            <a:r>
              <a:rPr lang="en-US" sz="1800" b="1" dirty="0">
                <a:latin typeface="Courier New" panose="02070309020205020404" pitchFamily="49" charset="0"/>
                <a:cs typeface="Courier New" panose="02070309020205020404" pitchFamily="49" charset="0"/>
              </a:rPr>
              <a:t>	web  developer			35000</a:t>
            </a:r>
          </a:p>
          <a:p>
            <a:pPr marL="0" indent="0">
              <a:buFont typeface="Arial" panose="020B0604020202020204" pitchFamily="34" charset="0"/>
              <a:buNone/>
              <a:defRPr/>
            </a:pPr>
            <a:r>
              <a:rPr lang="en-US" sz="1800" b="1" dirty="0">
                <a:latin typeface="Courier New" panose="02070309020205020404" pitchFamily="49" charset="0"/>
                <a:cs typeface="Courier New" panose="02070309020205020404" pitchFamily="49" charset="0"/>
              </a:rPr>
              <a:t>2	</a:t>
            </a:r>
            <a:r>
              <a:rPr lang="en-US" sz="1800" b="1" dirty="0" err="1">
                <a:latin typeface="Courier New" panose="02070309020205020404" pitchFamily="49" charset="0"/>
                <a:cs typeface="Courier New" panose="02070309020205020404" pitchFamily="49" charset="0"/>
              </a:rPr>
              <a:t>ricky</a:t>
            </a:r>
            <a:r>
              <a:rPr lang="en-US" sz="1800" b="1" dirty="0">
                <a:latin typeface="Courier New" panose="02070309020205020404" pitchFamily="49" charset="0"/>
                <a:cs typeface="Courier New" panose="02070309020205020404" pitchFamily="49" charset="0"/>
              </a:rPr>
              <a:t>	     program developer	45000</a:t>
            </a:r>
          </a:p>
          <a:p>
            <a:pPr marL="0" indent="0">
              <a:buFont typeface="Arial" panose="020B0604020202020204" pitchFamily="34" charset="0"/>
              <a:buNone/>
              <a:defRPr/>
            </a:pPr>
            <a:r>
              <a:rPr lang="en-US" sz="1800" b="1" dirty="0">
                <a:latin typeface="Courier New" panose="02070309020205020404" pitchFamily="49" charset="0"/>
                <a:cs typeface="Courier New" panose="02070309020205020404" pitchFamily="49" charset="0"/>
              </a:rPr>
              <a:t>3	</a:t>
            </a:r>
            <a:r>
              <a:rPr lang="en-US" sz="1800" b="1" dirty="0" err="1">
                <a:latin typeface="Courier New" panose="02070309020205020404" pitchFamily="49" charset="0"/>
                <a:cs typeface="Courier New" panose="02070309020205020404" pitchFamily="49" charset="0"/>
              </a:rPr>
              <a:t>mohan</a:t>
            </a:r>
            <a:r>
              <a:rPr lang="en-US" sz="1800" b="1" dirty="0">
                <a:latin typeface="Courier New" panose="02070309020205020404" pitchFamily="49" charset="0"/>
                <a:cs typeface="Courier New" panose="02070309020205020404" pitchFamily="49" charset="0"/>
              </a:rPr>
              <a:t>	web  designer			35000</a:t>
            </a:r>
          </a:p>
          <a:p>
            <a:pPr marL="342900" indent="-342900">
              <a:buFont typeface="Arial" panose="020B0604020202020204" pitchFamily="34" charset="0"/>
              <a:buAutoNum type="arabicPlain" startAt="4"/>
              <a:defRPr/>
            </a:pP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dilshad</a:t>
            </a:r>
            <a:r>
              <a:rPr lang="en-US" sz="1800" b="1" dirty="0">
                <a:latin typeface="Courier New" panose="02070309020205020404" pitchFamily="49" charset="0"/>
                <a:cs typeface="Courier New" panose="02070309020205020404" pitchFamily="49" charset="0"/>
              </a:rPr>
              <a:t>	database manager	44000</a:t>
            </a:r>
          </a:p>
          <a:p>
            <a:pPr marL="0" indent="0">
              <a:buFont typeface="Arial" panose="020B0604020202020204" pitchFamily="34" charset="0"/>
              <a:buNone/>
              <a:defRPr/>
            </a:pPr>
            <a:r>
              <a:rPr lang="en-US" sz="1800" b="1" u="sng" dirty="0">
                <a:latin typeface="Courier New" panose="02070309020205020404" pitchFamily="49" charset="0"/>
                <a:cs typeface="Courier New" panose="02070309020205020404" pitchFamily="49" charset="0"/>
              </a:rPr>
              <a:t>STEP 1: Create Function:</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CREATE</a:t>
            </a:r>
            <a:r>
              <a:rPr lang="en-US" sz="1800" dirty="0">
                <a:latin typeface="Verdana" panose="020B0604030504040204" pitchFamily="34" charset="0"/>
                <a:ea typeface="Verdana" panose="020B0604030504040204" pitchFamily="34" charset="0"/>
                <a:cs typeface="Verdana" panose="020B0604030504040204" pitchFamily="34" charset="0"/>
              </a:rPr>
              <a:t> OR REPLACE </a:t>
            </a:r>
            <a:r>
              <a:rPr lang="en-US" sz="1800" b="1" dirty="0">
                <a:latin typeface="Verdana" panose="020B0604030504040204" pitchFamily="34" charset="0"/>
                <a:ea typeface="Verdana" panose="020B0604030504040204" pitchFamily="34" charset="0"/>
                <a:cs typeface="Verdana" panose="020B0604030504040204" pitchFamily="34" charset="0"/>
              </a:rPr>
              <a:t>FUNCTION</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dirty="0" err="1">
                <a:latin typeface="Verdana" panose="020B0604030504040204" pitchFamily="34" charset="0"/>
                <a:ea typeface="Verdana" panose="020B0604030504040204" pitchFamily="34" charset="0"/>
                <a:cs typeface="Verdana" panose="020B0604030504040204" pitchFamily="34" charset="0"/>
              </a:rPr>
              <a:t>totalCustomers</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RETURN</a:t>
            </a:r>
            <a:r>
              <a:rPr lang="en-US" sz="1800" dirty="0">
                <a:latin typeface="Verdana" panose="020B0604030504040204" pitchFamily="34" charset="0"/>
                <a:ea typeface="Verdana" panose="020B0604030504040204" pitchFamily="34" charset="0"/>
                <a:cs typeface="Verdana" panose="020B0604030504040204" pitchFamily="34" charset="0"/>
              </a:rPr>
              <a:t> number </a:t>
            </a:r>
            <a:r>
              <a:rPr lang="en-US" sz="1800" b="1" dirty="0">
                <a:latin typeface="Verdana" panose="020B0604030504040204" pitchFamily="34" charset="0"/>
                <a:ea typeface="Verdana" panose="020B0604030504040204" pitchFamily="34" charset="0"/>
                <a:cs typeface="Verdana" panose="020B0604030504040204" pitchFamily="34" charset="0"/>
              </a:rPr>
              <a:t>IS</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total number(2) := 0;  </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BEGIN</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SELECT</a:t>
            </a:r>
            <a:r>
              <a:rPr lang="en-US" sz="1800" dirty="0">
                <a:latin typeface="Verdana" panose="020B0604030504040204" pitchFamily="34" charset="0"/>
                <a:ea typeface="Verdana" panose="020B0604030504040204" pitchFamily="34" charset="0"/>
                <a:cs typeface="Verdana" panose="020B0604030504040204" pitchFamily="34" charset="0"/>
              </a:rPr>
              <a:t> count(*) </a:t>
            </a:r>
            <a:r>
              <a:rPr lang="en-US" sz="1800" b="1" dirty="0">
                <a:latin typeface="Verdana" panose="020B0604030504040204" pitchFamily="34" charset="0"/>
                <a:ea typeface="Verdana" panose="020B0604030504040204" pitchFamily="34" charset="0"/>
                <a:cs typeface="Verdana" panose="020B0604030504040204" pitchFamily="34" charset="0"/>
              </a:rPr>
              <a:t>into</a:t>
            </a:r>
            <a:r>
              <a:rPr lang="en-US" sz="1800" dirty="0">
                <a:latin typeface="Verdana" panose="020B0604030504040204" pitchFamily="34" charset="0"/>
                <a:ea typeface="Verdana" panose="020B0604030504040204" pitchFamily="34" charset="0"/>
                <a:cs typeface="Verdana" panose="020B0604030504040204" pitchFamily="34" charset="0"/>
              </a:rPr>
              <a:t> total  </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FROM</a:t>
            </a:r>
            <a:r>
              <a:rPr lang="en-US" sz="1800" dirty="0">
                <a:latin typeface="Verdana" panose="020B0604030504040204" pitchFamily="34" charset="0"/>
                <a:ea typeface="Verdana" panose="020B0604030504040204" pitchFamily="34" charset="0"/>
                <a:cs typeface="Verdana" panose="020B0604030504040204" pitchFamily="34" charset="0"/>
              </a:rPr>
              <a:t> customers;  </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RETURN</a:t>
            </a:r>
            <a:r>
              <a:rPr lang="en-US" sz="1800" dirty="0">
                <a:latin typeface="Verdana" panose="020B0604030504040204" pitchFamily="34" charset="0"/>
                <a:ea typeface="Verdana" panose="020B0604030504040204" pitchFamily="34" charset="0"/>
                <a:cs typeface="Verdana" panose="020B0604030504040204" pitchFamily="34" charset="0"/>
              </a:rPr>
              <a:t> total;  </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END</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defRPr/>
            </a:pPr>
            <a:endParaRPr lang="en-US" sz="1800" b="1" dirty="0">
              <a:latin typeface="Courier New" panose="02070309020205020404" pitchFamily="49" charset="0"/>
              <a:cs typeface="Courier New" panose="02070309020205020404" pitchFamily="49" charset="0"/>
            </a:endParaRPr>
          </a:p>
        </p:txBody>
      </p:sp>
      <p:sp>
        <p:nvSpPr>
          <p:cNvPr id="4" name="Date Placeholder 3">
            <a:extLst>
              <a:ext uri="{FF2B5EF4-FFF2-40B4-BE49-F238E27FC236}">
                <a16:creationId xmlns:a16="http://schemas.microsoft.com/office/drawing/2014/main" id="{F2348429-4767-405A-8FF4-A8509912ABEE}"/>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A088BF-C034-4565-9AE5-01C1795463E9}"/>
              </a:ext>
            </a:extLst>
          </p:cNvPr>
          <p:cNvSpPr>
            <a:spLocks noGrp="1"/>
          </p:cNvSpPr>
          <p:nvPr>
            <p:ph idx="1"/>
          </p:nvPr>
        </p:nvSpPr>
        <p:spPr>
          <a:xfrm>
            <a:off x="533400" y="304800"/>
            <a:ext cx="7981950" cy="6051550"/>
          </a:xfrm>
        </p:spPr>
        <p:txBody>
          <a:bodyPr/>
          <a:lstStyle/>
          <a:p>
            <a:pPr marL="0" indent="0">
              <a:buFont typeface="Arial" panose="020B0604020202020204" pitchFamily="34" charset="0"/>
              <a:buNone/>
              <a:defRPr/>
            </a:pPr>
            <a:r>
              <a:rPr lang="en-US" sz="1800" b="1" u="sng" dirty="0">
                <a:latin typeface="Verdana" panose="020B0604030504040204" pitchFamily="34" charset="0"/>
                <a:ea typeface="Verdana" panose="020B0604030504040204" pitchFamily="34" charset="0"/>
                <a:cs typeface="Verdana" panose="020B0604030504040204" pitchFamily="34" charset="0"/>
              </a:rPr>
              <a:t>STEP 2: CALLING FUNCTION:</a:t>
            </a:r>
          </a:p>
          <a:p>
            <a:pPr>
              <a:buFont typeface="Wingdings" panose="05000000000000000000" pitchFamily="2" charset="2"/>
              <a:buChar char="v"/>
              <a:defRPr/>
            </a:pPr>
            <a:r>
              <a:rPr lang="en-US" sz="1800" dirty="0">
                <a:latin typeface="Verdana" panose="020B0604030504040204" pitchFamily="34" charset="0"/>
                <a:ea typeface="Verdana" panose="020B0604030504040204" pitchFamily="34" charset="0"/>
                <a:cs typeface="Verdana" panose="020B0604030504040204" pitchFamily="34" charset="0"/>
              </a:rPr>
              <a:t>While creating a function, you have to give a definition of what the function has to do. To use a function, you will have to call that function to perform the defined task. Once the function is called, the program control is transferred to the called function.</a:t>
            </a:r>
          </a:p>
          <a:p>
            <a:pPr>
              <a:buFont typeface="Wingdings" panose="05000000000000000000" pitchFamily="2" charset="2"/>
              <a:buChar char="v"/>
              <a:defRPr/>
            </a:pPr>
            <a:r>
              <a:rPr lang="en-US" sz="1800" dirty="0">
                <a:latin typeface="Verdana" panose="020B0604030504040204" pitchFamily="34" charset="0"/>
                <a:ea typeface="Verdana" panose="020B0604030504040204" pitchFamily="34" charset="0"/>
                <a:cs typeface="Verdana" panose="020B0604030504040204" pitchFamily="34" charset="0"/>
              </a:rPr>
              <a:t>After the successful completion of the defined task, the call function returns program control back to the main program.</a:t>
            </a:r>
          </a:p>
          <a:p>
            <a:pPr>
              <a:buFont typeface="Wingdings" panose="05000000000000000000" pitchFamily="2" charset="2"/>
              <a:buChar char="v"/>
              <a:defRPr/>
            </a:pPr>
            <a:r>
              <a:rPr lang="en-US" sz="1800" dirty="0">
                <a:latin typeface="Verdana" panose="020B0604030504040204" pitchFamily="34" charset="0"/>
                <a:ea typeface="Verdana" panose="020B0604030504040204" pitchFamily="34" charset="0"/>
                <a:cs typeface="Verdana" panose="020B0604030504040204" pitchFamily="34" charset="0"/>
              </a:rPr>
              <a:t>To call a function you have to pass the required parameters along with function name and if function returns a value then you can store returned value. Following program calls the function </a:t>
            </a:r>
            <a:r>
              <a:rPr lang="en-US" sz="1800" dirty="0" err="1">
                <a:latin typeface="Verdana" panose="020B0604030504040204" pitchFamily="34" charset="0"/>
                <a:ea typeface="Verdana" panose="020B0604030504040204" pitchFamily="34" charset="0"/>
                <a:cs typeface="Verdana" panose="020B0604030504040204" pitchFamily="34" charset="0"/>
              </a:rPr>
              <a:t>totalCustomers</a:t>
            </a:r>
            <a:r>
              <a:rPr lang="en-US" sz="1800" dirty="0">
                <a:latin typeface="Verdana" panose="020B0604030504040204" pitchFamily="34" charset="0"/>
                <a:ea typeface="Verdana" panose="020B0604030504040204" pitchFamily="34" charset="0"/>
                <a:cs typeface="Verdana" panose="020B0604030504040204" pitchFamily="34" charset="0"/>
              </a:rPr>
              <a:t>:</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DECLARE</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c number(2);  </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BEGIN</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c := </a:t>
            </a:r>
            <a:r>
              <a:rPr lang="en-US" sz="1800" dirty="0" err="1">
                <a:latin typeface="Verdana" panose="020B0604030504040204" pitchFamily="34" charset="0"/>
                <a:ea typeface="Verdana" panose="020B0604030504040204" pitchFamily="34" charset="0"/>
                <a:cs typeface="Verdana" panose="020B0604030504040204" pitchFamily="34" charset="0"/>
              </a:rPr>
              <a:t>totalCustomers</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dbms_output.put_line('Total no. of Customers: ' || c);  </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END</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defRPr/>
            </a:pPr>
            <a:r>
              <a:rPr lang="en-US" dirty="0">
                <a:latin typeface="Verdana" panose="020B0604030504040204" pitchFamily="34" charset="0"/>
                <a:ea typeface="Verdana" panose="020B0604030504040204" pitchFamily="34" charset="0"/>
                <a:cs typeface="Verdana" panose="020B0604030504040204" pitchFamily="34" charset="0"/>
              </a:rPr>
              <a:t>o/p:  Total no. of Customers: 4</a:t>
            </a:r>
          </a:p>
        </p:txBody>
      </p:sp>
      <p:sp>
        <p:nvSpPr>
          <p:cNvPr id="4" name="Date Placeholder 3">
            <a:extLst>
              <a:ext uri="{FF2B5EF4-FFF2-40B4-BE49-F238E27FC236}">
                <a16:creationId xmlns:a16="http://schemas.microsoft.com/office/drawing/2014/main" id="{0E3C118B-616B-4A96-9F9B-CF0E5355F4BF}"/>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Content Placeholder 2">
            <a:extLst>
              <a:ext uri="{FF2B5EF4-FFF2-40B4-BE49-F238E27FC236}">
                <a16:creationId xmlns:a16="http://schemas.microsoft.com/office/drawing/2014/main" id="{51CFF764-1312-48B4-8335-4A2B26CE4BF2}"/>
              </a:ext>
            </a:extLst>
          </p:cNvPr>
          <p:cNvSpPr>
            <a:spLocks noGrp="1"/>
          </p:cNvSpPr>
          <p:nvPr>
            <p:ph idx="1"/>
          </p:nvPr>
        </p:nvSpPr>
        <p:spPr>
          <a:xfrm>
            <a:off x="381000" y="228600"/>
            <a:ext cx="8134350" cy="5948363"/>
          </a:xfrm>
        </p:spPr>
        <p:txBody>
          <a:bodyPr/>
          <a:lstStyle/>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 Difference between Procedure and Function:</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1. Procedure: It may or may not return a value.</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Function: It always return a value.</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2. Procedure: it can't be used in select query. for example if we have a procedure abc(salary number ) then we can't use it as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select abc(salary) from employee</a:t>
            </a:r>
            <a:r>
              <a:rPr lang="en-US" altLang="en-US" sz="1800">
                <a:latin typeface="Verdana" panose="020B0604030504040204" pitchFamily="34" charset="0"/>
                <a:ea typeface="Verdana" panose="020B0604030504040204" pitchFamily="34" charset="0"/>
                <a:cs typeface="Verdana" panose="020B0604030504040204" pitchFamily="34" charset="0"/>
              </a:rPr>
              <a:t>”</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whereas , we can use functions in a query .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"select sum(salary) from employee"</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588DBDFF-CBA6-4779-BA31-8288CEA35E71}"/>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a:extLst>
              <a:ext uri="{FF2B5EF4-FFF2-40B4-BE49-F238E27FC236}">
                <a16:creationId xmlns:a16="http://schemas.microsoft.com/office/drawing/2014/main" id="{B3121989-9B19-4659-9434-984E5F059A11}"/>
              </a:ext>
            </a:extLst>
          </p:cNvPr>
          <p:cNvSpPr>
            <a:spLocks noGrp="1"/>
          </p:cNvSpPr>
          <p:nvPr>
            <p:ph type="title"/>
          </p:nvPr>
        </p:nvSpPr>
        <p:spPr>
          <a:xfrm>
            <a:off x="228600" y="96838"/>
            <a:ext cx="7886700" cy="457200"/>
          </a:xfrm>
        </p:spPr>
        <p:txBody>
          <a:bodyPr/>
          <a:lstStyle/>
          <a:p>
            <a:r>
              <a:rPr lang="en-US" altLang="en-US" sz="1800" b="1">
                <a:latin typeface="Verdana" panose="020B0604030504040204" pitchFamily="34" charset="0"/>
                <a:ea typeface="Verdana" panose="020B0604030504040204" pitchFamily="34" charset="0"/>
                <a:cs typeface="Verdana" panose="020B0604030504040204" pitchFamily="34" charset="0"/>
              </a:rPr>
              <a:t>PL/SQL CURSOR:</a:t>
            </a:r>
          </a:p>
        </p:txBody>
      </p:sp>
      <p:sp>
        <p:nvSpPr>
          <p:cNvPr id="3" name="Content Placeholder 2">
            <a:extLst>
              <a:ext uri="{FF2B5EF4-FFF2-40B4-BE49-F238E27FC236}">
                <a16:creationId xmlns:a16="http://schemas.microsoft.com/office/drawing/2014/main" id="{D6D4B807-5B14-4349-AA71-B68352D3D9B3}"/>
              </a:ext>
            </a:extLst>
          </p:cNvPr>
          <p:cNvSpPr>
            <a:spLocks noGrp="1"/>
          </p:cNvSpPr>
          <p:nvPr>
            <p:ph idx="1"/>
          </p:nvPr>
        </p:nvSpPr>
        <p:spPr>
          <a:xfrm>
            <a:off x="628650" y="762000"/>
            <a:ext cx="7886700" cy="5414963"/>
          </a:xfrm>
        </p:spPr>
        <p:txBody>
          <a:bodyPr/>
          <a:lstStyle/>
          <a:p>
            <a:pPr>
              <a:defRPr/>
            </a:pPr>
            <a:r>
              <a:rPr lang="en-US" sz="1800" dirty="0">
                <a:latin typeface="Verdana" panose="020B0604030504040204" pitchFamily="34" charset="0"/>
                <a:ea typeface="Verdana" panose="020B0604030504040204" pitchFamily="34" charset="0"/>
                <a:cs typeface="Verdana" panose="020B0604030504040204" pitchFamily="34" charset="0"/>
              </a:rPr>
              <a:t>When an SQL statement is processed, Oracle creates a memory area known as context area. A cursor is a pointer to this context area. It contains all information needed for processing the statement. In PL/SQL, the context area is controlled by Cursor. A cursor contains information on a select statement and the rows of data accessed by it.</a:t>
            </a:r>
          </a:p>
          <a:p>
            <a:pPr>
              <a:defRPr/>
            </a:pPr>
            <a:r>
              <a:rPr lang="en-US" sz="1800" dirty="0">
                <a:latin typeface="Verdana" panose="020B0604030504040204" pitchFamily="34" charset="0"/>
                <a:ea typeface="Verdana" panose="020B0604030504040204" pitchFamily="34" charset="0"/>
                <a:cs typeface="Verdana" panose="020B0604030504040204" pitchFamily="34" charset="0"/>
              </a:rPr>
              <a:t>A cursor is used to referred to a program to fetch and process the rows returned by the SQL statement, </a:t>
            </a:r>
            <a:r>
              <a:rPr lang="en-US" sz="1800" b="1" dirty="0">
                <a:latin typeface="Verdana" panose="020B0604030504040204" pitchFamily="34" charset="0"/>
                <a:ea typeface="Verdana" panose="020B0604030504040204" pitchFamily="34" charset="0"/>
                <a:cs typeface="Verdana" panose="020B0604030504040204" pitchFamily="34" charset="0"/>
              </a:rPr>
              <a:t>one at a time</a:t>
            </a:r>
            <a:r>
              <a:rPr lang="en-US" sz="1800" dirty="0">
                <a:latin typeface="Verdana" panose="020B0604030504040204" pitchFamily="34" charset="0"/>
                <a:ea typeface="Verdana" panose="020B0604030504040204" pitchFamily="34" charset="0"/>
                <a:cs typeface="Verdana" panose="020B0604030504040204" pitchFamily="34" charset="0"/>
              </a:rPr>
              <a:t>. There are two types of cursors:</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Implicit Cursors</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Explicit Cursors</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QUCIK TIP:</a:t>
            </a:r>
          </a:p>
          <a:p>
            <a:pPr marL="0" indent="0">
              <a:buFont typeface="Arial" panose="020B0604020202020204" pitchFamily="34" charset="0"/>
              <a:buNone/>
              <a:defRPr/>
            </a:pPr>
            <a:r>
              <a:rPr lang="en-US" sz="1800" i="1" dirty="0">
                <a:latin typeface="Verdana" panose="020B0604030504040204" pitchFamily="34" charset="0"/>
                <a:ea typeface="Verdana" panose="020B0604030504040204" pitchFamily="34" charset="0"/>
                <a:cs typeface="Verdana" panose="020B0604030504040204" pitchFamily="34" charset="0"/>
              </a:rPr>
              <a:t>Refrain from saying that cursor is a pointer to the data stored in the database. Saying this in your interview will definitely put you in an indefinite queue of candidates who never receive a call back. Because cursor is the pointer to the memory area called context area not to the data of the database.</a:t>
            </a: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E9C4E9AD-B278-4B78-8D9A-2B16CEAC151F}"/>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a:extLst>
              <a:ext uri="{FF2B5EF4-FFF2-40B4-BE49-F238E27FC236}">
                <a16:creationId xmlns:a16="http://schemas.microsoft.com/office/drawing/2014/main" id="{2715763D-97C8-4266-9605-9192EA92E8BD}"/>
              </a:ext>
            </a:extLst>
          </p:cNvPr>
          <p:cNvSpPr>
            <a:spLocks noGrp="1"/>
          </p:cNvSpPr>
          <p:nvPr>
            <p:ph type="title"/>
          </p:nvPr>
        </p:nvSpPr>
        <p:spPr>
          <a:xfrm>
            <a:off x="381000" y="365125"/>
            <a:ext cx="8134350" cy="473075"/>
          </a:xfrm>
        </p:spPr>
        <p:txBody>
          <a:bodyPr/>
          <a:lstStyle/>
          <a:p>
            <a:br>
              <a:rPr lang="en-US" altLang="en-US" b="1"/>
            </a:br>
            <a:r>
              <a:rPr lang="en-US" altLang="en-US" b="1"/>
              <a:t>What is the Context Area?</a:t>
            </a:r>
            <a:br>
              <a:rPr lang="en-US" altLang="en-US"/>
            </a:br>
            <a:endParaRPr lang="en-US" altLang="en-US"/>
          </a:p>
        </p:txBody>
      </p:sp>
      <p:sp>
        <p:nvSpPr>
          <p:cNvPr id="3" name="Content Placeholder 2">
            <a:extLst>
              <a:ext uri="{FF2B5EF4-FFF2-40B4-BE49-F238E27FC236}">
                <a16:creationId xmlns:a16="http://schemas.microsoft.com/office/drawing/2014/main" id="{F165FFFC-9159-4540-B442-5CAAF74CF8BD}"/>
              </a:ext>
            </a:extLst>
          </p:cNvPr>
          <p:cNvSpPr>
            <a:spLocks noGrp="1"/>
          </p:cNvSpPr>
          <p:nvPr>
            <p:ph idx="1"/>
          </p:nvPr>
        </p:nvSpPr>
        <p:spPr>
          <a:xfrm>
            <a:off x="381000" y="838200"/>
            <a:ext cx="8134350" cy="5338763"/>
          </a:xfrm>
        </p:spPr>
        <p:txBody>
          <a:bodyPr/>
          <a:lstStyle/>
          <a:p>
            <a:pPr>
              <a:defRPr/>
            </a:pPr>
            <a:r>
              <a:rPr lang="en-US" sz="1800" dirty="0">
                <a:latin typeface="Verdana" panose="020B0604030504040204" pitchFamily="34" charset="0"/>
                <a:ea typeface="Verdana" panose="020B0604030504040204" pitchFamily="34" charset="0"/>
                <a:cs typeface="Verdana" panose="020B0604030504040204" pitchFamily="34" charset="0"/>
              </a:rPr>
              <a:t>The context area is a special memory region inside the Process Global Area or PGA which helps oracle server in processing an SQL statement by holding the important information about that statement.</a:t>
            </a:r>
            <a:br>
              <a:rPr lang="en-US" sz="1800" dirty="0">
                <a:latin typeface="Verdana" panose="020B0604030504040204" pitchFamily="34" charset="0"/>
                <a:ea typeface="Verdana" panose="020B0604030504040204" pitchFamily="34" charset="0"/>
                <a:cs typeface="Verdana" panose="020B0604030504040204" pitchFamily="34" charset="0"/>
              </a:rPr>
            </a:br>
            <a:br>
              <a:rPr lang="en-US" sz="1800" dirty="0">
                <a:latin typeface="Verdana" panose="020B0604030504040204" pitchFamily="34" charset="0"/>
                <a:ea typeface="Verdana" panose="020B0604030504040204" pitchFamily="34" charset="0"/>
                <a:cs typeface="Verdana" panose="020B0604030504040204" pitchFamily="34" charset="0"/>
              </a:rPr>
            </a:br>
            <a:r>
              <a:rPr lang="en-US" sz="1800" dirty="0">
                <a:latin typeface="Verdana" panose="020B0604030504040204" pitchFamily="34" charset="0"/>
                <a:ea typeface="Verdana" panose="020B0604030504040204" pitchFamily="34" charset="0"/>
                <a:cs typeface="Verdana" panose="020B0604030504040204" pitchFamily="34" charset="0"/>
              </a:rPr>
              <a:t>This information includes:</a:t>
            </a:r>
          </a:p>
          <a:p>
            <a:pPr>
              <a:defRPr/>
            </a:pPr>
            <a:r>
              <a:rPr lang="en-US" sz="1800" dirty="0">
                <a:latin typeface="Verdana" panose="020B0604030504040204" pitchFamily="34" charset="0"/>
                <a:ea typeface="Verdana" panose="020B0604030504040204" pitchFamily="34" charset="0"/>
                <a:cs typeface="Verdana" panose="020B0604030504040204" pitchFamily="34" charset="0"/>
              </a:rPr>
              <a:t>Rows returned by a query.</a:t>
            </a:r>
          </a:p>
          <a:p>
            <a:pPr>
              <a:defRPr/>
            </a:pPr>
            <a:r>
              <a:rPr lang="en-US" sz="1800" dirty="0">
                <a:latin typeface="Verdana" panose="020B0604030504040204" pitchFamily="34" charset="0"/>
                <a:ea typeface="Verdana" panose="020B0604030504040204" pitchFamily="34" charset="0"/>
                <a:cs typeface="Verdana" panose="020B0604030504040204" pitchFamily="34" charset="0"/>
              </a:rPr>
              <a:t>Number of rows processed by a query.</a:t>
            </a:r>
          </a:p>
          <a:p>
            <a:pPr>
              <a:defRPr/>
            </a:pPr>
            <a:r>
              <a:rPr lang="en-US" sz="1800" dirty="0">
                <a:latin typeface="Verdana" panose="020B0604030504040204" pitchFamily="34" charset="0"/>
                <a:ea typeface="Verdana" panose="020B0604030504040204" pitchFamily="34" charset="0"/>
                <a:cs typeface="Verdana" panose="020B0604030504040204" pitchFamily="34" charset="0"/>
              </a:rPr>
              <a:t>A pointer to the parsed query in the shared pool.</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Using cursor you can control the context area as it is a pointer to the same.</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Advantages of Cursors</a:t>
            </a: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There are two main advantages of a cursor:</a:t>
            </a:r>
            <a:br>
              <a:rPr lang="en-US" sz="1800" dirty="0">
                <a:latin typeface="Verdana" panose="020B0604030504040204" pitchFamily="34" charset="0"/>
                <a:ea typeface="Verdana" panose="020B0604030504040204" pitchFamily="34" charset="0"/>
                <a:cs typeface="Verdana" panose="020B0604030504040204" pitchFamily="34" charset="0"/>
              </a:rPr>
            </a:br>
            <a:r>
              <a:rPr lang="en-US" sz="1800" dirty="0">
                <a:latin typeface="Verdana" panose="020B0604030504040204" pitchFamily="34" charset="0"/>
                <a:ea typeface="Verdana" panose="020B0604030504040204" pitchFamily="34" charset="0"/>
                <a:cs typeface="Verdana" panose="020B0604030504040204" pitchFamily="34" charset="0"/>
              </a:rPr>
              <a:t>1. Cursor is names thus you can reference it in your program whenever you want.</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2. Cursor allows you to fetch and process rows returned by a SELECT statement by a row at a time.</a:t>
            </a:r>
          </a:p>
          <a:p>
            <a:pPr marL="0" indent="0">
              <a:buFont typeface="Arial" panose="020B0604020202020204" pitchFamily="34" charset="0"/>
              <a:buNone/>
              <a:defRPr/>
            </a:pPr>
            <a:br>
              <a:rPr lang="en-US" sz="1800" dirty="0">
                <a:latin typeface="Verdana" panose="020B0604030504040204" pitchFamily="34" charset="0"/>
                <a:ea typeface="Verdana" panose="020B0604030504040204" pitchFamily="34" charset="0"/>
                <a:cs typeface="Verdana" panose="020B0604030504040204" pitchFamily="34" charset="0"/>
              </a:rPr>
            </a:br>
            <a:endParaRPr lang="en-US" sz="1800" dirty="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EC38EA99-7027-4BE5-850A-359E46B406F4}"/>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a:extLst>
              <a:ext uri="{FF2B5EF4-FFF2-40B4-BE49-F238E27FC236}">
                <a16:creationId xmlns:a16="http://schemas.microsoft.com/office/drawing/2014/main" id="{7C8449AE-8740-435D-9326-639F131AFCE6}"/>
              </a:ext>
            </a:extLst>
          </p:cNvPr>
          <p:cNvSpPr>
            <a:spLocks noGrp="1"/>
          </p:cNvSpPr>
          <p:nvPr>
            <p:ph type="title"/>
          </p:nvPr>
        </p:nvSpPr>
        <p:spPr>
          <a:xfrm>
            <a:off x="628650" y="228600"/>
            <a:ext cx="7886700" cy="457200"/>
          </a:xfrm>
        </p:spPr>
        <p:txBody>
          <a:bodyPr/>
          <a:lstStyle/>
          <a:p>
            <a:br>
              <a:rPr lang="en-US" altLang="en-US"/>
            </a:br>
            <a:r>
              <a:rPr lang="en-US" altLang="en-US" sz="1800" b="1" u="sng">
                <a:latin typeface="Verdana" panose="020B0604030504040204" pitchFamily="34" charset="0"/>
                <a:ea typeface="Verdana" panose="020B0604030504040204" pitchFamily="34" charset="0"/>
                <a:cs typeface="Verdana" panose="020B0604030504040204" pitchFamily="34" charset="0"/>
              </a:rPr>
              <a:t>1) PL/SQL Implicit Cursors</a:t>
            </a:r>
            <a:br>
              <a:rPr lang="en-US" altLang="en-US" sz="1800" u="sng">
                <a:latin typeface="Verdana" panose="020B0604030504040204" pitchFamily="34" charset="0"/>
                <a:ea typeface="Verdana" panose="020B0604030504040204" pitchFamily="34" charset="0"/>
                <a:cs typeface="Verdana" panose="020B0604030504040204" pitchFamily="34" charset="0"/>
              </a:rPr>
            </a:br>
            <a:endParaRPr lang="en-US" altLang="en-US" sz="1800" u="sng">
              <a:latin typeface="Verdana" panose="020B0604030504040204" pitchFamily="34" charset="0"/>
              <a:ea typeface="Verdana" panose="020B0604030504040204" pitchFamily="34" charset="0"/>
              <a:cs typeface="Verdana" panose="020B0604030504040204" pitchFamily="34" charset="0"/>
            </a:endParaRPr>
          </a:p>
        </p:txBody>
      </p:sp>
      <p:sp>
        <p:nvSpPr>
          <p:cNvPr id="3" name="Content Placeholder 2">
            <a:extLst>
              <a:ext uri="{FF2B5EF4-FFF2-40B4-BE49-F238E27FC236}">
                <a16:creationId xmlns:a16="http://schemas.microsoft.com/office/drawing/2014/main" id="{EA4DFA2C-4AE4-43B0-9BE8-BA8C775BE363}"/>
              </a:ext>
            </a:extLst>
          </p:cNvPr>
          <p:cNvSpPr>
            <a:spLocks noGrp="1"/>
          </p:cNvSpPr>
          <p:nvPr>
            <p:ph idx="1"/>
          </p:nvPr>
        </p:nvSpPr>
        <p:spPr>
          <a:xfrm>
            <a:off x="628650" y="685800"/>
            <a:ext cx="7886700" cy="5491163"/>
          </a:xfrm>
        </p:spPr>
        <p:txBody>
          <a:bodyPr/>
          <a:lstStyle/>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The implicit cursors are automatically generated by Oracle while an SQL statement is executed, if you don’t use an explicit cursor for the statement.</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These are created by default to process the statements when DML statements like INSERT, UPDATE, DELETE etc. are executed.</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Oracle provides some attributes known as Implicit cursor's attributes to check the status of DML operations. Some of them are: %FOUND, %NOTFOUND, %ROWCOUNT and %ISOPEN.</a:t>
            </a:r>
          </a:p>
          <a:p>
            <a:pPr marL="342900" indent="-342900">
              <a:buFont typeface="+mj-lt"/>
              <a:buAutoNum type="arabicPeriod"/>
              <a:defRPr/>
            </a:pPr>
            <a:r>
              <a:rPr lang="en-US" sz="1800" b="1" dirty="0">
                <a:latin typeface="Verdana" panose="020B0604030504040204" pitchFamily="34" charset="0"/>
                <a:ea typeface="Verdana" panose="020B0604030504040204" pitchFamily="34" charset="0"/>
                <a:cs typeface="Verdana" panose="020B0604030504040204" pitchFamily="34" charset="0"/>
              </a:rPr>
              <a:t>For example: </a:t>
            </a:r>
            <a:r>
              <a:rPr lang="en-US" sz="1800" dirty="0">
                <a:latin typeface="Verdana" panose="020B0604030504040204" pitchFamily="34" charset="0"/>
                <a:ea typeface="Verdana" panose="020B0604030504040204" pitchFamily="34" charset="0"/>
                <a:cs typeface="Verdana" panose="020B0604030504040204" pitchFamily="34" charset="0"/>
              </a:rPr>
              <a:t>When you execute the SQL statements like INSERT, UPDATE, DELETE then the cursor attributes tell whether any rows are affected and how many have been affected. If you run a SELECT INTO statement in PL/SQL block, the implicit cursor attribute can be used to find out whether any row has been returned by the SELECT statement. It will return an error if there no data is selected.</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The following table specifies the status of the cursor with each of its attribute.</a:t>
            </a:r>
          </a:p>
          <a:p>
            <a:pPr>
              <a:defRPr/>
            </a:pPr>
            <a:endParaRPr lang="en-US" dirty="0"/>
          </a:p>
        </p:txBody>
      </p:sp>
      <p:sp>
        <p:nvSpPr>
          <p:cNvPr id="4" name="Date Placeholder 3">
            <a:extLst>
              <a:ext uri="{FF2B5EF4-FFF2-40B4-BE49-F238E27FC236}">
                <a16:creationId xmlns:a16="http://schemas.microsoft.com/office/drawing/2014/main" id="{E40C7D34-6772-4AF3-B569-4AF596FF5352}"/>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A78876A1-955B-4145-BAD4-03CA7A35AF90}"/>
              </a:ext>
            </a:extLst>
          </p:cNvPr>
          <p:cNvGraphicFramePr>
            <a:graphicFrameLocks noGrp="1"/>
          </p:cNvGraphicFramePr>
          <p:nvPr>
            <p:ph idx="1"/>
          </p:nvPr>
        </p:nvGraphicFramePr>
        <p:xfrm>
          <a:off x="481013" y="381000"/>
          <a:ext cx="8181975" cy="5334000"/>
        </p:xfrm>
        <a:graphic>
          <a:graphicData uri="http://schemas.openxmlformats.org/drawingml/2006/table">
            <a:tbl>
              <a:tblPr/>
              <a:tblGrid>
                <a:gridCol w="2338388">
                  <a:extLst>
                    <a:ext uri="{9D8B030D-6E8A-4147-A177-3AD203B41FA5}">
                      <a16:colId xmlns:a16="http://schemas.microsoft.com/office/drawing/2014/main" val="20000"/>
                    </a:ext>
                  </a:extLst>
                </a:gridCol>
                <a:gridCol w="5843587">
                  <a:extLst>
                    <a:ext uri="{9D8B030D-6E8A-4147-A177-3AD203B41FA5}">
                      <a16:colId xmlns:a16="http://schemas.microsoft.com/office/drawing/2014/main" val="20001"/>
                    </a:ext>
                  </a:extLst>
                </a:gridCol>
              </a:tblGrid>
              <a:tr h="450680">
                <a:tc>
                  <a:txBody>
                    <a:bodyPr/>
                    <a:lstStyle/>
                    <a:p>
                      <a:pPr algn="l" fontAlgn="t"/>
                      <a:r>
                        <a:rPr lang="en-US" sz="16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Attribute</a:t>
                      </a:r>
                    </a:p>
                  </a:txBody>
                  <a:tcPr marL="47625" marR="47625" marT="47625" marB="47625">
                    <a:lnL w="9525" cap="flat" cmpd="sng" algn="ctr">
                      <a:solidFill>
                        <a:srgbClr val="10F221"/>
                      </a:solidFill>
                      <a:prstDash val="solid"/>
                      <a:round/>
                      <a:headEnd type="none" w="med" len="med"/>
                      <a:tailEnd type="none" w="med" len="med"/>
                    </a:lnL>
                    <a:lnR w="9525" cap="flat" cmpd="sng" algn="ctr">
                      <a:solidFill>
                        <a:srgbClr val="10F221"/>
                      </a:solidFill>
                      <a:prstDash val="solid"/>
                      <a:round/>
                      <a:headEnd type="none" w="med" len="med"/>
                      <a:tailEnd type="none" w="med" len="med"/>
                    </a:lnR>
                    <a:lnT w="9525" cap="flat" cmpd="sng" algn="ctr">
                      <a:solidFill>
                        <a:srgbClr val="10F221"/>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tc>
                  <a:txBody>
                    <a:bodyPr/>
                    <a:lstStyle/>
                    <a:p>
                      <a:pPr algn="l" fontAlgn="t"/>
                      <a:r>
                        <a:rPr lang="en-US" sz="1600">
                          <a:solidFill>
                            <a:srgbClr val="000000"/>
                          </a:solidFill>
                          <a:effectLst/>
                          <a:latin typeface="Verdana" panose="020B0604030504040204" pitchFamily="34" charset="0"/>
                          <a:ea typeface="Verdana" panose="020B0604030504040204" pitchFamily="34" charset="0"/>
                          <a:cs typeface="Verdana" panose="020B0604030504040204" pitchFamily="34" charset="0"/>
                        </a:rPr>
                        <a:t>Description</a:t>
                      </a:r>
                    </a:p>
                  </a:txBody>
                  <a:tcPr marL="47625" marR="47625" marT="47625" marB="47625">
                    <a:lnL w="9525" cap="flat" cmpd="sng" algn="ctr">
                      <a:solidFill>
                        <a:srgbClr val="10F221"/>
                      </a:solidFill>
                      <a:prstDash val="solid"/>
                      <a:round/>
                      <a:headEnd type="none" w="med" len="med"/>
                      <a:tailEnd type="none" w="med" len="med"/>
                    </a:lnL>
                    <a:lnR w="9525" cap="flat" cmpd="sng" algn="ctr">
                      <a:solidFill>
                        <a:srgbClr val="10F221"/>
                      </a:solidFill>
                      <a:prstDash val="solid"/>
                      <a:round/>
                      <a:headEnd type="none" w="med" len="med"/>
                      <a:tailEnd type="none" w="med" len="med"/>
                    </a:lnR>
                    <a:lnT w="9525" cap="flat" cmpd="sng" algn="ctr">
                      <a:solidFill>
                        <a:srgbClr val="10F221"/>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extLst>
                  <a:ext uri="{0D108BD9-81ED-4DB2-BD59-A6C34878D82A}">
                    <a16:rowId xmlns:a16="http://schemas.microsoft.com/office/drawing/2014/main" val="10000"/>
                  </a:ext>
                </a:extLst>
              </a:tr>
              <a:tr h="1374860">
                <a:tc>
                  <a:txBody>
                    <a:bodyPr/>
                    <a:lstStyle/>
                    <a:p>
                      <a:pPr algn="just" fontAlgn="t"/>
                      <a:r>
                        <a:rPr lang="en-US" sz="1600" b="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%FOUND</a:t>
                      </a:r>
                    </a:p>
                  </a:txBody>
                  <a:tcPr marL="47625" marR="47625" marT="47625" marB="47625">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tc>
                  <a:txBody>
                    <a:bodyPr/>
                    <a:lstStyle/>
                    <a:p>
                      <a:pPr algn="just" fontAlgn="t"/>
                      <a:r>
                        <a:rPr lang="en-US" sz="1600" b="0" i="0">
                          <a:solidFill>
                            <a:srgbClr val="000000"/>
                          </a:solidFill>
                          <a:effectLst/>
                          <a:latin typeface="Verdana" panose="020B0604030504040204" pitchFamily="34" charset="0"/>
                          <a:ea typeface="Verdana" panose="020B0604030504040204" pitchFamily="34" charset="0"/>
                          <a:cs typeface="Verdana" panose="020B0604030504040204" pitchFamily="34" charset="0"/>
                        </a:rPr>
                        <a:t>Its return value is TRUE if DML statements like INSERT, DELETE and UPDATE affect at least one row or more rows or a SELECT INTO statement returned one or more rows. Otherwise it returns FALSE.</a:t>
                      </a:r>
                    </a:p>
                  </a:txBody>
                  <a:tcPr marL="47625" marR="47625" marT="47625" marB="47625">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374860">
                <a:tc>
                  <a:txBody>
                    <a:bodyPr/>
                    <a:lstStyle/>
                    <a:p>
                      <a:pPr algn="just" fontAlgn="t"/>
                      <a:r>
                        <a:rPr lang="en-US" sz="1600" b="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%NOTFOUND</a:t>
                      </a:r>
                    </a:p>
                  </a:txBody>
                  <a:tcPr marL="47625" marR="47625" marT="47625" marB="47625">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tc>
                  <a:txBody>
                    <a:bodyPr/>
                    <a:lstStyle/>
                    <a:p>
                      <a:pPr algn="just" fontAlgn="t"/>
                      <a:r>
                        <a:rPr lang="en-US" sz="1600" b="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Its return value is TRUE if DML statements like INSERT, DELETE and UPDATE affect no row, or a SELECT INTO statement return no rows. Otherwise it returns FALSE. It is a just opposite of %FOUND.</a:t>
                      </a:r>
                    </a:p>
                  </a:txBody>
                  <a:tcPr marL="47625" marR="47625" marT="47625" marB="47625">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extLst>
                  <a:ext uri="{0D108BD9-81ED-4DB2-BD59-A6C34878D82A}">
                    <a16:rowId xmlns:a16="http://schemas.microsoft.com/office/drawing/2014/main" val="10002"/>
                  </a:ext>
                </a:extLst>
              </a:tr>
              <a:tr h="1066800">
                <a:tc>
                  <a:txBody>
                    <a:bodyPr/>
                    <a:lstStyle/>
                    <a:p>
                      <a:pPr algn="just" fontAlgn="t"/>
                      <a:r>
                        <a:rPr lang="en-US" sz="1600" b="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%ISOPEN</a:t>
                      </a:r>
                    </a:p>
                  </a:txBody>
                  <a:tcPr marL="47625" marR="47625" marT="47625" marB="47625">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tc>
                  <a:txBody>
                    <a:bodyPr/>
                    <a:lstStyle/>
                    <a:p>
                      <a:pPr algn="just" fontAlgn="t"/>
                      <a:r>
                        <a:rPr lang="en-US" sz="1600" b="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It always returns FALSE for implicit cursors, because the SQL cursor is automatically closed after executing its associated SQL statements.</a:t>
                      </a:r>
                    </a:p>
                  </a:txBody>
                  <a:tcPr marL="47625" marR="47625" marT="47625" marB="47625">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66800">
                <a:tc>
                  <a:txBody>
                    <a:bodyPr/>
                    <a:lstStyle/>
                    <a:p>
                      <a:pPr algn="just" fontAlgn="t"/>
                      <a:r>
                        <a:rPr lang="en-US" sz="1600" b="0" i="0">
                          <a:solidFill>
                            <a:srgbClr val="000000"/>
                          </a:solidFill>
                          <a:effectLst/>
                          <a:latin typeface="Verdana" panose="020B0604030504040204" pitchFamily="34" charset="0"/>
                          <a:ea typeface="Verdana" panose="020B0604030504040204" pitchFamily="34" charset="0"/>
                          <a:cs typeface="Verdana" panose="020B0604030504040204" pitchFamily="34" charset="0"/>
                        </a:rPr>
                        <a:t>%ROWCOUNT</a:t>
                      </a:r>
                    </a:p>
                  </a:txBody>
                  <a:tcPr marL="47625" marR="47625" marT="47625" marB="47625">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tc>
                  <a:txBody>
                    <a:bodyPr/>
                    <a:lstStyle/>
                    <a:p>
                      <a:pPr algn="just" fontAlgn="t"/>
                      <a:r>
                        <a:rPr lang="en-US" sz="1600" b="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It returns the number of rows affected by DML statements like INSERT, DELETE, and UPDATE or returned by a SELECT INTO statement.</a:t>
                      </a:r>
                    </a:p>
                  </a:txBody>
                  <a:tcPr marL="47625" marR="47625" marT="47625" marB="47625">
                    <a:lnL w="9525" cap="flat" cmpd="sng" algn="ctr">
                      <a:solidFill>
                        <a:srgbClr val="FFC0CB"/>
                      </a:solidFill>
                      <a:prstDash val="solid"/>
                      <a:round/>
                      <a:headEnd type="none" w="med" len="med"/>
                      <a:tailEnd type="none" w="med" len="med"/>
                    </a:lnL>
                    <a:lnR w="9525" cap="flat" cmpd="sng" algn="ctr">
                      <a:solidFill>
                        <a:srgbClr val="FFC0CB"/>
                      </a:solidFill>
                      <a:prstDash val="solid"/>
                      <a:round/>
                      <a:headEnd type="none" w="med" len="med"/>
                      <a:tailEnd type="none" w="med" len="med"/>
                    </a:lnR>
                    <a:lnT w="9525" cap="flat" cmpd="sng" algn="ctr">
                      <a:solidFill>
                        <a:srgbClr val="FFC0CB"/>
                      </a:solidFill>
                      <a:prstDash val="solid"/>
                      <a:round/>
                      <a:headEnd type="none" w="med" len="med"/>
                      <a:tailEnd type="none" w="med" len="med"/>
                    </a:lnT>
                    <a:lnB w="9525" cap="flat" cmpd="sng" algn="ctr">
                      <a:solidFill>
                        <a:srgbClr val="FFC0CB"/>
                      </a:solidFill>
                      <a:prstDash val="solid"/>
                      <a:round/>
                      <a:headEnd type="none" w="med" len="med"/>
                      <a:tailEnd type="none" w="med" len="med"/>
                    </a:lnB>
                    <a:solidFill>
                      <a:srgbClr val="F6FFE1"/>
                    </a:solidFill>
                  </a:tcPr>
                </a:tc>
                <a:extLst>
                  <a:ext uri="{0D108BD9-81ED-4DB2-BD59-A6C34878D82A}">
                    <a16:rowId xmlns:a16="http://schemas.microsoft.com/office/drawing/2014/main" val="10004"/>
                  </a:ext>
                </a:extLst>
              </a:tr>
            </a:tbl>
          </a:graphicData>
        </a:graphic>
      </p:graphicFrame>
      <p:sp>
        <p:nvSpPr>
          <p:cNvPr id="4" name="Date Placeholder 3">
            <a:extLst>
              <a:ext uri="{FF2B5EF4-FFF2-40B4-BE49-F238E27FC236}">
                <a16:creationId xmlns:a16="http://schemas.microsoft.com/office/drawing/2014/main" id="{66E23839-93A5-427C-A6B3-09C720F6FE97}"/>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a:extLst>
              <a:ext uri="{FF2B5EF4-FFF2-40B4-BE49-F238E27FC236}">
                <a16:creationId xmlns:a16="http://schemas.microsoft.com/office/drawing/2014/main" id="{A6479684-E832-434F-A0E2-8D83DF84A5B9}"/>
              </a:ext>
            </a:extLst>
          </p:cNvPr>
          <p:cNvSpPr>
            <a:spLocks noGrp="1"/>
          </p:cNvSpPr>
          <p:nvPr>
            <p:ph type="title"/>
          </p:nvPr>
        </p:nvSpPr>
        <p:spPr>
          <a:xfrm>
            <a:off x="304800" y="228600"/>
            <a:ext cx="8210550" cy="457200"/>
          </a:xfrm>
        </p:spPr>
        <p:txBody>
          <a:bodyPr/>
          <a:lstStyle/>
          <a:p>
            <a:br>
              <a:rPr lang="en-US" altLang="en-US"/>
            </a:br>
            <a:r>
              <a:rPr lang="en-US" altLang="en-US" sz="1800" b="1" u="sng">
                <a:latin typeface="Verdana" panose="020B0604030504040204" pitchFamily="34" charset="0"/>
                <a:ea typeface="Verdana" panose="020B0604030504040204" pitchFamily="34" charset="0"/>
                <a:cs typeface="Verdana" panose="020B0604030504040204" pitchFamily="34" charset="0"/>
              </a:rPr>
              <a:t>PL/SQL Implicit Cursor Example</a:t>
            </a:r>
            <a:br>
              <a:rPr lang="en-US" altLang="en-US" sz="1800" b="1" u="sng">
                <a:latin typeface="Verdana" panose="020B0604030504040204" pitchFamily="34" charset="0"/>
                <a:ea typeface="Verdana" panose="020B0604030504040204" pitchFamily="34" charset="0"/>
                <a:cs typeface="Verdana" panose="020B0604030504040204" pitchFamily="34" charset="0"/>
              </a:rPr>
            </a:br>
            <a:endParaRPr lang="en-US" altLang="en-US" sz="1800" b="1" u="sng">
              <a:latin typeface="Verdana" panose="020B0604030504040204" pitchFamily="34" charset="0"/>
              <a:ea typeface="Verdana" panose="020B0604030504040204" pitchFamily="34" charset="0"/>
              <a:cs typeface="Verdana" panose="020B0604030504040204" pitchFamily="34" charset="0"/>
            </a:endParaRPr>
          </a:p>
        </p:txBody>
      </p:sp>
      <p:sp>
        <p:nvSpPr>
          <p:cNvPr id="3" name="Content Placeholder 2">
            <a:extLst>
              <a:ext uri="{FF2B5EF4-FFF2-40B4-BE49-F238E27FC236}">
                <a16:creationId xmlns:a16="http://schemas.microsoft.com/office/drawing/2014/main" id="{96132A71-972A-4603-B118-20699CAA0143}"/>
              </a:ext>
            </a:extLst>
          </p:cNvPr>
          <p:cNvSpPr>
            <a:spLocks noGrp="1"/>
          </p:cNvSpPr>
          <p:nvPr>
            <p:ph idx="1"/>
          </p:nvPr>
        </p:nvSpPr>
        <p:spPr>
          <a:xfrm>
            <a:off x="457200" y="685800"/>
            <a:ext cx="8058150" cy="5670550"/>
          </a:xfrm>
        </p:spPr>
        <p:txBody>
          <a:bodyPr/>
          <a:lstStyle/>
          <a:p>
            <a:pPr marL="0" indent="0">
              <a:buFont typeface="Arial" panose="020B0604020202020204" pitchFamily="34" charset="0"/>
              <a:buNone/>
              <a:defRPr/>
            </a:pPr>
            <a:r>
              <a:rPr lang="en-US" b="1" dirty="0"/>
              <a:t>Create customers table and have records:</a:t>
            </a:r>
          </a:p>
          <a:p>
            <a:pPr marL="0" indent="0">
              <a:buFont typeface="Arial" panose="020B0604020202020204" pitchFamily="34" charset="0"/>
              <a:buNone/>
              <a:defRPr/>
            </a:pPr>
            <a:r>
              <a:rPr lang="en-US" b="1" dirty="0">
                <a:latin typeface="Courier New" panose="02070309020205020404" pitchFamily="49" charset="0"/>
                <a:cs typeface="Courier New" panose="02070309020205020404" pitchFamily="49" charset="0"/>
              </a:rPr>
              <a:t>ID	NAME		AGE	ADDRESS	       SALARY</a:t>
            </a:r>
          </a:p>
          <a:p>
            <a:pPr marL="0" indent="0">
              <a:buFont typeface="Arial" panose="020B0604020202020204" pitchFamily="34" charset="0"/>
              <a:buNone/>
              <a:defRPr/>
            </a:pPr>
            <a:r>
              <a:rPr lang="en-US" b="1" dirty="0">
                <a:latin typeface="Courier New" panose="02070309020205020404" pitchFamily="49" charset="0"/>
                <a:cs typeface="Courier New" panose="02070309020205020404" pitchFamily="49" charset="0"/>
              </a:rPr>
              <a:t>1	Ramesh	23	Allahabad		20000</a:t>
            </a:r>
          </a:p>
          <a:p>
            <a:pPr marL="0" indent="0">
              <a:buFont typeface="Arial" panose="020B0604020202020204" pitchFamily="34" charset="0"/>
              <a:buNone/>
              <a:defRPr/>
            </a:pPr>
            <a:r>
              <a:rPr lang="en-US" b="1" dirty="0">
                <a:latin typeface="Courier New" panose="02070309020205020404" pitchFamily="49" charset="0"/>
                <a:cs typeface="Courier New" panose="02070309020205020404" pitchFamily="49" charset="0"/>
              </a:rPr>
              <a:t>2	Suresh	22	Kanpur	        	22000</a:t>
            </a:r>
          </a:p>
          <a:p>
            <a:pPr marL="0" indent="0">
              <a:buFont typeface="Arial" panose="020B0604020202020204" pitchFamily="34" charset="0"/>
              <a:buNone/>
              <a:defRPr/>
            </a:pPr>
            <a:r>
              <a:rPr lang="en-US" b="1" dirty="0">
                <a:latin typeface="Courier New" panose="02070309020205020404" pitchFamily="49" charset="0"/>
                <a:cs typeface="Courier New" panose="02070309020205020404" pitchFamily="49" charset="0"/>
              </a:rPr>
              <a:t>3	Mahesh	24	Ghaziabad		24000</a:t>
            </a:r>
          </a:p>
          <a:p>
            <a:pPr marL="0" indent="0">
              <a:buFont typeface="Arial" panose="020B0604020202020204" pitchFamily="34" charset="0"/>
              <a:buNone/>
              <a:defRPr/>
            </a:pPr>
            <a:r>
              <a:rPr lang="en-US" b="1" dirty="0">
                <a:latin typeface="Courier New" panose="02070309020205020404" pitchFamily="49" charset="0"/>
                <a:cs typeface="Courier New" panose="02070309020205020404" pitchFamily="49" charset="0"/>
              </a:rPr>
              <a:t>4	</a:t>
            </a:r>
            <a:r>
              <a:rPr lang="en-US" b="1" dirty="0" err="1">
                <a:latin typeface="Courier New" panose="02070309020205020404" pitchFamily="49" charset="0"/>
                <a:cs typeface="Courier New" panose="02070309020205020404" pitchFamily="49" charset="0"/>
              </a:rPr>
              <a:t>Chandan</a:t>
            </a:r>
            <a:r>
              <a:rPr lang="en-US" b="1" dirty="0">
                <a:latin typeface="Courier New" panose="02070309020205020404" pitchFamily="49" charset="0"/>
                <a:cs typeface="Courier New" panose="02070309020205020404" pitchFamily="49" charset="0"/>
              </a:rPr>
              <a:t>	25	Noida	        	26000</a:t>
            </a:r>
          </a:p>
          <a:p>
            <a:pPr marL="0" indent="0">
              <a:buFont typeface="Arial" panose="020B0604020202020204" pitchFamily="34" charset="0"/>
              <a:buNone/>
              <a:defRPr/>
            </a:pPr>
            <a:r>
              <a:rPr lang="en-US" b="1" dirty="0">
                <a:latin typeface="Courier New" panose="02070309020205020404" pitchFamily="49" charset="0"/>
                <a:cs typeface="Courier New" panose="02070309020205020404" pitchFamily="49" charset="0"/>
              </a:rPr>
              <a:t>5	Alex		21	Paris	        	28000</a:t>
            </a:r>
          </a:p>
          <a:p>
            <a:pPr marL="457200" indent="-457200">
              <a:buFont typeface="Arial" panose="020B0604020202020204" pitchFamily="34" charset="0"/>
              <a:buAutoNum type="arabicPlain" startAt="6"/>
              <a:defRPr/>
            </a:pP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Sunita</a:t>
            </a:r>
            <a:r>
              <a:rPr lang="en-US" b="1" dirty="0">
                <a:latin typeface="Courier New" panose="02070309020205020404" pitchFamily="49" charset="0"/>
                <a:cs typeface="Courier New" panose="02070309020205020404" pitchFamily="49" charset="0"/>
              </a:rPr>
              <a:t>	20	Delhi	        	30000</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Let's execute the following program to update the table and increase salary of each customer by 5000. Here, SQL%ROWCOUNT attribute is used to determine the number of rows affected:</a:t>
            </a:r>
            <a:endParaRPr 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4EBD314F-13E3-4AAF-875D-A11BAF83FA7E}"/>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Content Placeholder 2">
            <a:extLst>
              <a:ext uri="{FF2B5EF4-FFF2-40B4-BE49-F238E27FC236}">
                <a16:creationId xmlns:a16="http://schemas.microsoft.com/office/drawing/2014/main" id="{4C1D9A7D-75D8-404C-8B76-BAA37BC7AA57}"/>
              </a:ext>
            </a:extLst>
          </p:cNvPr>
          <p:cNvSpPr>
            <a:spLocks noGrp="1"/>
          </p:cNvSpPr>
          <p:nvPr>
            <p:ph idx="1"/>
          </p:nvPr>
        </p:nvSpPr>
        <p:spPr>
          <a:xfrm>
            <a:off x="457200" y="304800"/>
            <a:ext cx="8058150" cy="6051550"/>
          </a:xfrm>
        </p:spPr>
        <p:txBody>
          <a:bodyPr/>
          <a:lstStyle/>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DECLARE</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total_rows number(2);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BEGIN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UPDATE</a:t>
            </a:r>
            <a:r>
              <a:rPr lang="en-US" altLang="en-US" sz="1800">
                <a:latin typeface="Verdana" panose="020B0604030504040204" pitchFamily="34" charset="0"/>
                <a:ea typeface="Verdana" panose="020B0604030504040204" pitchFamily="34" charset="0"/>
                <a:cs typeface="Verdana" panose="020B0604030504040204" pitchFamily="34" charset="0"/>
              </a:rPr>
              <a:t>  customers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SET</a:t>
            </a:r>
            <a:r>
              <a:rPr lang="en-US" altLang="en-US" sz="1800">
                <a:latin typeface="Verdana" panose="020B0604030504040204" pitchFamily="34" charset="0"/>
                <a:ea typeface="Verdana" panose="020B0604030504040204" pitchFamily="34" charset="0"/>
                <a:cs typeface="Verdana" panose="020B0604030504040204" pitchFamily="34" charset="0"/>
              </a:rPr>
              <a:t> salary = salary + 5000;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IF sql%notfound </a:t>
            </a:r>
            <a:r>
              <a:rPr lang="en-US" altLang="en-US" sz="1800" b="1">
                <a:latin typeface="Verdana" panose="020B0604030504040204" pitchFamily="34" charset="0"/>
                <a:ea typeface="Verdana" panose="020B0604030504040204" pitchFamily="34" charset="0"/>
                <a:cs typeface="Verdana" panose="020B0604030504040204" pitchFamily="34" charset="0"/>
              </a:rPr>
              <a:t>THEN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dbms_output.put_line('no customers updated');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ELSIF sql%found </a:t>
            </a:r>
            <a:r>
              <a:rPr lang="en-US" altLang="en-US" sz="1800" b="1">
                <a:latin typeface="Verdana" panose="020B0604030504040204" pitchFamily="34" charset="0"/>
                <a:ea typeface="Verdana" panose="020B0604030504040204" pitchFamily="34" charset="0"/>
                <a:cs typeface="Verdana" panose="020B0604030504040204" pitchFamily="34" charset="0"/>
              </a:rPr>
              <a:t>THEN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total_rows := sql%rowcount;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 total_rows || ' customers updated ');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sz="1800">
                <a:latin typeface="Verdana" panose="020B0604030504040204" pitchFamily="34" charset="0"/>
                <a:ea typeface="Verdana" panose="020B0604030504040204" pitchFamily="34" charset="0"/>
                <a:cs typeface="Verdana" panose="020B0604030504040204" pitchFamily="34" charset="0"/>
              </a:rPr>
              <a:t> IF;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u="sng">
                <a:latin typeface="Verdana" panose="020B0604030504040204" pitchFamily="34" charset="0"/>
                <a:ea typeface="Verdana" panose="020B0604030504040204" pitchFamily="34" charset="0"/>
                <a:cs typeface="Verdana" panose="020B0604030504040204" pitchFamily="34" charset="0"/>
              </a:rPr>
              <a:t>OUTPUT:</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6 customers updated</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PL/SQL procedure successfully completed.</a:t>
            </a:r>
          </a:p>
          <a:p>
            <a:pPr marL="0" indent="0">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6D6BD2F9-E872-4147-86B4-1EAAC7CA2D6A}"/>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B0ED64-06A8-43EC-B167-FC9014CD1322}"/>
              </a:ext>
            </a:extLst>
          </p:cNvPr>
          <p:cNvSpPr>
            <a:spLocks noGrp="1"/>
          </p:cNvSpPr>
          <p:nvPr>
            <p:ph idx="1"/>
          </p:nvPr>
        </p:nvSpPr>
        <p:spPr>
          <a:xfrm>
            <a:off x="457200" y="228600"/>
            <a:ext cx="7962900" cy="6127750"/>
          </a:xfrm>
        </p:spPr>
        <p:txBody>
          <a:bodyPr/>
          <a:lstStyle/>
          <a:p>
            <a:pPr marL="0" indent="0">
              <a:buFont typeface="Arial" panose="020B0604020202020204" pitchFamily="34" charset="0"/>
              <a:buNone/>
              <a:defRPr/>
            </a:pPr>
            <a:r>
              <a:rPr lang="en-US" sz="1800" b="1" u="sng" dirty="0">
                <a:latin typeface="Verdana" panose="020B0604030504040204" pitchFamily="34" charset="0"/>
                <a:ea typeface="Verdana" panose="020B0604030504040204" pitchFamily="34" charset="0"/>
                <a:cs typeface="Verdana" panose="020B0604030504040204" pitchFamily="34" charset="0"/>
              </a:rPr>
              <a:t>2) PL/SQL Explicit Cursors</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The Explicit cursors are defined by the programmers to gain more control over the context area. </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These cursors should be defined in the declaration section of the PL/SQL block. It is created on a SELECT statement which returns more than one row.</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Following is the syntax to create an explicit cursor:</a:t>
            </a:r>
          </a:p>
          <a:p>
            <a:pPr marL="0" indent="0">
              <a:buFont typeface="Arial" panose="020B0604020202020204" pitchFamily="34" charset="0"/>
              <a:buNone/>
              <a:defRPr/>
            </a:pPr>
            <a:r>
              <a:rPr lang="en-US" sz="1800" b="1" u="sng" dirty="0">
                <a:latin typeface="Verdana" panose="020B0604030504040204" pitchFamily="34" charset="0"/>
                <a:ea typeface="Verdana" panose="020B0604030504040204" pitchFamily="34" charset="0"/>
                <a:cs typeface="Verdana" panose="020B0604030504040204" pitchFamily="34" charset="0"/>
              </a:rPr>
              <a:t>Syntax of explicit cursor</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Following is the syntax to create an explicit cursor:</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CURSOR</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dirty="0" err="1">
                <a:latin typeface="Verdana" panose="020B0604030504040204" pitchFamily="34" charset="0"/>
                <a:ea typeface="Verdana" panose="020B0604030504040204" pitchFamily="34" charset="0"/>
                <a:cs typeface="Verdana" panose="020B0604030504040204" pitchFamily="34" charset="0"/>
              </a:rPr>
              <a:t>cursor_name</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b="1" dirty="0">
                <a:latin typeface="Verdana" panose="020B0604030504040204" pitchFamily="34" charset="0"/>
                <a:ea typeface="Verdana" panose="020B0604030504040204" pitchFamily="34" charset="0"/>
                <a:cs typeface="Verdana" panose="020B0604030504040204" pitchFamily="34" charset="0"/>
              </a:rPr>
              <a:t>IS</a:t>
            </a:r>
            <a:r>
              <a:rPr lang="en-US" sz="1800" dirty="0">
                <a:latin typeface="Verdana" panose="020B0604030504040204" pitchFamily="34" charset="0"/>
                <a:ea typeface="Verdana" panose="020B0604030504040204" pitchFamily="34" charset="0"/>
                <a:cs typeface="Verdana" panose="020B0604030504040204" pitchFamily="34" charset="0"/>
              </a:rPr>
              <a:t> </a:t>
            </a:r>
            <a:r>
              <a:rPr lang="en-US" sz="1800" dirty="0" err="1">
                <a:latin typeface="Verdana" panose="020B0604030504040204" pitchFamily="34" charset="0"/>
                <a:ea typeface="Verdana" panose="020B0604030504040204" pitchFamily="34" charset="0"/>
                <a:cs typeface="Verdana" panose="020B0604030504040204" pitchFamily="34" charset="0"/>
              </a:rPr>
              <a:t>select_statement</a:t>
            </a:r>
            <a:r>
              <a:rPr lang="en-US" sz="18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defRPr/>
            </a:pPr>
            <a:r>
              <a:rPr lang="en-US" sz="1800" b="1" u="sng" dirty="0">
                <a:latin typeface="Verdana" panose="020B0604030504040204" pitchFamily="34" charset="0"/>
                <a:ea typeface="Verdana" panose="020B0604030504040204" pitchFamily="34" charset="0"/>
                <a:cs typeface="Verdana" panose="020B0604030504040204" pitchFamily="34" charset="0"/>
              </a:rPr>
              <a:t>Steps:</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You must follow these steps while working with an explicit cursor.</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Declare the cursor to initialize in the memory.</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Open the cursor to allocate memory.</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Fetch the cursor to retrieve data.</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Close the cursor to release allocated memory.</a:t>
            </a:r>
          </a:p>
          <a:p>
            <a:pPr marL="0" indent="0">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DA9F904F-373D-452A-B441-80F199F78F77}"/>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F24E33-CF76-4CFC-97EE-8AA349C6A646}"/>
              </a:ext>
            </a:extLst>
          </p:cNvPr>
          <p:cNvSpPr>
            <a:spLocks noGrp="1"/>
          </p:cNvSpPr>
          <p:nvPr>
            <p:ph idx="1"/>
          </p:nvPr>
        </p:nvSpPr>
        <p:spPr>
          <a:xfrm>
            <a:off x="381000" y="152400"/>
            <a:ext cx="8134350" cy="6324600"/>
          </a:xfrm>
        </p:spPr>
        <p:txBody>
          <a:bodyPr/>
          <a:lstStyle/>
          <a:p>
            <a:pPr marL="0" indent="0">
              <a:buFont typeface="Arial" panose="020B0604020202020204" pitchFamily="34" charset="0"/>
              <a:buNone/>
              <a:defRPr/>
            </a:pPr>
            <a:r>
              <a:rPr lang="en-US" sz="1600" dirty="0">
                <a:latin typeface="Verdana" panose="020B0604030504040204" pitchFamily="34" charset="0"/>
                <a:ea typeface="Verdana" panose="020B0604030504040204" pitchFamily="34" charset="0"/>
                <a:cs typeface="Verdana" panose="020B0604030504040204" pitchFamily="34" charset="0"/>
              </a:rPr>
              <a:t>1</a:t>
            </a:r>
            <a:r>
              <a:rPr lang="en-US" sz="1600" b="1" u="sng" dirty="0">
                <a:latin typeface="Verdana" panose="020B0604030504040204" pitchFamily="34" charset="0"/>
                <a:ea typeface="Verdana" panose="020B0604030504040204" pitchFamily="34" charset="0"/>
                <a:cs typeface="Verdana" panose="020B0604030504040204" pitchFamily="34" charset="0"/>
              </a:rPr>
              <a:t>) Declare the cursor:</a:t>
            </a:r>
          </a:p>
          <a:p>
            <a:pPr marL="0" indent="0">
              <a:buFont typeface="Arial" panose="020B0604020202020204" pitchFamily="34" charset="0"/>
              <a:buNone/>
              <a:defRPr/>
            </a:pPr>
            <a:r>
              <a:rPr lang="en-US" sz="1600" dirty="0">
                <a:latin typeface="Verdana" panose="020B0604030504040204" pitchFamily="34" charset="0"/>
                <a:ea typeface="Verdana" panose="020B0604030504040204" pitchFamily="34" charset="0"/>
                <a:cs typeface="Verdana" panose="020B0604030504040204" pitchFamily="34" charset="0"/>
              </a:rPr>
              <a:t>It defines the cursor with a name and the associated SELECT statement.</a:t>
            </a:r>
          </a:p>
          <a:p>
            <a:pPr marL="0" indent="0">
              <a:buFont typeface="Arial" panose="020B0604020202020204" pitchFamily="34" charset="0"/>
              <a:buNone/>
              <a:defRPr/>
            </a:pPr>
            <a:r>
              <a:rPr lang="en-US" sz="1600" b="1" dirty="0">
                <a:latin typeface="Verdana" panose="020B0604030504040204" pitchFamily="34" charset="0"/>
                <a:ea typeface="Verdana" panose="020B0604030504040204" pitchFamily="34" charset="0"/>
                <a:cs typeface="Verdana" panose="020B0604030504040204" pitchFamily="34" charset="0"/>
              </a:rPr>
              <a:t>Syntax for explicit cursor declaration</a:t>
            </a:r>
            <a:endParaRPr lang="en-US" sz="16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r>
              <a:rPr lang="en-US" sz="1600" b="1" dirty="0">
                <a:latin typeface="Verdana" panose="020B0604030504040204" pitchFamily="34" charset="0"/>
                <a:ea typeface="Verdana" panose="020B0604030504040204" pitchFamily="34" charset="0"/>
                <a:cs typeface="Verdana" panose="020B0604030504040204" pitchFamily="34" charset="0"/>
              </a:rPr>
              <a:t>CURSOR</a:t>
            </a:r>
            <a:r>
              <a:rPr lang="en-US" sz="1600" dirty="0">
                <a:latin typeface="Verdana" panose="020B0604030504040204" pitchFamily="34" charset="0"/>
                <a:ea typeface="Verdana" panose="020B0604030504040204" pitchFamily="34" charset="0"/>
                <a:cs typeface="Verdana" panose="020B0604030504040204" pitchFamily="34" charset="0"/>
              </a:rPr>
              <a:t> </a:t>
            </a:r>
            <a:r>
              <a:rPr lang="en-US" sz="1600" b="1" dirty="0">
                <a:latin typeface="Verdana" panose="020B0604030504040204" pitchFamily="34" charset="0"/>
                <a:ea typeface="Verdana" panose="020B0604030504040204" pitchFamily="34" charset="0"/>
                <a:cs typeface="Verdana" panose="020B0604030504040204" pitchFamily="34" charset="0"/>
              </a:rPr>
              <a:t>name</a:t>
            </a:r>
            <a:r>
              <a:rPr lang="en-US" sz="1600" dirty="0">
                <a:latin typeface="Verdana" panose="020B0604030504040204" pitchFamily="34" charset="0"/>
                <a:ea typeface="Verdana" panose="020B0604030504040204" pitchFamily="34" charset="0"/>
                <a:cs typeface="Verdana" panose="020B0604030504040204" pitchFamily="34" charset="0"/>
              </a:rPr>
              <a:t> </a:t>
            </a:r>
            <a:r>
              <a:rPr lang="en-US" sz="1600" b="1" dirty="0">
                <a:latin typeface="Verdana" panose="020B0604030504040204" pitchFamily="34" charset="0"/>
                <a:ea typeface="Verdana" panose="020B0604030504040204" pitchFamily="34" charset="0"/>
                <a:cs typeface="Verdana" panose="020B0604030504040204" pitchFamily="34" charset="0"/>
              </a:rPr>
              <a:t>IS</a:t>
            </a:r>
            <a:r>
              <a:rPr lang="en-US" sz="16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defRPr/>
            </a:pPr>
            <a:r>
              <a:rPr lang="en-US" sz="1600" dirty="0">
                <a:latin typeface="Verdana" panose="020B0604030504040204" pitchFamily="34" charset="0"/>
                <a:ea typeface="Verdana" panose="020B0604030504040204" pitchFamily="34" charset="0"/>
                <a:cs typeface="Verdana" panose="020B0604030504040204" pitchFamily="34" charset="0"/>
              </a:rPr>
              <a:t> </a:t>
            </a:r>
            <a:r>
              <a:rPr lang="en-US" sz="1600" b="1" dirty="0">
                <a:latin typeface="Verdana" panose="020B0604030504040204" pitchFamily="34" charset="0"/>
                <a:ea typeface="Verdana" panose="020B0604030504040204" pitchFamily="34" charset="0"/>
                <a:cs typeface="Verdana" panose="020B0604030504040204" pitchFamily="34" charset="0"/>
              </a:rPr>
              <a:t>SELECT</a:t>
            </a:r>
            <a:r>
              <a:rPr lang="en-US" sz="1600" dirty="0">
                <a:latin typeface="Verdana" panose="020B0604030504040204" pitchFamily="34" charset="0"/>
                <a:ea typeface="Verdana" panose="020B0604030504040204" pitchFamily="34" charset="0"/>
                <a:cs typeface="Verdana" panose="020B0604030504040204" pitchFamily="34" charset="0"/>
              </a:rPr>
              <a:t> statement;   </a:t>
            </a:r>
          </a:p>
          <a:p>
            <a:pPr marL="0" indent="0">
              <a:buFont typeface="Arial" panose="020B0604020202020204" pitchFamily="34" charset="0"/>
              <a:buNone/>
              <a:defRPr/>
            </a:pPr>
            <a:r>
              <a:rPr lang="en-US" sz="1600" b="1" u="sng" dirty="0">
                <a:latin typeface="Verdana" panose="020B0604030504040204" pitchFamily="34" charset="0"/>
                <a:ea typeface="Verdana" panose="020B0604030504040204" pitchFamily="34" charset="0"/>
                <a:cs typeface="Verdana" panose="020B0604030504040204" pitchFamily="34" charset="0"/>
              </a:rPr>
              <a:t>2) Open the cursor:</a:t>
            </a:r>
          </a:p>
          <a:p>
            <a:pPr marL="0" indent="0">
              <a:buFont typeface="Arial" panose="020B0604020202020204" pitchFamily="34" charset="0"/>
              <a:buNone/>
              <a:defRPr/>
            </a:pPr>
            <a:r>
              <a:rPr lang="en-US" sz="1600" dirty="0">
                <a:latin typeface="Verdana" panose="020B0604030504040204" pitchFamily="34" charset="0"/>
                <a:ea typeface="Verdana" panose="020B0604030504040204" pitchFamily="34" charset="0"/>
                <a:cs typeface="Verdana" panose="020B0604030504040204" pitchFamily="34" charset="0"/>
              </a:rPr>
              <a:t>It is used to allocate memory for the cursor and make it easy to fetch the rows returned by the SQL statements into it.</a:t>
            </a:r>
          </a:p>
          <a:p>
            <a:pPr marL="0" indent="0">
              <a:buFont typeface="Arial" panose="020B0604020202020204" pitchFamily="34" charset="0"/>
              <a:buNone/>
              <a:defRPr/>
            </a:pPr>
            <a:r>
              <a:rPr lang="en-US" sz="1600" b="1" dirty="0">
                <a:latin typeface="Verdana" panose="020B0604030504040204" pitchFamily="34" charset="0"/>
                <a:ea typeface="Verdana" panose="020B0604030504040204" pitchFamily="34" charset="0"/>
                <a:cs typeface="Verdana" panose="020B0604030504040204" pitchFamily="34" charset="0"/>
              </a:rPr>
              <a:t>Syntax for cursor open:</a:t>
            </a:r>
            <a:endParaRPr lang="en-US" sz="16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r>
              <a:rPr lang="en-US" sz="1600" b="1" dirty="0">
                <a:latin typeface="Verdana" panose="020B0604030504040204" pitchFamily="34" charset="0"/>
                <a:ea typeface="Verdana" panose="020B0604030504040204" pitchFamily="34" charset="0"/>
                <a:cs typeface="Verdana" panose="020B0604030504040204" pitchFamily="34" charset="0"/>
              </a:rPr>
              <a:t>OPEN</a:t>
            </a:r>
            <a:r>
              <a:rPr lang="en-US" sz="1600" dirty="0">
                <a:latin typeface="Verdana" panose="020B0604030504040204" pitchFamily="34" charset="0"/>
                <a:ea typeface="Verdana" panose="020B0604030504040204" pitchFamily="34" charset="0"/>
                <a:cs typeface="Verdana" panose="020B0604030504040204" pitchFamily="34" charset="0"/>
              </a:rPr>
              <a:t> </a:t>
            </a:r>
            <a:r>
              <a:rPr lang="en-US" sz="1600" dirty="0" err="1">
                <a:latin typeface="Verdana" panose="020B0604030504040204" pitchFamily="34" charset="0"/>
                <a:ea typeface="Verdana" panose="020B0604030504040204" pitchFamily="34" charset="0"/>
                <a:cs typeface="Verdana" panose="020B0604030504040204" pitchFamily="34" charset="0"/>
              </a:rPr>
              <a:t>cursor_name</a:t>
            </a:r>
            <a:r>
              <a:rPr lang="en-US" sz="16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defRPr/>
            </a:pPr>
            <a:r>
              <a:rPr lang="en-US" sz="1600" b="1" u="sng" dirty="0">
                <a:latin typeface="Verdana" panose="020B0604030504040204" pitchFamily="34" charset="0"/>
                <a:ea typeface="Verdana" panose="020B0604030504040204" pitchFamily="34" charset="0"/>
                <a:cs typeface="Verdana" panose="020B0604030504040204" pitchFamily="34" charset="0"/>
              </a:rPr>
              <a:t>3) Fetch the cursor:</a:t>
            </a:r>
          </a:p>
          <a:p>
            <a:pPr marL="0" indent="0">
              <a:buFont typeface="Arial" panose="020B0604020202020204" pitchFamily="34" charset="0"/>
              <a:buNone/>
              <a:defRPr/>
            </a:pPr>
            <a:r>
              <a:rPr lang="en-US" sz="1600" dirty="0">
                <a:latin typeface="Verdana" panose="020B0604030504040204" pitchFamily="34" charset="0"/>
                <a:ea typeface="Verdana" panose="020B0604030504040204" pitchFamily="34" charset="0"/>
                <a:cs typeface="Verdana" panose="020B0604030504040204" pitchFamily="34" charset="0"/>
              </a:rPr>
              <a:t>It is used to access one row at a time. You can fetch rows from the above-opened cursor as follows:</a:t>
            </a:r>
          </a:p>
          <a:p>
            <a:pPr marL="0" indent="0">
              <a:buFont typeface="Arial" panose="020B0604020202020204" pitchFamily="34" charset="0"/>
              <a:buNone/>
              <a:defRPr/>
            </a:pPr>
            <a:r>
              <a:rPr lang="en-US" sz="1600" b="1" dirty="0">
                <a:latin typeface="Verdana" panose="020B0604030504040204" pitchFamily="34" charset="0"/>
                <a:ea typeface="Verdana" panose="020B0604030504040204" pitchFamily="34" charset="0"/>
                <a:cs typeface="Verdana" panose="020B0604030504040204" pitchFamily="34" charset="0"/>
              </a:rPr>
              <a:t>Syntax for cursor fetch:</a:t>
            </a:r>
            <a:endParaRPr lang="en-US" sz="16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r>
              <a:rPr lang="en-US" sz="1600" b="1" dirty="0">
                <a:latin typeface="Verdana" panose="020B0604030504040204" pitchFamily="34" charset="0"/>
                <a:ea typeface="Verdana" panose="020B0604030504040204" pitchFamily="34" charset="0"/>
                <a:cs typeface="Verdana" panose="020B0604030504040204" pitchFamily="34" charset="0"/>
              </a:rPr>
              <a:t>FETCH</a:t>
            </a:r>
            <a:r>
              <a:rPr lang="en-US" sz="1600" dirty="0">
                <a:latin typeface="Verdana" panose="020B0604030504040204" pitchFamily="34" charset="0"/>
                <a:ea typeface="Verdana" panose="020B0604030504040204" pitchFamily="34" charset="0"/>
                <a:cs typeface="Verdana" panose="020B0604030504040204" pitchFamily="34" charset="0"/>
              </a:rPr>
              <a:t> </a:t>
            </a:r>
            <a:r>
              <a:rPr lang="en-US" sz="1600" dirty="0" err="1">
                <a:latin typeface="Verdana" panose="020B0604030504040204" pitchFamily="34" charset="0"/>
                <a:ea typeface="Verdana" panose="020B0604030504040204" pitchFamily="34" charset="0"/>
                <a:cs typeface="Verdana" panose="020B0604030504040204" pitchFamily="34" charset="0"/>
              </a:rPr>
              <a:t>cursor_name</a:t>
            </a:r>
            <a:r>
              <a:rPr lang="en-US" sz="1600" dirty="0">
                <a:latin typeface="Verdana" panose="020B0604030504040204" pitchFamily="34" charset="0"/>
                <a:ea typeface="Verdana" panose="020B0604030504040204" pitchFamily="34" charset="0"/>
                <a:cs typeface="Verdana" panose="020B0604030504040204" pitchFamily="34" charset="0"/>
              </a:rPr>
              <a:t> </a:t>
            </a:r>
            <a:r>
              <a:rPr lang="en-US" sz="1600" b="1" dirty="0">
                <a:latin typeface="Verdana" panose="020B0604030504040204" pitchFamily="34" charset="0"/>
                <a:ea typeface="Verdana" panose="020B0604030504040204" pitchFamily="34" charset="0"/>
                <a:cs typeface="Verdana" panose="020B0604030504040204" pitchFamily="34" charset="0"/>
              </a:rPr>
              <a:t>INTO</a:t>
            </a:r>
            <a:r>
              <a:rPr lang="en-US" sz="1600" dirty="0">
                <a:latin typeface="Verdana" panose="020B0604030504040204" pitchFamily="34" charset="0"/>
                <a:ea typeface="Verdana" panose="020B0604030504040204" pitchFamily="34" charset="0"/>
                <a:cs typeface="Verdana" panose="020B0604030504040204" pitchFamily="34" charset="0"/>
              </a:rPr>
              <a:t> </a:t>
            </a:r>
            <a:r>
              <a:rPr lang="en-US" sz="1600" dirty="0" err="1">
                <a:latin typeface="Verdana" panose="020B0604030504040204" pitchFamily="34" charset="0"/>
                <a:ea typeface="Verdana" panose="020B0604030504040204" pitchFamily="34" charset="0"/>
                <a:cs typeface="Verdana" panose="020B0604030504040204" pitchFamily="34" charset="0"/>
              </a:rPr>
              <a:t>variable_list</a:t>
            </a:r>
            <a:r>
              <a:rPr lang="en-US" sz="16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defRPr/>
            </a:pPr>
            <a:r>
              <a:rPr lang="en-US" sz="1600" b="1" u="sng" dirty="0">
                <a:latin typeface="Verdana" panose="020B0604030504040204" pitchFamily="34" charset="0"/>
                <a:ea typeface="Verdana" panose="020B0604030504040204" pitchFamily="34" charset="0"/>
                <a:cs typeface="Verdana" panose="020B0604030504040204" pitchFamily="34" charset="0"/>
              </a:rPr>
              <a:t>4) Close the cursor:</a:t>
            </a:r>
          </a:p>
          <a:p>
            <a:pPr marL="0" indent="0">
              <a:buFont typeface="Arial" panose="020B0604020202020204" pitchFamily="34" charset="0"/>
              <a:buNone/>
              <a:defRPr/>
            </a:pPr>
            <a:r>
              <a:rPr lang="en-US" sz="1600" dirty="0">
                <a:latin typeface="Verdana" panose="020B0604030504040204" pitchFamily="34" charset="0"/>
                <a:ea typeface="Verdana" panose="020B0604030504040204" pitchFamily="34" charset="0"/>
                <a:cs typeface="Verdana" panose="020B0604030504040204" pitchFamily="34" charset="0"/>
              </a:rPr>
              <a:t>It is used to release the allocated memory. The following syntax is used to close the above-opened cursors.</a:t>
            </a:r>
          </a:p>
          <a:p>
            <a:pPr marL="0" indent="0">
              <a:buFont typeface="Arial" panose="020B0604020202020204" pitchFamily="34" charset="0"/>
              <a:buNone/>
              <a:defRPr/>
            </a:pPr>
            <a:r>
              <a:rPr lang="en-US" sz="1600" b="1" dirty="0">
                <a:latin typeface="Verdana" panose="020B0604030504040204" pitchFamily="34" charset="0"/>
                <a:ea typeface="Verdana" panose="020B0604030504040204" pitchFamily="34" charset="0"/>
                <a:cs typeface="Verdana" panose="020B0604030504040204" pitchFamily="34" charset="0"/>
              </a:rPr>
              <a:t>Syntax for cursor close:</a:t>
            </a:r>
            <a:endParaRPr lang="en-US" sz="16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r>
              <a:rPr lang="en-US" sz="1600" b="1" dirty="0">
                <a:latin typeface="Verdana" panose="020B0604030504040204" pitchFamily="34" charset="0"/>
                <a:ea typeface="Verdana" panose="020B0604030504040204" pitchFamily="34" charset="0"/>
                <a:cs typeface="Verdana" panose="020B0604030504040204" pitchFamily="34" charset="0"/>
              </a:rPr>
              <a:t>Close</a:t>
            </a:r>
            <a:r>
              <a:rPr lang="en-US" sz="1600" dirty="0">
                <a:latin typeface="Verdana" panose="020B0604030504040204" pitchFamily="34" charset="0"/>
                <a:ea typeface="Verdana" panose="020B0604030504040204" pitchFamily="34" charset="0"/>
                <a:cs typeface="Verdana" panose="020B0604030504040204" pitchFamily="34" charset="0"/>
              </a:rPr>
              <a:t> </a:t>
            </a:r>
            <a:r>
              <a:rPr lang="en-US" sz="1600" dirty="0" err="1">
                <a:latin typeface="Verdana" panose="020B0604030504040204" pitchFamily="34" charset="0"/>
                <a:ea typeface="Verdana" panose="020B0604030504040204" pitchFamily="34" charset="0"/>
                <a:cs typeface="Verdana" panose="020B0604030504040204" pitchFamily="34" charset="0"/>
              </a:rPr>
              <a:t>cursor_name</a:t>
            </a:r>
            <a:r>
              <a:rPr lang="en-US" sz="1600" dirty="0">
                <a:latin typeface="Verdana" panose="020B0604030504040204" pitchFamily="34" charset="0"/>
                <a:ea typeface="Verdana" panose="020B0604030504040204" pitchFamily="34" charset="0"/>
                <a:cs typeface="Verdana" panose="020B0604030504040204" pitchFamily="34" charset="0"/>
              </a:rPr>
              <a:t>;  </a:t>
            </a:r>
          </a:p>
          <a:p>
            <a:pPr>
              <a:defRPr/>
            </a:pPr>
            <a:endParaRPr lang="en-US" dirty="0"/>
          </a:p>
        </p:txBody>
      </p:sp>
      <p:sp>
        <p:nvSpPr>
          <p:cNvPr id="4" name="Date Placeholder 3">
            <a:extLst>
              <a:ext uri="{FF2B5EF4-FFF2-40B4-BE49-F238E27FC236}">
                <a16:creationId xmlns:a16="http://schemas.microsoft.com/office/drawing/2014/main" id="{1276F95B-04A2-4079-B4C7-7F771FFEB25C}"/>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Content Placeholder 2">
            <a:extLst>
              <a:ext uri="{FF2B5EF4-FFF2-40B4-BE49-F238E27FC236}">
                <a16:creationId xmlns:a16="http://schemas.microsoft.com/office/drawing/2014/main" id="{EE864404-3575-4ACF-BD76-27C2D5E0CBDF}"/>
              </a:ext>
            </a:extLst>
          </p:cNvPr>
          <p:cNvSpPr>
            <a:spLocks noGrp="1"/>
          </p:cNvSpPr>
          <p:nvPr>
            <p:ph idx="1"/>
          </p:nvPr>
        </p:nvSpPr>
        <p:spPr>
          <a:xfrm>
            <a:off x="457200" y="152400"/>
            <a:ext cx="8058150" cy="6400800"/>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Explicit cursors are defined by programmers to gain more control over the context area. It is defined in the declaration section of the PL/SQL block. It is created on a SELECT statement which returns more than one row.</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Example:</a:t>
            </a:r>
          </a:p>
          <a:p>
            <a:pPr marL="0" indent="0">
              <a:buFont typeface="Arial" panose="020B0604020202020204" pitchFamily="34" charset="0"/>
              <a:buNone/>
            </a:pPr>
            <a:r>
              <a:rPr lang="en-US" altLang="en-US" sz="1600" b="1">
                <a:latin typeface="Verdana" panose="020B0604030504040204" pitchFamily="34" charset="0"/>
                <a:ea typeface="Verdana" panose="020B0604030504040204" pitchFamily="34" charset="0"/>
                <a:cs typeface="Verdana" panose="020B0604030504040204" pitchFamily="34" charset="0"/>
              </a:rPr>
              <a:t>DECLARE</a:t>
            </a:r>
            <a:r>
              <a:rPr lang="en-US" altLang="en-US" sz="16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c_id customers.id%type;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c_name customers.</a:t>
            </a:r>
            <a:r>
              <a:rPr lang="en-US" altLang="en-US" sz="1600" b="1">
                <a:latin typeface="Verdana" panose="020B0604030504040204" pitchFamily="34" charset="0"/>
                <a:ea typeface="Verdana" panose="020B0604030504040204" pitchFamily="34" charset="0"/>
                <a:cs typeface="Verdana" panose="020B0604030504040204" pitchFamily="34" charset="0"/>
              </a:rPr>
              <a:t>name</a:t>
            </a:r>
            <a:r>
              <a:rPr lang="en-US" altLang="en-US" sz="1600">
                <a:latin typeface="Verdana" panose="020B0604030504040204" pitchFamily="34" charset="0"/>
                <a:ea typeface="Verdana" panose="020B0604030504040204" pitchFamily="34" charset="0"/>
                <a:cs typeface="Verdana" panose="020B0604030504040204" pitchFamily="34" charset="0"/>
              </a:rPr>
              <a:t>%type;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c_addr customers.address%type;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a:t>
            </a:r>
            <a:r>
              <a:rPr lang="en-US" altLang="en-US" sz="1600" b="1">
                <a:latin typeface="Verdana" panose="020B0604030504040204" pitchFamily="34" charset="0"/>
                <a:ea typeface="Verdana" panose="020B0604030504040204" pitchFamily="34" charset="0"/>
                <a:cs typeface="Verdana" panose="020B0604030504040204" pitchFamily="34" charset="0"/>
              </a:rPr>
              <a:t>CURSOR</a:t>
            </a:r>
            <a:r>
              <a:rPr lang="en-US" altLang="en-US" sz="1600">
                <a:latin typeface="Verdana" panose="020B0604030504040204" pitchFamily="34" charset="0"/>
                <a:ea typeface="Verdana" panose="020B0604030504040204" pitchFamily="34" charset="0"/>
                <a:cs typeface="Verdana" panose="020B0604030504040204" pitchFamily="34" charset="0"/>
              </a:rPr>
              <a:t> c_customers </a:t>
            </a:r>
            <a:r>
              <a:rPr lang="en-US" altLang="en-US" sz="1600" b="1">
                <a:latin typeface="Verdana" panose="020B0604030504040204" pitchFamily="34" charset="0"/>
                <a:ea typeface="Verdana" panose="020B0604030504040204" pitchFamily="34" charset="0"/>
                <a:cs typeface="Verdana" panose="020B0604030504040204" pitchFamily="34" charset="0"/>
              </a:rPr>
              <a:t>is</a:t>
            </a:r>
            <a:r>
              <a:rPr lang="en-US" altLang="en-US" sz="16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a:t>
            </a:r>
            <a:r>
              <a:rPr lang="en-US" altLang="en-US" sz="1600" b="1">
                <a:latin typeface="Verdana" panose="020B0604030504040204" pitchFamily="34" charset="0"/>
                <a:ea typeface="Verdana" panose="020B0604030504040204" pitchFamily="34" charset="0"/>
                <a:cs typeface="Verdana" panose="020B0604030504040204" pitchFamily="34" charset="0"/>
              </a:rPr>
              <a:t>SELECT</a:t>
            </a:r>
            <a:r>
              <a:rPr lang="en-US" altLang="en-US" sz="1600">
                <a:latin typeface="Verdana" panose="020B0604030504040204" pitchFamily="34" charset="0"/>
                <a:ea typeface="Verdana" panose="020B0604030504040204" pitchFamily="34" charset="0"/>
                <a:cs typeface="Verdana" panose="020B0604030504040204" pitchFamily="34" charset="0"/>
              </a:rPr>
              <a:t> id, </a:t>
            </a:r>
            <a:r>
              <a:rPr lang="en-US" altLang="en-US" sz="1600" b="1">
                <a:latin typeface="Verdana" panose="020B0604030504040204" pitchFamily="34" charset="0"/>
                <a:ea typeface="Verdana" panose="020B0604030504040204" pitchFamily="34" charset="0"/>
                <a:cs typeface="Verdana" panose="020B0604030504040204" pitchFamily="34" charset="0"/>
              </a:rPr>
              <a:t>name</a:t>
            </a:r>
            <a:r>
              <a:rPr lang="en-US" altLang="en-US" sz="1600">
                <a:latin typeface="Verdana" panose="020B0604030504040204" pitchFamily="34" charset="0"/>
                <a:ea typeface="Verdana" panose="020B0604030504040204" pitchFamily="34" charset="0"/>
                <a:cs typeface="Verdana" panose="020B0604030504040204" pitchFamily="34" charset="0"/>
              </a:rPr>
              <a:t>, address </a:t>
            </a:r>
            <a:r>
              <a:rPr lang="en-US" altLang="en-US" sz="1600" b="1">
                <a:latin typeface="Verdana" panose="020B0604030504040204" pitchFamily="34" charset="0"/>
                <a:ea typeface="Verdana" panose="020B0604030504040204" pitchFamily="34" charset="0"/>
                <a:cs typeface="Verdana" panose="020B0604030504040204" pitchFamily="34" charset="0"/>
              </a:rPr>
              <a:t>FROM</a:t>
            </a:r>
            <a:r>
              <a:rPr lang="en-US" altLang="en-US" sz="1600">
                <a:latin typeface="Verdana" panose="020B0604030504040204" pitchFamily="34" charset="0"/>
                <a:ea typeface="Verdana" panose="020B0604030504040204" pitchFamily="34" charset="0"/>
                <a:cs typeface="Verdana" panose="020B0604030504040204" pitchFamily="34" charset="0"/>
              </a:rPr>
              <a:t> customers;  </a:t>
            </a:r>
          </a:p>
          <a:p>
            <a:pPr marL="0" indent="0">
              <a:buFont typeface="Arial" panose="020B0604020202020204" pitchFamily="34" charset="0"/>
              <a:buNone/>
            </a:pPr>
            <a:r>
              <a:rPr lang="en-US" altLang="en-US" sz="1600" b="1">
                <a:latin typeface="Verdana" panose="020B0604030504040204" pitchFamily="34" charset="0"/>
                <a:ea typeface="Verdana" panose="020B0604030504040204" pitchFamily="34" charset="0"/>
                <a:cs typeface="Verdana" panose="020B0604030504040204" pitchFamily="34" charset="0"/>
              </a:rPr>
              <a:t>BEGIN</a:t>
            </a:r>
            <a:r>
              <a:rPr lang="en-US" altLang="en-US" sz="16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a:t>
            </a:r>
            <a:r>
              <a:rPr lang="en-US" altLang="en-US" sz="1600" b="1">
                <a:latin typeface="Verdana" panose="020B0604030504040204" pitchFamily="34" charset="0"/>
                <a:ea typeface="Verdana" panose="020B0604030504040204" pitchFamily="34" charset="0"/>
                <a:cs typeface="Verdana" panose="020B0604030504040204" pitchFamily="34" charset="0"/>
              </a:rPr>
              <a:t>OPEN</a:t>
            </a:r>
            <a:r>
              <a:rPr lang="en-US" altLang="en-US" sz="1600">
                <a:latin typeface="Verdana" panose="020B0604030504040204" pitchFamily="34" charset="0"/>
                <a:ea typeface="Verdana" panose="020B0604030504040204" pitchFamily="34" charset="0"/>
                <a:cs typeface="Verdana" panose="020B0604030504040204" pitchFamily="34" charset="0"/>
              </a:rPr>
              <a:t> c_customers;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LOOP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a:t>
            </a:r>
            <a:r>
              <a:rPr lang="en-US" altLang="en-US" sz="1600" b="1">
                <a:latin typeface="Verdana" panose="020B0604030504040204" pitchFamily="34" charset="0"/>
                <a:ea typeface="Verdana" panose="020B0604030504040204" pitchFamily="34" charset="0"/>
                <a:cs typeface="Verdana" panose="020B0604030504040204" pitchFamily="34" charset="0"/>
              </a:rPr>
              <a:t>FETCH</a:t>
            </a:r>
            <a:r>
              <a:rPr lang="en-US" altLang="en-US" sz="1600">
                <a:latin typeface="Verdana" panose="020B0604030504040204" pitchFamily="34" charset="0"/>
                <a:ea typeface="Verdana" panose="020B0604030504040204" pitchFamily="34" charset="0"/>
                <a:cs typeface="Verdana" panose="020B0604030504040204" pitchFamily="34" charset="0"/>
              </a:rPr>
              <a:t> c_customers </a:t>
            </a:r>
            <a:r>
              <a:rPr lang="en-US" altLang="en-US" sz="1600" b="1">
                <a:latin typeface="Verdana" panose="020B0604030504040204" pitchFamily="34" charset="0"/>
                <a:ea typeface="Verdana" panose="020B0604030504040204" pitchFamily="34" charset="0"/>
                <a:cs typeface="Verdana" panose="020B0604030504040204" pitchFamily="34" charset="0"/>
              </a:rPr>
              <a:t>into</a:t>
            </a:r>
            <a:r>
              <a:rPr lang="en-US" altLang="en-US" sz="1600">
                <a:latin typeface="Verdana" panose="020B0604030504040204" pitchFamily="34" charset="0"/>
                <a:ea typeface="Verdana" panose="020B0604030504040204" pitchFamily="34" charset="0"/>
                <a:cs typeface="Verdana" panose="020B0604030504040204" pitchFamily="34" charset="0"/>
              </a:rPr>
              <a:t> c_id, c_name, c_addr;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EXIT </a:t>
            </a:r>
            <a:r>
              <a:rPr lang="en-US" altLang="en-US" sz="1600" b="1">
                <a:latin typeface="Verdana" panose="020B0604030504040204" pitchFamily="34" charset="0"/>
                <a:ea typeface="Verdana" panose="020B0604030504040204" pitchFamily="34" charset="0"/>
                <a:cs typeface="Verdana" panose="020B0604030504040204" pitchFamily="34" charset="0"/>
              </a:rPr>
              <a:t>WHEN</a:t>
            </a:r>
            <a:r>
              <a:rPr lang="en-US" altLang="en-US" sz="1600">
                <a:latin typeface="Verdana" panose="020B0604030504040204" pitchFamily="34" charset="0"/>
                <a:ea typeface="Verdana" panose="020B0604030504040204" pitchFamily="34" charset="0"/>
                <a:cs typeface="Verdana" panose="020B0604030504040204" pitchFamily="34" charset="0"/>
              </a:rPr>
              <a:t> c_customers%notfound;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dbms_output.put_line(c_id || ' ' || c_name || ' ' || c_addr);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a:t>
            </a:r>
            <a:r>
              <a:rPr lang="en-US" altLang="en-US" sz="1600" b="1">
                <a:latin typeface="Verdana" panose="020B0604030504040204" pitchFamily="34" charset="0"/>
                <a:ea typeface="Verdana" panose="020B0604030504040204" pitchFamily="34" charset="0"/>
                <a:cs typeface="Verdana" panose="020B0604030504040204" pitchFamily="34" charset="0"/>
              </a:rPr>
              <a:t>END</a:t>
            </a:r>
            <a:r>
              <a:rPr lang="en-US" altLang="en-US" sz="1600">
                <a:latin typeface="Verdana" panose="020B0604030504040204" pitchFamily="34" charset="0"/>
                <a:ea typeface="Verdana" panose="020B0604030504040204" pitchFamily="34" charset="0"/>
                <a:cs typeface="Verdana" panose="020B0604030504040204" pitchFamily="34" charset="0"/>
              </a:rPr>
              <a:t> LOOP;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a:t>
            </a:r>
            <a:r>
              <a:rPr lang="en-US" altLang="en-US" sz="1600" b="1">
                <a:latin typeface="Verdana" panose="020B0604030504040204" pitchFamily="34" charset="0"/>
                <a:ea typeface="Verdana" panose="020B0604030504040204" pitchFamily="34" charset="0"/>
                <a:cs typeface="Verdana" panose="020B0604030504040204" pitchFamily="34" charset="0"/>
              </a:rPr>
              <a:t>CLOSE</a:t>
            </a:r>
            <a:r>
              <a:rPr lang="en-US" altLang="en-US" sz="1600">
                <a:latin typeface="Verdana" panose="020B0604030504040204" pitchFamily="34" charset="0"/>
                <a:ea typeface="Verdana" panose="020B0604030504040204" pitchFamily="34" charset="0"/>
                <a:cs typeface="Verdana" panose="020B0604030504040204" pitchFamily="34" charset="0"/>
              </a:rPr>
              <a:t> c_customers;  </a:t>
            </a:r>
          </a:p>
          <a:p>
            <a:pPr marL="0" indent="0">
              <a:buFont typeface="Arial" panose="020B0604020202020204" pitchFamily="34" charset="0"/>
              <a:buNone/>
            </a:pPr>
            <a:r>
              <a:rPr lang="en-US" altLang="en-US" sz="1600" b="1">
                <a:latin typeface="Verdana" panose="020B0604030504040204" pitchFamily="34" charset="0"/>
                <a:ea typeface="Verdana" panose="020B0604030504040204" pitchFamily="34" charset="0"/>
                <a:cs typeface="Verdana" panose="020B0604030504040204" pitchFamily="34" charset="0"/>
              </a:rPr>
              <a:t>END</a:t>
            </a:r>
            <a:r>
              <a:rPr lang="en-US" altLang="en-US" sz="16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FD3F52A7-CC27-4DCB-899D-4426D36126AD}"/>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Content Placeholder 2">
            <a:extLst>
              <a:ext uri="{FF2B5EF4-FFF2-40B4-BE49-F238E27FC236}">
                <a16:creationId xmlns:a16="http://schemas.microsoft.com/office/drawing/2014/main" id="{D7762995-B3B6-45B1-8735-864C3F361665}"/>
              </a:ext>
            </a:extLst>
          </p:cNvPr>
          <p:cNvSpPr>
            <a:spLocks noGrp="1"/>
          </p:cNvSpPr>
          <p:nvPr>
            <p:ph idx="1"/>
          </p:nvPr>
        </p:nvSpPr>
        <p:spPr>
          <a:xfrm>
            <a:off x="304800" y="228600"/>
            <a:ext cx="8210550" cy="6127750"/>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Output:</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1  Ramesh  Allahabad</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2  Suresh  Kanpur</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3  Mahesh  Ghaziabad</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4  Chandan  Noida</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5  Alex  Paris</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6  Sunita  Delhi</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PL/SQL procedure successfully completed.</a:t>
            </a:r>
          </a:p>
        </p:txBody>
      </p:sp>
      <p:sp>
        <p:nvSpPr>
          <p:cNvPr id="4" name="Date Placeholder 3">
            <a:extLst>
              <a:ext uri="{FF2B5EF4-FFF2-40B4-BE49-F238E27FC236}">
                <a16:creationId xmlns:a16="http://schemas.microsoft.com/office/drawing/2014/main" id="{BB8A7A25-31A9-4C0E-948B-1867DC9DD326}"/>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a:extLst>
              <a:ext uri="{FF2B5EF4-FFF2-40B4-BE49-F238E27FC236}">
                <a16:creationId xmlns:a16="http://schemas.microsoft.com/office/drawing/2014/main" id="{B4A597D3-DFFF-43E5-A739-DF5B7E46C9FE}"/>
              </a:ext>
            </a:extLst>
          </p:cNvPr>
          <p:cNvSpPr>
            <a:spLocks noGrp="1"/>
          </p:cNvSpPr>
          <p:nvPr>
            <p:ph type="title"/>
          </p:nvPr>
        </p:nvSpPr>
        <p:spPr>
          <a:xfrm>
            <a:off x="628650" y="152400"/>
            <a:ext cx="8210550" cy="533400"/>
          </a:xfrm>
        </p:spPr>
        <p:txBody>
          <a:bodyPr/>
          <a:lstStyle/>
          <a:p>
            <a:br>
              <a:rPr lang="en-US" altLang="en-US" b="1"/>
            </a:br>
            <a:r>
              <a:rPr lang="en-US" altLang="en-US" b="1"/>
              <a:t>What is Parameterized cursor?</a:t>
            </a:r>
            <a:br>
              <a:rPr lang="en-US" altLang="en-US"/>
            </a:br>
            <a:endParaRPr lang="en-US" altLang="en-US"/>
          </a:p>
        </p:txBody>
      </p:sp>
      <p:sp>
        <p:nvSpPr>
          <p:cNvPr id="93187" name="Content Placeholder 2">
            <a:extLst>
              <a:ext uri="{FF2B5EF4-FFF2-40B4-BE49-F238E27FC236}">
                <a16:creationId xmlns:a16="http://schemas.microsoft.com/office/drawing/2014/main" id="{8143A18B-FF83-4974-9E5B-59EF04CB7CB5}"/>
              </a:ext>
            </a:extLst>
          </p:cNvPr>
          <p:cNvSpPr>
            <a:spLocks noGrp="1"/>
          </p:cNvSpPr>
          <p:nvPr>
            <p:ph idx="1"/>
          </p:nvPr>
        </p:nvSpPr>
        <p:spPr>
          <a:xfrm>
            <a:off x="457200" y="533400"/>
            <a:ext cx="8058150" cy="5822950"/>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Unlike simple explicit cursor, parameterized cursors accept values as parameter. You specify the list of parameters separated by comma (,) while declaring the cursor and supply the corresponding argument for each parameter in the list while opening the cursor.</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Definition:</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Cursor parameter can be appropriately defined as an explicit cursor that accepts arguments from the user in the form of parameter.</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Advantages:</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1. Makes the cursor more reusable</a:t>
            </a: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You can use a parameter and then pass different values to the WHERE clause each time a cursor is opened instead of hardcoding a value into the WHERE clause of a query to select particular information.</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2. Avoids scoping problems</a:t>
            </a: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When you pass parameters instead of hardcoding the values, the result set for that cursor is not tied to a specific variable in a program or block. Therefore in case your program has nested blocks, you can define the cursor at a higher-level (enclosing) block and use it in any of the sub-blocks with variables defined in those local blocks.</a:t>
            </a:r>
            <a:endParaRPr lang="en-US" altLang="en-US" sz="1800" b="1">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24344F9E-9E72-46A1-A945-88114FEAEDF1}"/>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FDAF3199-B475-415B-93DF-0B7F474BF1BB}"/>
              </a:ext>
            </a:extLst>
          </p:cNvPr>
          <p:cNvSpPr>
            <a:spLocks noGrp="1"/>
          </p:cNvSpPr>
          <p:nvPr>
            <p:ph type="title"/>
          </p:nvPr>
        </p:nvSpPr>
        <p:spPr>
          <a:xfrm>
            <a:off x="228600" y="76200"/>
            <a:ext cx="8286750" cy="533400"/>
          </a:xfrm>
        </p:spPr>
        <p:txBody>
          <a:bodyPr/>
          <a:lstStyle/>
          <a:p>
            <a:r>
              <a:rPr lang="en-US" altLang="en-US" sz="1800" b="1">
                <a:latin typeface="Verdana" panose="020B0604030504040204" pitchFamily="34" charset="0"/>
                <a:ea typeface="Verdana" panose="020B0604030504040204" pitchFamily="34" charset="0"/>
                <a:cs typeface="Verdana" panose="020B0604030504040204" pitchFamily="34" charset="0"/>
              </a:rPr>
              <a:t>Example:</a:t>
            </a:r>
          </a:p>
        </p:txBody>
      </p:sp>
      <p:sp>
        <p:nvSpPr>
          <p:cNvPr id="94211" name="Content Placeholder 2">
            <a:extLst>
              <a:ext uri="{FF2B5EF4-FFF2-40B4-BE49-F238E27FC236}">
                <a16:creationId xmlns:a16="http://schemas.microsoft.com/office/drawing/2014/main" id="{7D05E988-A829-4B7A-9014-86BF698625C4}"/>
              </a:ext>
            </a:extLst>
          </p:cNvPr>
          <p:cNvSpPr>
            <a:spLocks noGrp="1"/>
          </p:cNvSpPr>
          <p:nvPr>
            <p:ph idx="1"/>
          </p:nvPr>
        </p:nvSpPr>
        <p:spPr>
          <a:xfrm>
            <a:off x="387350" y="790575"/>
            <a:ext cx="8134350" cy="5746750"/>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SET SERVEROUTPUT ON;</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 DECLARE</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  v_name VARCHAR2 (30);</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  --Declare Cursor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  CURSOR p_cur_R1 (var_e_id VARCHAR2) IS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  SELECT first_name FROM EMPLOYEES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  WHERE employee_id &lt; var_e_id;</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 BEGIN</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  OPEN p_cur_R1 (105);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 LOOP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  FETCH p_cur_R1 INTO v_name;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  EXIT WHEN p_cur_R1%NOTFOUND;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  DBMS_OUTPUT.PUT_LINE(v_name );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 END LOOP;</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 CLOSE p_cur_R1;</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 END;</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a:t>
            </a:r>
          </a:p>
        </p:txBody>
      </p:sp>
      <p:sp>
        <p:nvSpPr>
          <p:cNvPr id="4" name="Date Placeholder 3">
            <a:extLst>
              <a:ext uri="{FF2B5EF4-FFF2-40B4-BE49-F238E27FC236}">
                <a16:creationId xmlns:a16="http://schemas.microsoft.com/office/drawing/2014/main" id="{4D345229-57D6-4F22-9637-A9B755238711}"/>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F0595558-EEE2-45F0-9BAA-BCE84CB272B0}"/>
              </a:ext>
            </a:extLst>
          </p:cNvPr>
          <p:cNvSpPr>
            <a:spLocks noGrp="1"/>
          </p:cNvSpPr>
          <p:nvPr>
            <p:ph type="title"/>
          </p:nvPr>
        </p:nvSpPr>
        <p:spPr>
          <a:xfrm>
            <a:off x="0" y="0"/>
            <a:ext cx="8763000" cy="685800"/>
          </a:xfrm>
        </p:spPr>
        <p:txBody>
          <a:bodyPr/>
          <a:lstStyle/>
          <a:p>
            <a:br>
              <a:rPr lang="en-US" altLang="en-US" b="1"/>
            </a:br>
            <a:r>
              <a:rPr lang="en-US" altLang="en-US" sz="1800" b="1">
                <a:latin typeface="Verdana" panose="020B0604030504040204" pitchFamily="34" charset="0"/>
                <a:ea typeface="Verdana" panose="020B0604030504040204" pitchFamily="34" charset="0"/>
                <a:cs typeface="Verdana" panose="020B0604030504040204" pitchFamily="34" charset="0"/>
              </a:rPr>
              <a:t>Parameterized Cursor With Default Value In Oracle Database</a:t>
            </a:r>
            <a:br>
              <a:rPr lang="en-US" altLang="en-US"/>
            </a:br>
            <a:endParaRPr lang="en-US" altLang="en-US"/>
          </a:p>
        </p:txBody>
      </p:sp>
      <p:sp>
        <p:nvSpPr>
          <p:cNvPr id="95235" name="Content Placeholder 2">
            <a:extLst>
              <a:ext uri="{FF2B5EF4-FFF2-40B4-BE49-F238E27FC236}">
                <a16:creationId xmlns:a16="http://schemas.microsoft.com/office/drawing/2014/main" id="{86899987-988C-470E-964D-B420847B3A3A}"/>
              </a:ext>
            </a:extLst>
          </p:cNvPr>
          <p:cNvSpPr>
            <a:spLocks noGrp="1"/>
          </p:cNvSpPr>
          <p:nvPr>
            <p:ph idx="1"/>
          </p:nvPr>
        </p:nvSpPr>
        <p:spPr>
          <a:xfrm>
            <a:off x="381000" y="533400"/>
            <a:ext cx="8134350" cy="5822950"/>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we learnt that in PL/SQL we are allowed to create a cursor with parameter known as Cursor Parameter (a.k.a. Parameterized Cursor).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Every cursor parameter has some restrictions which we have to comply with for example we have to specify the argument for each parameter when we open the cursor otherwise we get a PLS 00306 error.</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br>
              <a:rPr lang="en-US" altLang="en-US" sz="1800">
                <a:latin typeface="Verdana" panose="020B0604030504040204" pitchFamily="34" charset="0"/>
                <a:ea typeface="Verdana" panose="020B0604030504040204" pitchFamily="34" charset="0"/>
                <a:cs typeface="Verdana" panose="020B0604030504040204" pitchFamily="34" charset="0"/>
              </a:rPr>
            </a:b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To overcome this restriction, we have the option called default value. Default value is the value which you assign to the parameter of your cursor during the declaration of the cursor. </a:t>
            </a:r>
          </a:p>
        </p:txBody>
      </p:sp>
      <p:sp>
        <p:nvSpPr>
          <p:cNvPr id="4" name="Date Placeholder 3">
            <a:extLst>
              <a:ext uri="{FF2B5EF4-FFF2-40B4-BE49-F238E27FC236}">
                <a16:creationId xmlns:a16="http://schemas.microsoft.com/office/drawing/2014/main" id="{2FA2D43D-EB8F-4EAE-9C49-9719703A2A74}"/>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8FA99B67-3F44-4D18-BD3D-4AA8EDFF0E76}"/>
              </a:ext>
            </a:extLst>
          </p:cNvPr>
          <p:cNvSpPr>
            <a:spLocks noGrp="1"/>
          </p:cNvSpPr>
          <p:nvPr>
            <p:ph type="title"/>
          </p:nvPr>
        </p:nvSpPr>
        <p:spPr>
          <a:xfrm>
            <a:off x="628650" y="152400"/>
            <a:ext cx="7886700" cy="685800"/>
          </a:xfrm>
        </p:spPr>
        <p:txBody>
          <a:bodyPr/>
          <a:lstStyle/>
          <a:p>
            <a:r>
              <a:rPr lang="en-US" altLang="en-US" sz="1800" b="1">
                <a:latin typeface="Verdana" panose="020B0604030504040204" pitchFamily="34" charset="0"/>
                <a:ea typeface="Verdana" panose="020B0604030504040204" pitchFamily="34" charset="0"/>
                <a:cs typeface="Verdana" panose="020B0604030504040204" pitchFamily="34" charset="0"/>
              </a:rPr>
              <a:t>Example 1 of Cursor Parameter with Default Value</a:t>
            </a:r>
            <a:br>
              <a:rPr lang="en-US" altLang="en-US" sz="1800">
                <a:latin typeface="Verdana" panose="020B0604030504040204" pitchFamily="34" charset="0"/>
                <a:ea typeface="Verdana" panose="020B0604030504040204" pitchFamily="34" charset="0"/>
                <a:cs typeface="Verdana" panose="020B0604030504040204" pitchFamily="34" charset="0"/>
              </a:rPr>
            </a:br>
            <a:endParaRPr lang="en-US" altLang="en-US" sz="1800">
              <a:latin typeface="Verdana" panose="020B0604030504040204" pitchFamily="34" charset="0"/>
              <a:ea typeface="Verdana" panose="020B0604030504040204" pitchFamily="34" charset="0"/>
              <a:cs typeface="Verdana" panose="020B0604030504040204" pitchFamily="34" charset="0"/>
            </a:endParaRPr>
          </a:p>
        </p:txBody>
      </p:sp>
      <p:sp>
        <p:nvSpPr>
          <p:cNvPr id="96259" name="Content Placeholder 2">
            <a:extLst>
              <a:ext uri="{FF2B5EF4-FFF2-40B4-BE49-F238E27FC236}">
                <a16:creationId xmlns:a16="http://schemas.microsoft.com/office/drawing/2014/main" id="{2A7A368A-FDF4-4738-8E65-A1086F74BC9A}"/>
              </a:ext>
            </a:extLst>
          </p:cNvPr>
          <p:cNvSpPr>
            <a:spLocks noGrp="1"/>
          </p:cNvSpPr>
          <p:nvPr>
            <p:ph idx="1"/>
          </p:nvPr>
        </p:nvSpPr>
        <p:spPr>
          <a:xfrm>
            <a:off x="628650" y="533400"/>
            <a:ext cx="7886700" cy="5643563"/>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SET SERVEROUTPUT ON;</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 DECLARE</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  v_name VARCHAR2(30);</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  v_eid NUMBER(10);</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i="1">
                <a:latin typeface="Verdana" panose="020B0604030504040204" pitchFamily="34" charset="0"/>
                <a:ea typeface="Verdana" panose="020B0604030504040204" pitchFamily="34" charset="0"/>
                <a:cs typeface="Verdana" panose="020B0604030504040204" pitchFamily="34" charset="0"/>
              </a:rPr>
              <a:t>CURSOR cur_R1(var_e_id NUMBER := 190 )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  IS</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  SELECT first_name, employee_id FROM employees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  WHERE employee_id &gt; var_e_id;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 BEGIN</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  OPEN cur_r1;</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  LOOP</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   FETCH cur_r1 INTO v_name, v_eid;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   EXIT WHEN cur_r1%NOTFOUND;</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   DBMS_OUTPUT.PUT_LINE(v_name ||' '||v_eid);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  END LOOP;</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  CLOSE cur_r1;</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 END;</a:t>
            </a:r>
          </a:p>
        </p:txBody>
      </p:sp>
      <p:sp>
        <p:nvSpPr>
          <p:cNvPr id="4" name="Date Placeholder 3">
            <a:extLst>
              <a:ext uri="{FF2B5EF4-FFF2-40B4-BE49-F238E27FC236}">
                <a16:creationId xmlns:a16="http://schemas.microsoft.com/office/drawing/2014/main" id="{A14F9427-4DC7-48E2-8BDE-3C5491CB2574}"/>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807F13-D9F2-4CC2-8D3F-BB9AFF84C061}"/>
              </a:ext>
            </a:extLst>
          </p:cNvPr>
          <p:cNvSpPr>
            <a:spLocks noGrp="1"/>
          </p:cNvSpPr>
          <p:nvPr>
            <p:ph idx="1"/>
          </p:nvPr>
        </p:nvSpPr>
        <p:spPr>
          <a:xfrm>
            <a:off x="628650" y="152400"/>
            <a:ext cx="7886700" cy="6024563"/>
          </a:xfrm>
        </p:spPr>
        <p:txBody>
          <a:bodyPr/>
          <a:lstStyle/>
          <a:p>
            <a:pPr>
              <a:defRPr/>
            </a:pPr>
            <a:r>
              <a:rPr lang="en-US" sz="1800" dirty="0">
                <a:latin typeface="Verdana" panose="020B0604030504040204" pitchFamily="34" charset="0"/>
                <a:ea typeface="Verdana" panose="020B0604030504040204" pitchFamily="34" charset="0"/>
                <a:cs typeface="Verdana" panose="020B0604030504040204" pitchFamily="34" charset="0"/>
              </a:rPr>
              <a:t>As you can see in the above code I assigned a value (which is 190) using assignment operator to the parameter </a:t>
            </a:r>
            <a:r>
              <a:rPr lang="en-US" sz="1800" dirty="0" err="1">
                <a:latin typeface="Verdana" panose="020B0604030504040204" pitchFamily="34" charset="0"/>
                <a:ea typeface="Verdana" panose="020B0604030504040204" pitchFamily="34" charset="0"/>
                <a:cs typeface="Verdana" panose="020B0604030504040204" pitchFamily="34" charset="0"/>
              </a:rPr>
              <a:t>var_e_id</a:t>
            </a:r>
            <a:r>
              <a:rPr lang="en-US" sz="1800" dirty="0">
                <a:latin typeface="Verdana" panose="020B0604030504040204" pitchFamily="34" charset="0"/>
                <a:ea typeface="Verdana" panose="020B0604030504040204" pitchFamily="34" charset="0"/>
                <a:cs typeface="Verdana" panose="020B0604030504040204" pitchFamily="34" charset="0"/>
              </a:rPr>
              <a:t> in the cursor declaration and nothing while opening the cursor. Upon the execution this PL/SQL block will show you the first name and employee id of all the employees who have employee id greater than 190. </a:t>
            </a:r>
            <a:br>
              <a:rPr lang="en-US" sz="1800" dirty="0">
                <a:latin typeface="Verdana" panose="020B0604030504040204" pitchFamily="34" charset="0"/>
                <a:ea typeface="Verdana" panose="020B0604030504040204" pitchFamily="34" charset="0"/>
                <a:cs typeface="Verdana" panose="020B0604030504040204" pitchFamily="34" charset="0"/>
              </a:rPr>
            </a:b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Default Value Is Not a Substitute Value</a:t>
            </a: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br>
              <a:rPr lang="en-US" sz="1800" dirty="0">
                <a:latin typeface="Verdana" panose="020B0604030504040204" pitchFamily="34" charset="0"/>
                <a:ea typeface="Verdana" panose="020B0604030504040204" pitchFamily="34" charset="0"/>
                <a:cs typeface="Verdana" panose="020B0604030504040204" pitchFamily="34" charset="0"/>
              </a:rPr>
            </a:br>
            <a:r>
              <a:rPr lang="en-US" sz="1800" dirty="0">
                <a:latin typeface="Verdana" panose="020B0604030504040204" pitchFamily="34" charset="0"/>
                <a:ea typeface="Verdana" panose="020B0604030504040204" pitchFamily="34" charset="0"/>
                <a:cs typeface="Verdana" panose="020B0604030504040204" pitchFamily="34" charset="0"/>
              </a:rPr>
              <a:t>Default value is not a substitute value for the parameter of your cursor. It comes into action only when the user does not specify the argument for the parameter while opening the cursor. In case user has supplied the argument for the parameter in OPEN CURSOR statement then the compiler will show the result according to that parameter and not according to the </a:t>
            </a:r>
            <a:r>
              <a:rPr lang="en-US" sz="1800" b="1" dirty="0">
                <a:latin typeface="Verdana" panose="020B0604030504040204" pitchFamily="34" charset="0"/>
                <a:ea typeface="Verdana" panose="020B0604030504040204" pitchFamily="34" charset="0"/>
                <a:cs typeface="Verdana" panose="020B0604030504040204" pitchFamily="34" charset="0"/>
              </a:rPr>
              <a:t>Default value</a:t>
            </a:r>
            <a:r>
              <a:rPr lang="en-US" sz="1800" dirty="0">
                <a:latin typeface="Verdana" panose="020B0604030504040204" pitchFamily="34" charset="0"/>
                <a:ea typeface="Verdana" panose="020B0604030504040204" pitchFamily="34" charset="0"/>
                <a:cs typeface="Verdana" panose="020B0604030504040204" pitchFamily="34" charset="0"/>
              </a:rPr>
              <a:t>.</a:t>
            </a:r>
          </a:p>
        </p:txBody>
      </p:sp>
      <p:sp>
        <p:nvSpPr>
          <p:cNvPr id="4" name="Date Placeholder 3">
            <a:extLst>
              <a:ext uri="{FF2B5EF4-FFF2-40B4-BE49-F238E27FC236}">
                <a16:creationId xmlns:a16="http://schemas.microsoft.com/office/drawing/2014/main" id="{B1F1846C-F0B7-4E35-A68C-02575F5048DE}"/>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ACB10D5E-30BE-4A2F-A35D-5DB094BD19D0}"/>
              </a:ext>
            </a:extLst>
          </p:cNvPr>
          <p:cNvSpPr>
            <a:spLocks noGrp="1"/>
          </p:cNvSpPr>
          <p:nvPr>
            <p:ph type="title"/>
          </p:nvPr>
        </p:nvSpPr>
        <p:spPr>
          <a:xfrm>
            <a:off x="304800" y="76200"/>
            <a:ext cx="8210550" cy="533400"/>
          </a:xfrm>
        </p:spPr>
        <p:txBody>
          <a:bodyPr/>
          <a:lstStyle/>
          <a:p>
            <a:br>
              <a:rPr lang="en-US" altLang="en-US" b="1"/>
            </a:br>
            <a:r>
              <a:rPr lang="en-US" altLang="en-US" sz="1800" b="1">
                <a:latin typeface="Verdana" panose="020B0604030504040204" pitchFamily="34" charset="0"/>
                <a:ea typeface="Verdana" panose="020B0604030504040204" pitchFamily="34" charset="0"/>
                <a:cs typeface="Verdana" panose="020B0604030504040204" pitchFamily="34" charset="0"/>
              </a:rPr>
              <a:t>Cursor For Loop In Oracle Database</a:t>
            </a:r>
            <a:br>
              <a:rPr lang="en-US" altLang="en-US"/>
            </a:br>
            <a:endParaRPr lang="en-US" altLang="en-US"/>
          </a:p>
        </p:txBody>
      </p:sp>
      <p:sp>
        <p:nvSpPr>
          <p:cNvPr id="98307" name="Content Placeholder 2">
            <a:extLst>
              <a:ext uri="{FF2B5EF4-FFF2-40B4-BE49-F238E27FC236}">
                <a16:creationId xmlns:a16="http://schemas.microsoft.com/office/drawing/2014/main" id="{0876E698-BFA7-4C4A-B932-AD80F4310390}"/>
              </a:ext>
            </a:extLst>
          </p:cNvPr>
          <p:cNvSpPr>
            <a:spLocks noGrp="1"/>
          </p:cNvSpPr>
          <p:nvPr>
            <p:ph idx="1"/>
          </p:nvPr>
        </p:nvSpPr>
        <p:spPr>
          <a:xfrm>
            <a:off x="304800" y="609600"/>
            <a:ext cx="8210550" cy="5746750"/>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As the name suggests Cursor For Loop is a type of For loop provided by oracle PL/SQL which makes working with cursors in oracle database a lot easier by executing OPEN, FETCH &amp; CLOSE Cursor statements implicitly in the background for you.</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Example 1: Cursor For Loop With Simple Explicit Cursor</a:t>
            </a: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SET SERVEROUTPUT ON;</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 DECLARE</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  CURSOR cur_1 IS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  SELECT first_name, last_name FROM employees</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  WHERE employee_id &gt;200;</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 BEGIN</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  FOR L_IDX IN cur_1</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  LOOP</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 DBMS_OUTPUT.PUT_LINE(L_IDX.first_name||''||L_IDX.last_name);</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  END LOOP;</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 END;</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3BF2F007-3D14-454E-B476-444CCC930591}"/>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Content Placeholder 2">
            <a:extLst>
              <a:ext uri="{FF2B5EF4-FFF2-40B4-BE49-F238E27FC236}">
                <a16:creationId xmlns:a16="http://schemas.microsoft.com/office/drawing/2014/main" id="{DDC5FC36-7379-47F0-B407-CCFB908A1650}"/>
              </a:ext>
            </a:extLst>
          </p:cNvPr>
          <p:cNvSpPr>
            <a:spLocks noGrp="1"/>
          </p:cNvSpPr>
          <p:nvPr>
            <p:ph idx="1"/>
          </p:nvPr>
        </p:nvSpPr>
        <p:spPr>
          <a:xfrm>
            <a:off x="304800" y="228600"/>
            <a:ext cx="8210550" cy="6127750"/>
          </a:xfrm>
        </p:spPr>
        <p:txBody>
          <a:bodyPr/>
          <a:lstStyle/>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Example 2: Cursor For Loop With Inline Cursor.</a:t>
            </a: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r>
              <a:rPr lang="en-US" altLang="en-US" sz="1800">
                <a:latin typeface="Verdana" panose="020B0604030504040204" pitchFamily="34" charset="0"/>
                <a:ea typeface="Verdana" panose="020B0604030504040204" pitchFamily="34" charset="0"/>
                <a:cs typeface="Verdana" panose="020B0604030504040204" pitchFamily="34" charset="0"/>
              </a:rPr>
              <a:t>You can pass the cursor definition directly into the Cursor For Loop. The code for that is:</a:t>
            </a:r>
            <a:br>
              <a:rPr lang="en-US" altLang="en-US" sz="1800">
                <a:latin typeface="Verdana" panose="020B0604030504040204" pitchFamily="34" charset="0"/>
                <a:ea typeface="Verdana" panose="020B0604030504040204" pitchFamily="34" charset="0"/>
                <a:cs typeface="Verdana" panose="020B0604030504040204" pitchFamily="34" charset="0"/>
              </a:rPr>
            </a:b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 SET SERVEROUTPUT ON;</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 BEGIN</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  FOR L_IDX IN (SELECT first_name, last_name FROM employees</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  WHERE employee_id &gt;200)</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  LOOP</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DBMS_OUTPUT.PUT_LINE (L_IDX.first_name||' '||L_IDX.last_name);</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  END LOOP;</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 END;</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a:t>
            </a:r>
            <a:br>
              <a:rPr lang="en-US" altLang="en-US" sz="1800">
                <a:latin typeface="Verdana" panose="020B0604030504040204" pitchFamily="34" charset="0"/>
                <a:ea typeface="Verdana" panose="020B0604030504040204" pitchFamily="34" charset="0"/>
                <a:cs typeface="Verdana" panose="020B0604030504040204" pitchFamily="34" charset="0"/>
              </a:rPr>
            </a:b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r>
              <a:rPr lang="en-US" altLang="en-US" sz="1800">
                <a:latin typeface="Verdana" panose="020B0604030504040204" pitchFamily="34" charset="0"/>
                <a:ea typeface="Verdana" panose="020B0604030504040204" pitchFamily="34" charset="0"/>
                <a:cs typeface="Verdana" panose="020B0604030504040204" pitchFamily="34" charset="0"/>
              </a:rPr>
              <a:t>As you can see in the above code, instead of declaring a cursor into a separate declaration section of </a:t>
            </a:r>
            <a:r>
              <a:rPr lang="en-US" altLang="en-US" sz="1800">
                <a:latin typeface="Verdana" panose="020B0604030504040204" pitchFamily="34" charset="0"/>
                <a:ea typeface="Verdana" panose="020B0604030504040204" pitchFamily="34" charset="0"/>
                <a:cs typeface="Verdana" panose="020B0604030504040204" pitchFamily="34" charset="0"/>
                <a:hlinkClick r:id="rId2" tooltip="PL/SQL Block Types By Manish Sharma"/>
              </a:rPr>
              <a:t>PL/SQL block</a:t>
            </a:r>
            <a:r>
              <a:rPr lang="en-US" altLang="en-US" sz="1800">
                <a:latin typeface="Verdana" panose="020B0604030504040204" pitchFamily="34" charset="0"/>
                <a:ea typeface="Verdana" panose="020B0604030504040204" pitchFamily="34" charset="0"/>
                <a:cs typeface="Verdana" panose="020B0604030504040204" pitchFamily="34" charset="0"/>
              </a:rPr>
              <a:t> we can write the Cursor’s SELECT DML statement right inside the loop statement after IN keyword.</a:t>
            </a:r>
          </a:p>
          <a:p>
            <a:pPr marL="0" indent="0"/>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95C20656-7FCC-4C23-8689-BF8C0950EFC1}"/>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A2E45C7C-6746-4DCC-8E23-9BA8F10555BF}"/>
              </a:ext>
            </a:extLst>
          </p:cNvPr>
          <p:cNvSpPr>
            <a:spLocks noGrp="1"/>
          </p:cNvSpPr>
          <p:nvPr>
            <p:ph type="title"/>
          </p:nvPr>
        </p:nvSpPr>
        <p:spPr>
          <a:xfrm>
            <a:off x="457200" y="76200"/>
            <a:ext cx="8058150" cy="457200"/>
          </a:xfrm>
        </p:spPr>
        <p:txBody>
          <a:bodyPr/>
          <a:lstStyle/>
          <a:p>
            <a:br>
              <a:rPr lang="en-US" altLang="en-US"/>
            </a:br>
            <a:r>
              <a:rPr lang="en-US" altLang="en-US" sz="2000" b="1" u="sng">
                <a:latin typeface="Verdana" panose="020B0604030504040204" pitchFamily="34" charset="0"/>
                <a:ea typeface="Verdana" panose="020B0604030504040204" pitchFamily="34" charset="0"/>
                <a:cs typeface="Verdana" panose="020B0604030504040204" pitchFamily="34" charset="0"/>
              </a:rPr>
              <a:t>PL/SQL Exception Handling</a:t>
            </a:r>
            <a:br>
              <a:rPr lang="en-US" altLang="en-US" sz="2000" b="1">
                <a:latin typeface="Verdana" panose="020B0604030504040204" pitchFamily="34" charset="0"/>
                <a:ea typeface="Verdana" panose="020B0604030504040204" pitchFamily="34" charset="0"/>
                <a:cs typeface="Verdana" panose="020B0604030504040204" pitchFamily="34" charset="0"/>
              </a:rPr>
            </a:br>
            <a:endParaRPr lang="en-US" altLang="en-US" sz="2000" b="1">
              <a:latin typeface="Verdana" panose="020B0604030504040204" pitchFamily="34" charset="0"/>
              <a:ea typeface="Verdana" panose="020B0604030504040204" pitchFamily="34" charset="0"/>
              <a:cs typeface="Verdana" panose="020B0604030504040204" pitchFamily="34" charset="0"/>
            </a:endParaRPr>
          </a:p>
        </p:txBody>
      </p:sp>
      <p:sp>
        <p:nvSpPr>
          <p:cNvPr id="3" name="Content Placeholder 2">
            <a:extLst>
              <a:ext uri="{FF2B5EF4-FFF2-40B4-BE49-F238E27FC236}">
                <a16:creationId xmlns:a16="http://schemas.microsoft.com/office/drawing/2014/main" id="{BC71F98A-7D44-46A8-8B99-A4D3BD174586}"/>
              </a:ext>
            </a:extLst>
          </p:cNvPr>
          <p:cNvSpPr>
            <a:spLocks noGrp="1"/>
          </p:cNvSpPr>
          <p:nvPr>
            <p:ph idx="1"/>
          </p:nvPr>
        </p:nvSpPr>
        <p:spPr>
          <a:xfrm>
            <a:off x="457200" y="533400"/>
            <a:ext cx="8058150" cy="5643563"/>
          </a:xfrm>
        </p:spPr>
        <p:txBody>
          <a:bodyPr/>
          <a:lstStyle/>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What is Exception</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An error occurs during the program execution is called Exception in PL/SQL.</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PL/SQL facilitates programmers to catch such conditions using exception block in the program and an appropriate action is taken against the error condition.</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There are two type of exceptions:</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System-defined Exceptions</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User-defined Exceptions</a:t>
            </a:r>
          </a:p>
          <a:p>
            <a:pPr marL="0" indent="0">
              <a:buFont typeface="Arial" panose="020B0604020202020204" pitchFamily="34" charset="0"/>
              <a:buNone/>
              <a:defRPr/>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9593086B-8869-4AE7-ADF1-817A134C575B}"/>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F4524058-8995-4D46-8121-DE4E0279B6DB}"/>
              </a:ext>
            </a:extLst>
          </p:cNvPr>
          <p:cNvSpPr>
            <a:spLocks noGrp="1"/>
          </p:cNvSpPr>
          <p:nvPr>
            <p:ph type="title"/>
          </p:nvPr>
        </p:nvSpPr>
        <p:spPr>
          <a:xfrm>
            <a:off x="628650" y="365125"/>
            <a:ext cx="7886700" cy="320675"/>
          </a:xfrm>
        </p:spPr>
        <p:txBody>
          <a:bodyPr/>
          <a:lstStyle/>
          <a:p>
            <a:r>
              <a:rPr lang="en-US" altLang="en-US" sz="1800">
                <a:latin typeface="Verdana" panose="020B0604030504040204" pitchFamily="34" charset="0"/>
                <a:ea typeface="Verdana" panose="020B0604030504040204" pitchFamily="34" charset="0"/>
                <a:cs typeface="Verdana" panose="020B0604030504040204" pitchFamily="34" charset="0"/>
              </a:rPr>
              <a:t>Syntax for </a:t>
            </a:r>
            <a:r>
              <a:rPr lang="en-US" altLang="en-US" sz="1800" b="1">
                <a:latin typeface="Verdana" panose="020B0604030504040204" pitchFamily="34" charset="0"/>
                <a:ea typeface="Verdana" panose="020B0604030504040204" pitchFamily="34" charset="0"/>
                <a:cs typeface="Verdana" panose="020B0604030504040204" pitchFamily="34" charset="0"/>
              </a:rPr>
              <a:t>exception handling:</a:t>
            </a:r>
            <a:endParaRPr lang="en-US" altLang="en-US" sz="1800">
              <a:latin typeface="Verdana" panose="020B0604030504040204" pitchFamily="34" charset="0"/>
              <a:ea typeface="Verdana" panose="020B0604030504040204" pitchFamily="34" charset="0"/>
              <a:cs typeface="Verdana" panose="020B0604030504040204" pitchFamily="34" charset="0"/>
            </a:endParaRPr>
          </a:p>
        </p:txBody>
      </p:sp>
      <p:sp>
        <p:nvSpPr>
          <p:cNvPr id="101379" name="Content Placeholder 2">
            <a:extLst>
              <a:ext uri="{FF2B5EF4-FFF2-40B4-BE49-F238E27FC236}">
                <a16:creationId xmlns:a16="http://schemas.microsoft.com/office/drawing/2014/main" id="{C0815750-EF6C-4B52-8186-005A6884DE9D}"/>
              </a:ext>
            </a:extLst>
          </p:cNvPr>
          <p:cNvSpPr>
            <a:spLocks noGrp="1"/>
          </p:cNvSpPr>
          <p:nvPr>
            <p:ph idx="1"/>
          </p:nvPr>
        </p:nvSpPr>
        <p:spPr>
          <a:xfrm>
            <a:off x="457200" y="685800"/>
            <a:ext cx="8058150" cy="5670550"/>
          </a:xfrm>
        </p:spPr>
        <p:txBody>
          <a:bodyPr/>
          <a:lstStyle/>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DECLARE</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&lt;declarations </a:t>
            </a:r>
            <a:r>
              <a:rPr lang="en-US" altLang="en-US" sz="1800" b="1">
                <a:latin typeface="Verdana" panose="020B0604030504040204" pitchFamily="34" charset="0"/>
                <a:ea typeface="Verdana" panose="020B0604030504040204" pitchFamily="34" charset="0"/>
                <a:cs typeface="Verdana" panose="020B0604030504040204" pitchFamily="34" charset="0"/>
              </a:rPr>
              <a:t>section</a:t>
            </a:r>
            <a:r>
              <a:rPr lang="en-US" altLang="en-US" sz="1800">
                <a:latin typeface="Verdana" panose="020B0604030504040204" pitchFamily="34" charset="0"/>
                <a:ea typeface="Verdana" panose="020B0604030504040204" pitchFamily="34" charset="0"/>
                <a:cs typeface="Verdana" panose="020B0604030504040204" pitchFamily="34" charset="0"/>
              </a:rPr>
              <a:t>&gt;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BEGIN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&lt;executable command(s)&gt;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EXCEPTION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&lt;exception handling goes here &gt;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WHEN</a:t>
            </a:r>
            <a:r>
              <a:rPr lang="en-US" altLang="en-US" sz="1800">
                <a:latin typeface="Verdana" panose="020B0604030504040204" pitchFamily="34" charset="0"/>
                <a:ea typeface="Verdana" panose="020B0604030504040204" pitchFamily="34" charset="0"/>
                <a:cs typeface="Verdana" panose="020B0604030504040204" pitchFamily="34" charset="0"/>
              </a:rPr>
              <a:t> exception1 </a:t>
            </a:r>
            <a:r>
              <a:rPr lang="en-US" altLang="en-US" sz="1800" b="1">
                <a:latin typeface="Verdana" panose="020B0604030504040204" pitchFamily="34" charset="0"/>
                <a:ea typeface="Verdana" panose="020B0604030504040204" pitchFamily="34" charset="0"/>
                <a:cs typeface="Verdana" panose="020B0604030504040204" pitchFamily="34" charset="0"/>
              </a:rPr>
              <a:t>THEN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exception1-handling-statements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WHEN</a:t>
            </a:r>
            <a:r>
              <a:rPr lang="en-US" altLang="en-US" sz="1800">
                <a:latin typeface="Verdana" panose="020B0604030504040204" pitchFamily="34" charset="0"/>
                <a:ea typeface="Verdana" panose="020B0604030504040204" pitchFamily="34" charset="0"/>
                <a:cs typeface="Verdana" panose="020B0604030504040204" pitchFamily="34" charset="0"/>
              </a:rPr>
              <a:t> exception2  </a:t>
            </a:r>
            <a:r>
              <a:rPr lang="en-US" altLang="en-US" sz="1800" b="1">
                <a:latin typeface="Verdana" panose="020B0604030504040204" pitchFamily="34" charset="0"/>
                <a:ea typeface="Verdana" panose="020B0604030504040204" pitchFamily="34" charset="0"/>
                <a:cs typeface="Verdana" panose="020B0604030504040204" pitchFamily="34" charset="0"/>
              </a:rPr>
              <a:t>THEN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exception2-handling-statements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WHEN</a:t>
            </a:r>
            <a:r>
              <a:rPr lang="en-US" altLang="en-US" sz="1800">
                <a:latin typeface="Verdana" panose="020B0604030504040204" pitchFamily="34" charset="0"/>
                <a:ea typeface="Verdana" panose="020B0604030504040204" pitchFamily="34" charset="0"/>
                <a:cs typeface="Verdana" panose="020B0604030504040204" pitchFamily="34" charset="0"/>
              </a:rPr>
              <a:t> exception3 </a:t>
            </a:r>
            <a:r>
              <a:rPr lang="en-US" altLang="en-US" sz="1800" b="1">
                <a:latin typeface="Verdana" panose="020B0604030504040204" pitchFamily="34" charset="0"/>
                <a:ea typeface="Verdana" panose="020B0604030504040204" pitchFamily="34" charset="0"/>
                <a:cs typeface="Verdana" panose="020B0604030504040204" pitchFamily="34" charset="0"/>
              </a:rPr>
              <a:t>THEN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exception3-handling-statements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WHEN</a:t>
            </a:r>
            <a:r>
              <a:rPr lang="en-US" altLang="en-US" sz="1800">
                <a:latin typeface="Verdana" panose="020B0604030504040204" pitchFamily="34" charset="0"/>
                <a:ea typeface="Verdana" panose="020B0604030504040204" pitchFamily="34" charset="0"/>
                <a:cs typeface="Verdana" panose="020B0604030504040204" pitchFamily="34" charset="0"/>
              </a:rPr>
              <a:t> others </a:t>
            </a:r>
            <a:r>
              <a:rPr lang="en-US" altLang="en-US" sz="1800" b="1">
                <a:latin typeface="Verdana" panose="020B0604030504040204" pitchFamily="34" charset="0"/>
                <a:ea typeface="Verdana" panose="020B0604030504040204" pitchFamily="34" charset="0"/>
                <a:cs typeface="Verdana" panose="020B0604030504040204" pitchFamily="34" charset="0"/>
              </a:rPr>
              <a:t>THEN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exception3-handling-statements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a:t> </a:t>
            </a:r>
          </a:p>
          <a:p>
            <a:pPr marL="0" indent="0">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4E4E3717-B432-499B-9C99-4D72AFB35CB8}"/>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a:extLst>
              <a:ext uri="{FF2B5EF4-FFF2-40B4-BE49-F238E27FC236}">
                <a16:creationId xmlns:a16="http://schemas.microsoft.com/office/drawing/2014/main" id="{687344D8-0035-4D89-9788-34D3A6F61487}"/>
              </a:ext>
            </a:extLst>
          </p:cNvPr>
          <p:cNvSpPr>
            <a:spLocks noGrp="1"/>
          </p:cNvSpPr>
          <p:nvPr>
            <p:ph type="title"/>
          </p:nvPr>
        </p:nvSpPr>
        <p:spPr>
          <a:xfrm>
            <a:off x="628650" y="76200"/>
            <a:ext cx="7886700" cy="304800"/>
          </a:xfrm>
        </p:spPr>
        <p:txBody>
          <a:bodyPr/>
          <a:lstStyle/>
          <a:p>
            <a:br>
              <a:rPr lang="en-US" altLang="en-US"/>
            </a:br>
            <a:r>
              <a:rPr lang="en-US" altLang="en-US"/>
              <a:t>Example of exception handling</a:t>
            </a:r>
            <a:br>
              <a:rPr lang="en-US" altLang="en-US"/>
            </a:br>
            <a:endParaRPr lang="en-US" altLang="en-US"/>
          </a:p>
        </p:txBody>
      </p:sp>
      <p:sp>
        <p:nvSpPr>
          <p:cNvPr id="102403" name="Content Placeholder 2">
            <a:extLst>
              <a:ext uri="{FF2B5EF4-FFF2-40B4-BE49-F238E27FC236}">
                <a16:creationId xmlns:a16="http://schemas.microsoft.com/office/drawing/2014/main" id="{BEF18D25-8D75-4985-9218-882544BF8ECA}"/>
              </a:ext>
            </a:extLst>
          </p:cNvPr>
          <p:cNvSpPr>
            <a:spLocks noGrp="1"/>
          </p:cNvSpPr>
          <p:nvPr>
            <p:ph idx="1"/>
          </p:nvPr>
        </p:nvSpPr>
        <p:spPr>
          <a:xfrm>
            <a:off x="228600" y="381000"/>
            <a:ext cx="8286750" cy="5975350"/>
          </a:xfrm>
        </p:spPr>
        <p:txBody>
          <a:bodyPr/>
          <a:lstStyle/>
          <a:p>
            <a:pPr marL="0" indent="0">
              <a:buFont typeface="Arial" panose="020B0604020202020204" pitchFamily="34" charset="0"/>
              <a:buNone/>
            </a:pPr>
            <a:r>
              <a:rPr lang="en-US" altLang="en-US"/>
              <a:t>Note: Use already created Customer Table.</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DECLARE</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c_id customers.id%type := 8;  ---- ID absent in table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c_name  customers.</a:t>
            </a:r>
            <a:r>
              <a:rPr lang="en-US" altLang="en-US" sz="1800" b="1">
                <a:latin typeface="Verdana" panose="020B0604030504040204" pitchFamily="34" charset="0"/>
                <a:ea typeface="Verdana" panose="020B0604030504040204" pitchFamily="34" charset="0"/>
                <a:cs typeface="Verdana" panose="020B0604030504040204" pitchFamily="34" charset="0"/>
              </a:rPr>
              <a:t>name</a:t>
            </a:r>
            <a:r>
              <a:rPr lang="en-US" altLang="en-US" sz="1800">
                <a:latin typeface="Verdana" panose="020B0604030504040204" pitchFamily="34" charset="0"/>
                <a:ea typeface="Verdana" panose="020B0604030504040204" pitchFamily="34" charset="0"/>
                <a:cs typeface="Verdana" panose="020B0604030504040204" pitchFamily="34" charset="0"/>
              </a:rPr>
              <a:t>%type;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c_addr customers.address%type;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BEGIN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SELECT</a:t>
            </a: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name</a:t>
            </a:r>
            <a:r>
              <a:rPr lang="en-US" altLang="en-US" sz="1800">
                <a:latin typeface="Verdana" panose="020B0604030504040204" pitchFamily="34" charset="0"/>
                <a:ea typeface="Verdana" panose="020B0604030504040204" pitchFamily="34" charset="0"/>
                <a:cs typeface="Verdana" panose="020B0604030504040204" pitchFamily="34" charset="0"/>
              </a:rPr>
              <a:t>, address </a:t>
            </a:r>
            <a:r>
              <a:rPr lang="en-US" altLang="en-US" sz="1800" b="1">
                <a:latin typeface="Verdana" panose="020B0604030504040204" pitchFamily="34" charset="0"/>
                <a:ea typeface="Verdana" panose="020B0604030504040204" pitchFamily="34" charset="0"/>
                <a:cs typeface="Verdana" panose="020B0604030504040204" pitchFamily="34" charset="0"/>
              </a:rPr>
              <a:t>INTO</a:t>
            </a:r>
            <a:r>
              <a:rPr lang="en-US" altLang="en-US" sz="1800">
                <a:latin typeface="Verdana" panose="020B0604030504040204" pitchFamily="34" charset="0"/>
                <a:ea typeface="Verdana" panose="020B0604030504040204" pitchFamily="34" charset="0"/>
                <a:cs typeface="Verdana" panose="020B0604030504040204" pitchFamily="34" charset="0"/>
              </a:rPr>
              <a:t>  c_name, c_addr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FROM</a:t>
            </a:r>
            <a:r>
              <a:rPr lang="en-US" altLang="en-US" sz="1800">
                <a:latin typeface="Verdana" panose="020B0604030504040204" pitchFamily="34" charset="0"/>
                <a:ea typeface="Verdana" panose="020B0604030504040204" pitchFamily="34" charset="0"/>
                <a:cs typeface="Verdana" panose="020B0604030504040204" pitchFamily="34" charset="0"/>
              </a:rPr>
              <a:t> customers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WHERE</a:t>
            </a:r>
            <a:r>
              <a:rPr lang="en-US" altLang="en-US" sz="1800">
                <a:latin typeface="Verdana" panose="020B0604030504040204" pitchFamily="34" charset="0"/>
                <a:ea typeface="Verdana" panose="020B0604030504040204" pitchFamily="34" charset="0"/>
                <a:cs typeface="Verdana" panose="020B0604030504040204" pitchFamily="34" charset="0"/>
              </a:rPr>
              <a:t> id = c_id;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DBMS_OUTPUT.PUT_LINE ('Name: '||  c_name);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 ('Address: ' || c_addr);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EXCEPTION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WHEN</a:t>
            </a: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a:solidFill>
                  <a:srgbClr val="FF0000"/>
                </a:solidFill>
                <a:latin typeface="Verdana" panose="020B0604030504040204" pitchFamily="34" charset="0"/>
                <a:ea typeface="Verdana" panose="020B0604030504040204" pitchFamily="34" charset="0"/>
                <a:cs typeface="Verdana" panose="020B0604030504040204" pitchFamily="34" charset="0"/>
              </a:rPr>
              <a:t>no_data_found</a:t>
            </a: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THEN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dbms_output.put_line('No such customer!');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WHEN</a:t>
            </a:r>
            <a:r>
              <a:rPr lang="en-US" altLang="en-US" sz="1800">
                <a:latin typeface="Verdana" panose="020B0604030504040204" pitchFamily="34" charset="0"/>
                <a:ea typeface="Verdana" panose="020B0604030504040204" pitchFamily="34" charset="0"/>
                <a:cs typeface="Verdana" panose="020B0604030504040204" pitchFamily="34" charset="0"/>
              </a:rPr>
              <a:t> others </a:t>
            </a:r>
            <a:r>
              <a:rPr lang="en-US" altLang="en-US" sz="1800" b="1">
                <a:latin typeface="Verdana" panose="020B0604030504040204" pitchFamily="34" charset="0"/>
                <a:ea typeface="Verdana" panose="020B0604030504040204" pitchFamily="34" charset="0"/>
                <a:cs typeface="Verdana" panose="020B0604030504040204" pitchFamily="34" charset="0"/>
              </a:rPr>
              <a:t>THEN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dbms_output.put_line('Error!');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59211277-7B59-4400-844B-65B5B1E278A1}"/>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Content Placeholder 2">
            <a:extLst>
              <a:ext uri="{FF2B5EF4-FFF2-40B4-BE49-F238E27FC236}">
                <a16:creationId xmlns:a16="http://schemas.microsoft.com/office/drawing/2014/main" id="{9D999BE7-FCF5-4395-878E-AADC3F379161}"/>
              </a:ext>
            </a:extLst>
          </p:cNvPr>
          <p:cNvSpPr>
            <a:spLocks noGrp="1"/>
          </p:cNvSpPr>
          <p:nvPr>
            <p:ph idx="1"/>
          </p:nvPr>
        </p:nvSpPr>
        <p:spPr>
          <a:xfrm>
            <a:off x="628650" y="304800"/>
            <a:ext cx="7886700" cy="5872163"/>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After the execution of above code at SQL Prompt, it produces the following result:</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No such customer!</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PL/SQL procedure successfully completed.</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The above program should show the name and address of a customer as result whose ID is given. But there is no customer with ID value 8 in our database, so the program raises the run-time exception NO_DATA_FOUND, which is captured in EXCEPTION block.</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Note: You get the result "No such customer" because the customer_id used in the above example is 8 and there is no cutomer having id value 8 in that table.</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922D5D82-DDF6-4E90-A2DF-1F80FE871498}"/>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a:extLst>
              <a:ext uri="{FF2B5EF4-FFF2-40B4-BE49-F238E27FC236}">
                <a16:creationId xmlns:a16="http://schemas.microsoft.com/office/drawing/2014/main" id="{1454A9EE-7BA6-4123-9653-483309210882}"/>
              </a:ext>
            </a:extLst>
          </p:cNvPr>
          <p:cNvSpPr>
            <a:spLocks noGrp="1"/>
          </p:cNvSpPr>
          <p:nvPr>
            <p:ph type="title"/>
          </p:nvPr>
        </p:nvSpPr>
        <p:spPr>
          <a:xfrm>
            <a:off x="457200" y="381000"/>
            <a:ext cx="8058150" cy="381000"/>
          </a:xfrm>
        </p:spPr>
        <p:txBody>
          <a:bodyPr/>
          <a:lstStyle/>
          <a:p>
            <a:r>
              <a:rPr lang="en-US" altLang="en-US" sz="1800" b="1" u="sng">
                <a:latin typeface="Verdana" panose="020B0604030504040204" pitchFamily="34" charset="0"/>
                <a:ea typeface="Verdana" panose="020B0604030504040204" pitchFamily="34" charset="0"/>
                <a:cs typeface="Verdana" panose="020B0604030504040204" pitchFamily="34" charset="0"/>
              </a:rPr>
              <a:t>RAISING EXCEPTION</a:t>
            </a:r>
            <a:r>
              <a:rPr lang="en-US" altLang="en-US" sz="1800" u="sng">
                <a:latin typeface="Verdana" panose="020B0604030504040204" pitchFamily="34" charset="0"/>
                <a:ea typeface="Verdana" panose="020B0604030504040204" pitchFamily="34" charset="0"/>
                <a:cs typeface="Verdana" panose="020B0604030504040204" pitchFamily="34" charset="0"/>
              </a:rPr>
              <a:t>:</a:t>
            </a:r>
          </a:p>
        </p:txBody>
      </p:sp>
      <p:sp>
        <p:nvSpPr>
          <p:cNvPr id="104451" name="Content Placeholder 2">
            <a:extLst>
              <a:ext uri="{FF2B5EF4-FFF2-40B4-BE49-F238E27FC236}">
                <a16:creationId xmlns:a16="http://schemas.microsoft.com/office/drawing/2014/main" id="{484D3579-9CC8-4024-9A0A-34460A93D97A}"/>
              </a:ext>
            </a:extLst>
          </p:cNvPr>
          <p:cNvSpPr>
            <a:spLocks noGrp="1"/>
          </p:cNvSpPr>
          <p:nvPr>
            <p:ph idx="1"/>
          </p:nvPr>
        </p:nvSpPr>
        <p:spPr>
          <a:xfrm>
            <a:off x="457200" y="762000"/>
            <a:ext cx="8058150" cy="5594350"/>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Exceptions are raised by the database server automatically whenever there is any internal database error, but exceptions can be raised explicitly by the programmer by using the command RAISE. Following is the simple syntax for raising an exception -</a:t>
            </a:r>
          </a:p>
          <a:p>
            <a:pPr marL="0" indent="0">
              <a:buFont typeface="Arial" panose="020B0604020202020204" pitchFamily="34" charset="0"/>
              <a:buNone/>
            </a:pPr>
            <a:endParaRPr lang="en-US" altLang="en-US"/>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DECLARE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exception_name EXCEPTION;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BEGIN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IF condition THEN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RAISE exception_name;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END IF;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EXCEPTION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WHEN exception_name THEN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statement;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END;</a:t>
            </a:r>
          </a:p>
        </p:txBody>
      </p:sp>
      <p:sp>
        <p:nvSpPr>
          <p:cNvPr id="4" name="Date Placeholder 3">
            <a:extLst>
              <a:ext uri="{FF2B5EF4-FFF2-40B4-BE49-F238E27FC236}">
                <a16:creationId xmlns:a16="http://schemas.microsoft.com/office/drawing/2014/main" id="{0C575A56-9FC2-41D8-8289-AD8521406616}"/>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a:extLst>
              <a:ext uri="{FF2B5EF4-FFF2-40B4-BE49-F238E27FC236}">
                <a16:creationId xmlns:a16="http://schemas.microsoft.com/office/drawing/2014/main" id="{EC344AAF-2529-4108-8D36-7F8AA10A80C0}"/>
              </a:ext>
            </a:extLst>
          </p:cNvPr>
          <p:cNvSpPr>
            <a:spLocks noGrp="1"/>
          </p:cNvSpPr>
          <p:nvPr>
            <p:ph type="title"/>
          </p:nvPr>
        </p:nvSpPr>
        <p:spPr>
          <a:xfrm>
            <a:off x="628650" y="228600"/>
            <a:ext cx="7886700" cy="381000"/>
          </a:xfrm>
        </p:spPr>
        <p:txBody>
          <a:bodyPr/>
          <a:lstStyle/>
          <a:p>
            <a:br>
              <a:rPr lang="en-US" altLang="en-US"/>
            </a:br>
            <a:r>
              <a:rPr lang="en-US" altLang="en-US" sz="2000" b="1" u="sng">
                <a:latin typeface="Verdana" panose="020B0604030504040204" pitchFamily="34" charset="0"/>
                <a:ea typeface="Verdana" panose="020B0604030504040204" pitchFamily="34" charset="0"/>
                <a:cs typeface="Verdana" panose="020B0604030504040204" pitchFamily="34" charset="0"/>
              </a:rPr>
              <a:t>User-defined Exceptions</a:t>
            </a:r>
            <a:br>
              <a:rPr lang="en-US" altLang="en-US" sz="2000" b="1" u="sng">
                <a:latin typeface="Verdana" panose="020B0604030504040204" pitchFamily="34" charset="0"/>
                <a:ea typeface="Verdana" panose="020B0604030504040204" pitchFamily="34" charset="0"/>
                <a:cs typeface="Verdana" panose="020B0604030504040204" pitchFamily="34" charset="0"/>
              </a:rPr>
            </a:br>
            <a:endParaRPr lang="en-US" altLang="en-US" sz="2000" b="1" u="sng">
              <a:latin typeface="Verdana" panose="020B0604030504040204" pitchFamily="34" charset="0"/>
              <a:ea typeface="Verdana" panose="020B0604030504040204" pitchFamily="34" charset="0"/>
              <a:cs typeface="Verdana" panose="020B0604030504040204" pitchFamily="34" charset="0"/>
            </a:endParaRPr>
          </a:p>
        </p:txBody>
      </p:sp>
      <p:sp>
        <p:nvSpPr>
          <p:cNvPr id="3" name="Content Placeholder 2">
            <a:extLst>
              <a:ext uri="{FF2B5EF4-FFF2-40B4-BE49-F238E27FC236}">
                <a16:creationId xmlns:a16="http://schemas.microsoft.com/office/drawing/2014/main" id="{FFC30FD5-0661-4628-9EBD-F5E81CB83C83}"/>
              </a:ext>
            </a:extLst>
          </p:cNvPr>
          <p:cNvSpPr>
            <a:spLocks noGrp="1"/>
          </p:cNvSpPr>
          <p:nvPr>
            <p:ph idx="1"/>
          </p:nvPr>
        </p:nvSpPr>
        <p:spPr>
          <a:xfrm>
            <a:off x="533400" y="685800"/>
            <a:ext cx="7981950" cy="5670550"/>
          </a:xfrm>
        </p:spPr>
        <p:txBody>
          <a:bodyPr/>
          <a:lstStyle/>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PL/SQL allows you to define your own exceptions according to the need of your program. </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A user-defined exception must be declared and then raised explicitly, using either a RAISE statement or the procedure DBMS_STANDARD.RAISE_APPLICATION_ERROR.</a:t>
            </a:r>
          </a:p>
          <a:p>
            <a:pPr marL="342900" indent="-342900">
              <a:buFont typeface="+mj-lt"/>
              <a:buAutoNum type="arabicPeriod"/>
              <a:defRPr/>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The syntax for declaring an exception is -</a:t>
            </a:r>
          </a:p>
          <a:p>
            <a:pPr marL="0" indent="0">
              <a:buFont typeface="Arial" panose="020B0604020202020204" pitchFamily="34" charset="0"/>
              <a:buNone/>
              <a:defRPr/>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DECLARE </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my-exception EXCEPTION;</a:t>
            </a:r>
          </a:p>
        </p:txBody>
      </p:sp>
      <p:sp>
        <p:nvSpPr>
          <p:cNvPr id="4" name="Date Placeholder 3">
            <a:extLst>
              <a:ext uri="{FF2B5EF4-FFF2-40B4-BE49-F238E27FC236}">
                <a16:creationId xmlns:a16="http://schemas.microsoft.com/office/drawing/2014/main" id="{91AF0396-46D1-485B-8693-DECE370C844A}"/>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Content Placeholder 2">
            <a:extLst>
              <a:ext uri="{FF2B5EF4-FFF2-40B4-BE49-F238E27FC236}">
                <a16:creationId xmlns:a16="http://schemas.microsoft.com/office/drawing/2014/main" id="{E465A767-6949-422E-8283-C224ACB57450}"/>
              </a:ext>
            </a:extLst>
          </p:cNvPr>
          <p:cNvSpPr>
            <a:spLocks noGrp="1"/>
          </p:cNvSpPr>
          <p:nvPr>
            <p:ph idx="1"/>
          </p:nvPr>
        </p:nvSpPr>
        <p:spPr>
          <a:xfrm>
            <a:off x="628650" y="228600"/>
            <a:ext cx="7886700" cy="5948363"/>
          </a:xfrm>
        </p:spPr>
        <p:txBody>
          <a:bodyPr/>
          <a:lstStyle/>
          <a:p>
            <a:pPr marL="0" indent="0">
              <a:buFont typeface="Arial" panose="020B0604020202020204" pitchFamily="34" charset="0"/>
              <a:buNone/>
            </a:pPr>
            <a:r>
              <a:rPr lang="en-US" altLang="en-US" b="1" u="sng"/>
              <a:t>EXAMPLE:</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The following example illustrates the concept. This program asks for a customer ID, when the user enters an invalid ID, the exception </a:t>
            </a:r>
            <a:r>
              <a:rPr lang="en-US" altLang="en-US" sz="1800" b="1">
                <a:latin typeface="Verdana" panose="020B0604030504040204" pitchFamily="34" charset="0"/>
                <a:ea typeface="Verdana" panose="020B0604030504040204" pitchFamily="34" charset="0"/>
                <a:cs typeface="Verdana" panose="020B0604030504040204" pitchFamily="34" charset="0"/>
              </a:rPr>
              <a:t>invalid_id</a:t>
            </a:r>
            <a:r>
              <a:rPr lang="en-US" altLang="en-US" sz="1800">
                <a:latin typeface="Verdana" panose="020B0604030504040204" pitchFamily="34" charset="0"/>
                <a:ea typeface="Verdana" panose="020B0604030504040204" pitchFamily="34" charset="0"/>
                <a:cs typeface="Verdana" panose="020B0604030504040204" pitchFamily="34" charset="0"/>
              </a:rPr>
              <a:t> is raised.</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DECLARE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c_id customers.id%type := &amp;cc_id;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c_name  customers.No.ame%type;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c_addr customers.address%type;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 user defined exception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ex_invalid_id  EXCEPTION;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BEGIN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IF c_id &lt;= 0 THEN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RAISE ex_invalid_id;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ELSE</a:t>
            </a:r>
          </a:p>
        </p:txBody>
      </p:sp>
      <p:sp>
        <p:nvSpPr>
          <p:cNvPr id="4" name="Date Placeholder 3">
            <a:extLst>
              <a:ext uri="{FF2B5EF4-FFF2-40B4-BE49-F238E27FC236}">
                <a16:creationId xmlns:a16="http://schemas.microsoft.com/office/drawing/2014/main" id="{B9702BE4-B2BA-4149-9A33-6706D05DEC65}"/>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Content Placeholder 2">
            <a:extLst>
              <a:ext uri="{FF2B5EF4-FFF2-40B4-BE49-F238E27FC236}">
                <a16:creationId xmlns:a16="http://schemas.microsoft.com/office/drawing/2014/main" id="{ECFF28AD-CD81-440A-8CA5-2B18A634F6AB}"/>
              </a:ext>
            </a:extLst>
          </p:cNvPr>
          <p:cNvSpPr>
            <a:spLocks noGrp="1"/>
          </p:cNvSpPr>
          <p:nvPr>
            <p:ph idx="1"/>
          </p:nvPr>
        </p:nvSpPr>
        <p:spPr>
          <a:xfrm>
            <a:off x="628650" y="304800"/>
            <a:ext cx="7886700" cy="5872163"/>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SELECT  name, address INTO  c_name, c_addr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FROM customers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WHERE id = c_id;</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 ('Name: '||  c_name);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 ('Address: ' || c_addr);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END IF; </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EXCEPTION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WHEN ex_invalid_id THEN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dbms_output.put_line('ID must be greater than zero!');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WHEN no_data_found THEN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dbms_output.put_line('No such customer!');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WHEN others THEN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dbms_output.put_line('Error!');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END; </a:t>
            </a:r>
          </a:p>
          <a:p>
            <a:pPr marL="0" indent="0">
              <a:buFont typeface="Arial" panose="020B0604020202020204" pitchFamily="34" charset="0"/>
              <a:buNone/>
            </a:pPr>
            <a:r>
              <a:rPr lang="en-US" altLang="en-US"/>
              <a:t>/</a:t>
            </a:r>
          </a:p>
        </p:txBody>
      </p:sp>
      <p:sp>
        <p:nvSpPr>
          <p:cNvPr id="4" name="Date Placeholder 3">
            <a:extLst>
              <a:ext uri="{FF2B5EF4-FFF2-40B4-BE49-F238E27FC236}">
                <a16:creationId xmlns:a16="http://schemas.microsoft.com/office/drawing/2014/main" id="{2C55ABC4-EE78-44D5-829E-212928BC0CA7}"/>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Content Placeholder 2">
            <a:extLst>
              <a:ext uri="{FF2B5EF4-FFF2-40B4-BE49-F238E27FC236}">
                <a16:creationId xmlns:a16="http://schemas.microsoft.com/office/drawing/2014/main" id="{C6138F81-D931-41C8-9C08-2AE49E25BE96}"/>
              </a:ext>
            </a:extLst>
          </p:cNvPr>
          <p:cNvSpPr>
            <a:spLocks noGrp="1"/>
          </p:cNvSpPr>
          <p:nvPr>
            <p:ph idx="1"/>
          </p:nvPr>
        </p:nvSpPr>
        <p:spPr>
          <a:xfrm>
            <a:off x="628650" y="228600"/>
            <a:ext cx="7886700" cy="5948363"/>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When the above code is executed at the SQL prompt, it produces the following result -</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Enter value for cc_id: -6 (let's enter a value -6)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old  2: c_id customers.id%type := &amp;cc_id;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new  2: c_id customers.id%type := -6;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ID must be greater than zero!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PL/SQL procedure successfully completed.</a:t>
            </a:r>
          </a:p>
        </p:txBody>
      </p:sp>
      <p:sp>
        <p:nvSpPr>
          <p:cNvPr id="4" name="Date Placeholder 3">
            <a:extLst>
              <a:ext uri="{FF2B5EF4-FFF2-40B4-BE49-F238E27FC236}">
                <a16:creationId xmlns:a16="http://schemas.microsoft.com/office/drawing/2014/main" id="{6810613F-214B-4981-8D7A-A5D9C8F3942F}"/>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a:extLst>
              <a:ext uri="{FF2B5EF4-FFF2-40B4-BE49-F238E27FC236}">
                <a16:creationId xmlns:a16="http://schemas.microsoft.com/office/drawing/2014/main" id="{7DA071A7-B0A3-4CAB-9E93-BC79CE9AC7FA}"/>
              </a:ext>
            </a:extLst>
          </p:cNvPr>
          <p:cNvSpPr>
            <a:spLocks noGrp="1"/>
          </p:cNvSpPr>
          <p:nvPr>
            <p:ph type="title"/>
          </p:nvPr>
        </p:nvSpPr>
        <p:spPr>
          <a:xfrm>
            <a:off x="628650" y="228600"/>
            <a:ext cx="7886700" cy="381000"/>
          </a:xfrm>
        </p:spPr>
        <p:txBody>
          <a:bodyPr/>
          <a:lstStyle/>
          <a:p>
            <a:r>
              <a:rPr lang="en-US" altLang="en-US" sz="2000" b="1" u="sng">
                <a:latin typeface="Verdana" panose="020B0604030504040204" pitchFamily="34" charset="0"/>
                <a:ea typeface="Verdana" panose="020B0604030504040204" pitchFamily="34" charset="0"/>
                <a:cs typeface="Verdana" panose="020B0604030504040204" pitchFamily="34" charset="0"/>
              </a:rPr>
              <a:t>PL/SQL Trigger</a:t>
            </a:r>
          </a:p>
        </p:txBody>
      </p:sp>
      <p:sp>
        <p:nvSpPr>
          <p:cNvPr id="3" name="Content Placeholder 2">
            <a:extLst>
              <a:ext uri="{FF2B5EF4-FFF2-40B4-BE49-F238E27FC236}">
                <a16:creationId xmlns:a16="http://schemas.microsoft.com/office/drawing/2014/main" id="{94013731-423C-4F8C-A451-D32E42E2A367}"/>
              </a:ext>
            </a:extLst>
          </p:cNvPr>
          <p:cNvSpPr>
            <a:spLocks noGrp="1"/>
          </p:cNvSpPr>
          <p:nvPr>
            <p:ph idx="1"/>
          </p:nvPr>
        </p:nvSpPr>
        <p:spPr>
          <a:xfrm>
            <a:off x="628650" y="609600"/>
            <a:ext cx="7886700" cy="5746750"/>
          </a:xfrm>
        </p:spPr>
        <p:txBody>
          <a:bodyPr/>
          <a:lstStyle/>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Trigger is invoked by Oracle engine automatically whenever a specified event occurs. Trigger is stored into database and invoked repeatedly, when specific condition match.</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Triggers are stored programs, which are automatically executed or fired when some event occurs.</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Triggers are written to be executed in response to any of the following events.</a:t>
            </a:r>
          </a:p>
          <a:p>
            <a:pPr>
              <a:buFont typeface="Wingdings" panose="05000000000000000000" pitchFamily="2" charset="2"/>
              <a:buChar char="Ø"/>
              <a:defRPr/>
            </a:pPr>
            <a:r>
              <a:rPr lang="en-US" sz="1800" dirty="0">
                <a:latin typeface="Verdana" panose="020B0604030504040204" pitchFamily="34" charset="0"/>
                <a:ea typeface="Verdana" panose="020B0604030504040204" pitchFamily="34" charset="0"/>
                <a:cs typeface="Verdana" panose="020B0604030504040204" pitchFamily="34" charset="0"/>
              </a:rPr>
              <a:t>A database manipulation (DML) statement (DELETE, INSERT, or UPDATE).</a:t>
            </a:r>
          </a:p>
          <a:p>
            <a:pPr>
              <a:buFont typeface="Wingdings" panose="05000000000000000000" pitchFamily="2" charset="2"/>
              <a:buChar char="Ø"/>
              <a:defRPr/>
            </a:pPr>
            <a:r>
              <a:rPr lang="en-US" sz="1800" dirty="0">
                <a:latin typeface="Verdana" panose="020B0604030504040204" pitchFamily="34" charset="0"/>
                <a:ea typeface="Verdana" panose="020B0604030504040204" pitchFamily="34" charset="0"/>
                <a:cs typeface="Verdana" panose="020B0604030504040204" pitchFamily="34" charset="0"/>
              </a:rPr>
              <a:t>A database definition (DDL) statement (CREATE, ALTER, or DROP).</a:t>
            </a:r>
          </a:p>
          <a:p>
            <a:pPr>
              <a:buFont typeface="Wingdings" panose="05000000000000000000" pitchFamily="2" charset="2"/>
              <a:buChar char="Ø"/>
              <a:defRPr/>
            </a:pPr>
            <a:r>
              <a:rPr lang="en-US" sz="1800" dirty="0">
                <a:latin typeface="Verdana" panose="020B0604030504040204" pitchFamily="34" charset="0"/>
                <a:ea typeface="Verdana" panose="020B0604030504040204" pitchFamily="34" charset="0"/>
                <a:cs typeface="Verdana" panose="020B0604030504040204" pitchFamily="34" charset="0"/>
              </a:rPr>
              <a:t>A database operation (SERVERERROR, LOGON, LOGOFF, STARTUP, or SHUTDOWN).</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Triggers could be defined on the table, view, schema, or database with which the event is associated.</a:t>
            </a:r>
          </a:p>
          <a:p>
            <a:pPr marL="0" indent="0">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01A3BCA9-F3F3-4CE2-972E-73C52BD57127}"/>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0C75D4-1BB2-47BA-B37B-3E423702CDFB}"/>
              </a:ext>
            </a:extLst>
          </p:cNvPr>
          <p:cNvSpPr>
            <a:spLocks noGrp="1"/>
          </p:cNvSpPr>
          <p:nvPr>
            <p:ph idx="1"/>
          </p:nvPr>
        </p:nvSpPr>
        <p:spPr>
          <a:xfrm>
            <a:off x="628650" y="152400"/>
            <a:ext cx="7886700" cy="5875338"/>
          </a:xfrm>
        </p:spPr>
        <p:txBody>
          <a:bodyPr/>
          <a:lstStyle/>
          <a:p>
            <a:pPr marL="0" indent="0">
              <a:buFont typeface="Arial" panose="020B0604020202020204" pitchFamily="34" charset="0"/>
              <a:buNone/>
              <a:defRPr/>
            </a:pPr>
            <a:r>
              <a:rPr lang="en-US" sz="2000" b="1" u="sng" dirty="0">
                <a:latin typeface="Verdana" panose="020B0604030504040204" pitchFamily="34" charset="0"/>
                <a:ea typeface="Verdana" panose="020B0604030504040204" pitchFamily="34" charset="0"/>
                <a:cs typeface="Verdana" panose="020B0604030504040204" pitchFamily="34" charset="0"/>
              </a:rPr>
              <a:t>Advantages of Triggers</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These are the following advantages of Triggers:</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Trigger generates some derived column values automatically</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Enforces referential integrity</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Event logging and storing information on table access</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Auditing</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Synchronous replication of tables</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Imposing security authorizations</a:t>
            </a:r>
          </a:p>
          <a:p>
            <a:pPr marL="342900" indent="-342900">
              <a:buFont typeface="+mj-lt"/>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Preventing invalid transactions</a:t>
            </a:r>
          </a:p>
          <a:p>
            <a:pPr marL="0" indent="0">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A2976B51-97A5-4CCD-AF62-A2474433B2DB}"/>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FDCF898-36FA-4066-A6F1-72ACAE19AF62}"/>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pic>
        <p:nvPicPr>
          <p:cNvPr id="111619" name="Picture 2" descr="Triggers in PL/SQL">
            <a:extLst>
              <a:ext uri="{FF2B5EF4-FFF2-40B4-BE49-F238E27FC236}">
                <a16:creationId xmlns:a16="http://schemas.microsoft.com/office/drawing/2014/main" id="{F1D55370-151D-452C-99AE-B7D157155F4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28650" y="457200"/>
            <a:ext cx="7753350" cy="5638800"/>
          </a:xfrm>
          <a:noFill/>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75DE87-91DD-42DC-9882-2451035969DB}"/>
              </a:ext>
            </a:extLst>
          </p:cNvPr>
          <p:cNvSpPr>
            <a:spLocks noGrp="1"/>
          </p:cNvSpPr>
          <p:nvPr>
            <p:ph idx="1"/>
          </p:nvPr>
        </p:nvSpPr>
        <p:spPr>
          <a:xfrm>
            <a:off x="628650" y="152400"/>
            <a:ext cx="7886700" cy="6024563"/>
          </a:xfrm>
        </p:spPr>
        <p:txBody>
          <a:bodyPr/>
          <a:lstStyle/>
          <a:p>
            <a:pPr>
              <a:defRPr/>
            </a:pPr>
            <a:r>
              <a:rPr lang="en-US" sz="1800" b="1" dirty="0">
                <a:latin typeface="Verdana" panose="020B0604030504040204" pitchFamily="34" charset="0"/>
                <a:ea typeface="Verdana" panose="020B0604030504040204" pitchFamily="34" charset="0"/>
                <a:cs typeface="Verdana" panose="020B0604030504040204" pitchFamily="34" charset="0"/>
              </a:rPr>
              <a:t>Syntax Explanation:</a:t>
            </a:r>
            <a:endParaRPr lang="en-US" sz="1800" dirty="0">
              <a:latin typeface="Verdana" panose="020B0604030504040204" pitchFamily="34" charset="0"/>
              <a:ea typeface="Verdana" panose="020B0604030504040204" pitchFamily="34" charset="0"/>
              <a:cs typeface="Verdana" panose="020B0604030504040204" pitchFamily="34" charset="0"/>
            </a:endParaRPr>
          </a:p>
          <a:p>
            <a:pPr>
              <a:buFont typeface="Wingdings" panose="05000000000000000000" pitchFamily="2" charset="2"/>
              <a:buChar char="v"/>
              <a:defRPr/>
            </a:pPr>
            <a:r>
              <a:rPr lang="en-US" sz="1800" dirty="0">
                <a:latin typeface="Verdana" panose="020B0604030504040204" pitchFamily="34" charset="0"/>
                <a:ea typeface="Verdana" panose="020B0604030504040204" pitchFamily="34" charset="0"/>
                <a:cs typeface="Verdana" panose="020B0604030504040204" pitchFamily="34" charset="0"/>
              </a:rPr>
              <a:t>The above syntax shows the different optional statements that are present in trigger creation.</a:t>
            </a:r>
          </a:p>
          <a:p>
            <a:pPr>
              <a:buFont typeface="Wingdings" panose="05000000000000000000" pitchFamily="2" charset="2"/>
              <a:buChar char="v"/>
              <a:defRPr/>
            </a:pPr>
            <a:r>
              <a:rPr lang="en-US" sz="1800" dirty="0">
                <a:latin typeface="Verdana" panose="020B0604030504040204" pitchFamily="34" charset="0"/>
                <a:ea typeface="Verdana" panose="020B0604030504040204" pitchFamily="34" charset="0"/>
                <a:cs typeface="Verdana" panose="020B0604030504040204" pitchFamily="34" charset="0"/>
              </a:rPr>
              <a:t>BEFORE/ AFTER will specify the event timings.</a:t>
            </a:r>
          </a:p>
          <a:p>
            <a:pPr>
              <a:buFont typeface="Wingdings" panose="05000000000000000000" pitchFamily="2" charset="2"/>
              <a:buChar char="v"/>
              <a:defRPr/>
            </a:pPr>
            <a:r>
              <a:rPr lang="en-US" sz="1800" dirty="0">
                <a:latin typeface="Verdana" panose="020B0604030504040204" pitchFamily="34" charset="0"/>
                <a:ea typeface="Verdana" panose="020B0604030504040204" pitchFamily="34" charset="0"/>
                <a:cs typeface="Verdana" panose="020B0604030504040204" pitchFamily="34" charset="0"/>
              </a:rPr>
              <a:t>INSERT/UPDATE/LOGON/CREATE/etc. will specify the event for which the trigger needs to be fired.</a:t>
            </a:r>
          </a:p>
          <a:p>
            <a:pPr>
              <a:buFont typeface="Wingdings" panose="05000000000000000000" pitchFamily="2" charset="2"/>
              <a:buChar char="v"/>
              <a:defRPr/>
            </a:pPr>
            <a:r>
              <a:rPr lang="en-US" sz="1800" dirty="0">
                <a:latin typeface="Verdana" panose="020B0604030504040204" pitchFamily="34" charset="0"/>
                <a:ea typeface="Verdana" panose="020B0604030504040204" pitchFamily="34" charset="0"/>
                <a:cs typeface="Verdana" panose="020B0604030504040204" pitchFamily="34" charset="0"/>
              </a:rPr>
              <a:t>ON clause will specify on which object the above mentioned event is valid. For example, this will be the table name on which the DML event may occur in the case of DML Trigger.</a:t>
            </a:r>
          </a:p>
          <a:p>
            <a:pPr>
              <a:buFont typeface="Wingdings" panose="05000000000000000000" pitchFamily="2" charset="2"/>
              <a:buChar char="v"/>
              <a:defRPr/>
            </a:pPr>
            <a:r>
              <a:rPr lang="en-US" sz="1800" dirty="0">
                <a:latin typeface="Verdana" panose="020B0604030504040204" pitchFamily="34" charset="0"/>
                <a:ea typeface="Verdana" panose="020B0604030504040204" pitchFamily="34" charset="0"/>
                <a:cs typeface="Verdana" panose="020B0604030504040204" pitchFamily="34" charset="0"/>
              </a:rPr>
              <a:t>Command "FOR EACH ROW" will specify the ROW level trigger.</a:t>
            </a:r>
          </a:p>
          <a:p>
            <a:pPr>
              <a:buFont typeface="Wingdings" panose="05000000000000000000" pitchFamily="2" charset="2"/>
              <a:buChar char="v"/>
              <a:defRPr/>
            </a:pPr>
            <a:r>
              <a:rPr lang="en-US" sz="1800" dirty="0">
                <a:latin typeface="Verdana" panose="020B0604030504040204" pitchFamily="34" charset="0"/>
                <a:ea typeface="Verdana" panose="020B0604030504040204" pitchFamily="34" charset="0"/>
                <a:cs typeface="Verdana" panose="020B0604030504040204" pitchFamily="34" charset="0"/>
              </a:rPr>
              <a:t>WHEN clause will specify the additional condition in which the trigger needs to fire.</a:t>
            </a:r>
          </a:p>
          <a:p>
            <a:pPr>
              <a:buFont typeface="Wingdings" panose="05000000000000000000" pitchFamily="2" charset="2"/>
              <a:buChar char="v"/>
              <a:defRPr/>
            </a:pPr>
            <a:r>
              <a:rPr lang="en-US" sz="1800" dirty="0">
                <a:latin typeface="Verdana" panose="020B0604030504040204" pitchFamily="34" charset="0"/>
                <a:ea typeface="Verdana" panose="020B0604030504040204" pitchFamily="34" charset="0"/>
                <a:cs typeface="Verdana" panose="020B0604030504040204" pitchFamily="34" charset="0"/>
              </a:rPr>
              <a:t>The declaration part, execution part, exception handling part is same as that of the other PL/SQL blocks. Declaration part and exception handling part are optional.</a:t>
            </a:r>
          </a:p>
          <a:p>
            <a:pPr marL="0" indent="0">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58825449-F09D-40DF-A272-C723470C119C}"/>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D3241D-7BF3-4C0F-BA0B-A76B23949663}"/>
              </a:ext>
            </a:extLst>
          </p:cNvPr>
          <p:cNvSpPr>
            <a:spLocks noGrp="1"/>
          </p:cNvSpPr>
          <p:nvPr>
            <p:ph idx="1"/>
          </p:nvPr>
        </p:nvSpPr>
        <p:spPr>
          <a:xfrm>
            <a:off x="628650" y="152400"/>
            <a:ext cx="7886700" cy="6024563"/>
          </a:xfrm>
        </p:spPr>
        <p:txBody>
          <a:bodyPr/>
          <a:lstStyle/>
          <a:p>
            <a:pPr>
              <a:defRPr/>
            </a:pPr>
            <a:r>
              <a:rPr lang="en-US" sz="2000" b="1" dirty="0">
                <a:latin typeface="Verdana" panose="020B0604030504040204" pitchFamily="34" charset="0"/>
                <a:ea typeface="Verdana" panose="020B0604030504040204" pitchFamily="34" charset="0"/>
                <a:cs typeface="Verdana" panose="020B0604030504040204" pitchFamily="34" charset="0"/>
              </a:rPr>
              <a:t>:NEW and :OLD Clause</a:t>
            </a:r>
          </a:p>
          <a:p>
            <a:pPr>
              <a:buFont typeface="Wingdings" panose="05000000000000000000" pitchFamily="2" charset="2"/>
              <a:buChar char="v"/>
              <a:defRPr/>
            </a:pPr>
            <a:r>
              <a:rPr lang="en-US" sz="1800" b="1" dirty="0">
                <a:latin typeface="Verdana" panose="020B0604030504040204" pitchFamily="34" charset="0"/>
                <a:ea typeface="Verdana" panose="020B0604030504040204" pitchFamily="34" charset="0"/>
                <a:cs typeface="Verdana" panose="020B0604030504040204" pitchFamily="34" charset="0"/>
              </a:rPr>
              <a:t>In a row level trigger</a:t>
            </a:r>
            <a:r>
              <a:rPr lang="en-US" sz="1800" dirty="0">
                <a:latin typeface="Verdana" panose="020B0604030504040204" pitchFamily="34" charset="0"/>
                <a:ea typeface="Verdana" panose="020B0604030504040204" pitchFamily="34" charset="0"/>
                <a:cs typeface="Verdana" panose="020B0604030504040204" pitchFamily="34" charset="0"/>
              </a:rPr>
              <a:t>, the trigger fires for each related row. And sometimes it is required to know the value before and after the DML statement.</a:t>
            </a:r>
          </a:p>
          <a:p>
            <a:pPr>
              <a:buFont typeface="Wingdings" panose="05000000000000000000" pitchFamily="2" charset="2"/>
              <a:buChar char="v"/>
              <a:defRPr/>
            </a:pPr>
            <a:r>
              <a:rPr lang="en-US" sz="1800" dirty="0">
                <a:latin typeface="Verdana" panose="020B0604030504040204" pitchFamily="34" charset="0"/>
                <a:ea typeface="Verdana" panose="020B0604030504040204" pitchFamily="34" charset="0"/>
                <a:cs typeface="Verdana" panose="020B0604030504040204" pitchFamily="34" charset="0"/>
              </a:rPr>
              <a:t>Oracle has provided two clauses in the RECORD-level trigger to hold these values. We can use these clauses to refer to the old and new values inside the trigger body.</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:NEW </a:t>
            </a:r>
            <a:r>
              <a:rPr lang="en-US" sz="1800" dirty="0">
                <a:latin typeface="Verdana" panose="020B0604030504040204" pitchFamily="34" charset="0"/>
                <a:ea typeface="Verdana" panose="020B0604030504040204" pitchFamily="34" charset="0"/>
                <a:cs typeface="Verdana" panose="020B0604030504040204" pitchFamily="34" charset="0"/>
              </a:rPr>
              <a:t>– It holds new value of the columns of the base table/view during the trigger execution</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:OLD </a:t>
            </a:r>
            <a:r>
              <a:rPr lang="en-US" sz="1800" dirty="0">
                <a:latin typeface="Verdana" panose="020B0604030504040204" pitchFamily="34" charset="0"/>
                <a:ea typeface="Verdana" panose="020B0604030504040204" pitchFamily="34" charset="0"/>
                <a:cs typeface="Verdana" panose="020B0604030504040204" pitchFamily="34" charset="0"/>
              </a:rPr>
              <a:t>– It holds old value of the columns of the base table/view during the trigger execution</a:t>
            </a:r>
          </a:p>
          <a:p>
            <a:pPr>
              <a:buFont typeface="Wingdings" panose="05000000000000000000" pitchFamily="2" charset="2"/>
              <a:buChar char="v"/>
              <a:defRPr/>
            </a:pPr>
            <a:r>
              <a:rPr lang="en-US" sz="1800" dirty="0">
                <a:latin typeface="Verdana" panose="020B0604030504040204" pitchFamily="34" charset="0"/>
                <a:ea typeface="Verdana" panose="020B0604030504040204" pitchFamily="34" charset="0"/>
                <a:cs typeface="Verdana" panose="020B0604030504040204" pitchFamily="34" charset="0"/>
              </a:rPr>
              <a:t>These clause should be used based on the DML event. Below table will specify which clause is valid for which DML statement (INSERT/UPDATE/DELETE).</a:t>
            </a:r>
          </a:p>
          <a:p>
            <a:pPr marL="0" indent="0">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433C1B5D-0381-48FE-9306-9BB70DE714AB}"/>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6B0230-EAF6-4D2E-8757-043C6BF5AD73}"/>
              </a:ext>
            </a:extLst>
          </p:cNvPr>
          <p:cNvSpPr>
            <a:spLocks noGrp="1"/>
          </p:cNvSpPr>
          <p:nvPr>
            <p:ph idx="1"/>
          </p:nvPr>
        </p:nvSpPr>
        <p:spPr>
          <a:xfrm>
            <a:off x="628650" y="152400"/>
            <a:ext cx="7886700" cy="6024563"/>
          </a:xfrm>
        </p:spPr>
        <p:txBody>
          <a:bodyPr/>
          <a:lstStyle/>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STEP 1: Create Trigger</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Let's take a program to create a row level trigger for the CUSTOMERS table that would fire for INSERT or UPDATE or DELETE operations performed on the CUSTOMERS table.</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This trigger will display the salary difference between the old values and new values:</a:t>
            </a:r>
          </a:p>
          <a:p>
            <a:pPr marL="0" indent="0">
              <a:buFont typeface="Arial" panose="020B0604020202020204" pitchFamily="34" charset="0"/>
              <a:buNone/>
              <a:defRPr/>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r>
              <a:rPr lang="en-US" sz="1800" b="1" dirty="0">
                <a:latin typeface="Courier New" panose="02070309020205020404" pitchFamily="49" charset="0"/>
                <a:ea typeface="Verdana" panose="020B0604030504040204" pitchFamily="34" charset="0"/>
                <a:cs typeface="Courier New" panose="02070309020205020404" pitchFamily="49" charset="0"/>
              </a:rPr>
              <a:t>ID	NAME		AGE	ADDRESS		SALARY</a:t>
            </a:r>
          </a:p>
          <a:p>
            <a:pPr marL="0" indent="0">
              <a:buFont typeface="Arial" panose="020B0604020202020204" pitchFamily="34" charset="0"/>
              <a:buNone/>
              <a:defRPr/>
            </a:pPr>
            <a:r>
              <a:rPr lang="en-US" sz="1800" b="1" dirty="0">
                <a:latin typeface="Courier New" panose="02070309020205020404" pitchFamily="49" charset="0"/>
                <a:ea typeface="Verdana" panose="020B0604030504040204" pitchFamily="34" charset="0"/>
                <a:cs typeface="Courier New" panose="02070309020205020404" pitchFamily="49" charset="0"/>
              </a:rPr>
              <a:t>1	Ramesh	23	Allahabad		20000</a:t>
            </a:r>
          </a:p>
          <a:p>
            <a:pPr marL="0" indent="0">
              <a:buFont typeface="Arial" panose="020B0604020202020204" pitchFamily="34" charset="0"/>
              <a:buNone/>
              <a:defRPr/>
            </a:pPr>
            <a:r>
              <a:rPr lang="en-US" sz="1800" b="1" dirty="0">
                <a:latin typeface="Courier New" panose="02070309020205020404" pitchFamily="49" charset="0"/>
                <a:ea typeface="Verdana" panose="020B0604030504040204" pitchFamily="34" charset="0"/>
                <a:cs typeface="Courier New" panose="02070309020205020404" pitchFamily="49" charset="0"/>
              </a:rPr>
              <a:t>2	Suresh	22	Kanpur		22000</a:t>
            </a:r>
          </a:p>
          <a:p>
            <a:pPr marL="0" indent="0">
              <a:buFont typeface="Arial" panose="020B0604020202020204" pitchFamily="34" charset="0"/>
              <a:buNone/>
              <a:defRPr/>
            </a:pPr>
            <a:r>
              <a:rPr lang="en-US" sz="1800" b="1" dirty="0">
                <a:latin typeface="Courier New" panose="02070309020205020404" pitchFamily="49" charset="0"/>
                <a:ea typeface="Verdana" panose="020B0604030504040204" pitchFamily="34" charset="0"/>
                <a:cs typeface="Courier New" panose="02070309020205020404" pitchFamily="49" charset="0"/>
              </a:rPr>
              <a:t>3	Mahesh	24	Ghaziabad		24000</a:t>
            </a:r>
          </a:p>
          <a:p>
            <a:pPr marL="0" indent="0">
              <a:buFont typeface="Arial" panose="020B0604020202020204" pitchFamily="34" charset="0"/>
              <a:buNone/>
              <a:defRPr/>
            </a:pPr>
            <a:r>
              <a:rPr lang="en-US" sz="1800" b="1" dirty="0">
                <a:latin typeface="Courier New" panose="02070309020205020404" pitchFamily="49" charset="0"/>
                <a:ea typeface="Verdana" panose="020B0604030504040204" pitchFamily="34" charset="0"/>
                <a:cs typeface="Courier New" panose="02070309020205020404" pitchFamily="49" charset="0"/>
              </a:rPr>
              <a:t>4	</a:t>
            </a:r>
            <a:r>
              <a:rPr lang="en-US" sz="1800" b="1" dirty="0" err="1">
                <a:latin typeface="Courier New" panose="02070309020205020404" pitchFamily="49" charset="0"/>
                <a:ea typeface="Verdana" panose="020B0604030504040204" pitchFamily="34" charset="0"/>
                <a:cs typeface="Courier New" panose="02070309020205020404" pitchFamily="49" charset="0"/>
              </a:rPr>
              <a:t>Chandan</a:t>
            </a:r>
            <a:r>
              <a:rPr lang="en-US" sz="1800" b="1" dirty="0">
                <a:latin typeface="Courier New" panose="02070309020205020404" pitchFamily="49" charset="0"/>
                <a:ea typeface="Verdana" panose="020B0604030504040204" pitchFamily="34" charset="0"/>
                <a:cs typeface="Courier New" panose="02070309020205020404" pitchFamily="49" charset="0"/>
              </a:rPr>
              <a:t>	25	Noida			26000</a:t>
            </a:r>
          </a:p>
          <a:p>
            <a:pPr marL="0" indent="0">
              <a:buFont typeface="Arial" panose="020B0604020202020204" pitchFamily="34" charset="0"/>
              <a:buNone/>
              <a:defRPr/>
            </a:pPr>
            <a:r>
              <a:rPr lang="en-US" sz="1800" b="1" dirty="0">
                <a:latin typeface="Courier New" panose="02070309020205020404" pitchFamily="49" charset="0"/>
                <a:ea typeface="Verdana" panose="020B0604030504040204" pitchFamily="34" charset="0"/>
                <a:cs typeface="Courier New" panose="02070309020205020404" pitchFamily="49" charset="0"/>
              </a:rPr>
              <a:t>5	Alex		21	Paris			28000</a:t>
            </a:r>
          </a:p>
          <a:p>
            <a:pPr marL="342900" indent="-342900">
              <a:buFont typeface="Arial" panose="020B0604020202020204" pitchFamily="34" charset="0"/>
              <a:buAutoNum type="arabicPlain" startAt="6"/>
              <a:defRPr/>
            </a:pPr>
            <a:r>
              <a:rPr lang="en-US" sz="1800" b="1" dirty="0" err="1">
                <a:latin typeface="Courier New" panose="02070309020205020404" pitchFamily="49" charset="0"/>
                <a:ea typeface="Verdana" panose="020B0604030504040204" pitchFamily="34" charset="0"/>
                <a:cs typeface="Courier New" panose="02070309020205020404" pitchFamily="49" charset="0"/>
              </a:rPr>
              <a:t>Sunita</a:t>
            </a:r>
            <a:r>
              <a:rPr lang="en-US" sz="1800" b="1" dirty="0">
                <a:latin typeface="Courier New" panose="02070309020205020404" pitchFamily="49" charset="0"/>
                <a:ea typeface="Verdana" panose="020B0604030504040204" pitchFamily="34" charset="0"/>
                <a:cs typeface="Courier New" panose="02070309020205020404" pitchFamily="49" charset="0"/>
              </a:rPr>
              <a:t>	20	Delhi			30000</a:t>
            </a:r>
          </a:p>
          <a:p>
            <a:pPr marL="0" indent="0">
              <a:buFont typeface="Arial" panose="020B0604020202020204" pitchFamily="34" charset="0"/>
              <a:buNone/>
              <a:defRPr/>
            </a:pPr>
            <a:endParaRPr lang="en-US" sz="1800" b="1" dirty="0">
              <a:latin typeface="Courier New" panose="02070309020205020404" pitchFamily="49" charset="0"/>
              <a:ea typeface="Verdana" panose="020B0604030504040204" pitchFamily="34" charset="0"/>
              <a:cs typeface="Courier New" panose="02070309020205020404" pitchFamily="49" charset="0"/>
            </a:endParaRPr>
          </a:p>
          <a:p>
            <a:pPr marL="0" indent="0">
              <a:buFont typeface="Arial" panose="020B0604020202020204" pitchFamily="34" charset="0"/>
              <a:buNone/>
              <a:defRPr/>
            </a:pPr>
            <a:r>
              <a:rPr lang="en-US" sz="1800" b="1" dirty="0">
                <a:latin typeface="Courier New" panose="02070309020205020404" pitchFamily="49" charset="0"/>
                <a:ea typeface="Verdana" panose="020B0604030504040204" pitchFamily="34" charset="0"/>
                <a:cs typeface="Courier New" panose="02070309020205020404" pitchFamily="49" charset="0"/>
              </a:rPr>
              <a:t>RTE: Auto-gen, SIGNIN</a:t>
            </a:r>
          </a:p>
        </p:txBody>
      </p:sp>
      <p:sp>
        <p:nvSpPr>
          <p:cNvPr id="4" name="Date Placeholder 3">
            <a:extLst>
              <a:ext uri="{FF2B5EF4-FFF2-40B4-BE49-F238E27FC236}">
                <a16:creationId xmlns:a16="http://schemas.microsoft.com/office/drawing/2014/main" id="{ABE03BBF-DD0A-47A5-8670-B70A3BCDF08C}"/>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Content Placeholder 2">
            <a:extLst>
              <a:ext uri="{FF2B5EF4-FFF2-40B4-BE49-F238E27FC236}">
                <a16:creationId xmlns:a16="http://schemas.microsoft.com/office/drawing/2014/main" id="{5749420B-D943-49B9-A319-E0943732B4DD}"/>
              </a:ext>
            </a:extLst>
          </p:cNvPr>
          <p:cNvSpPr>
            <a:spLocks noGrp="1"/>
          </p:cNvSpPr>
          <p:nvPr>
            <p:ph idx="1"/>
          </p:nvPr>
        </p:nvSpPr>
        <p:spPr>
          <a:xfrm>
            <a:off x="628650" y="228600"/>
            <a:ext cx="7886700" cy="5948363"/>
          </a:xfrm>
        </p:spPr>
        <p:txBody>
          <a:bodyPr/>
          <a:lstStyle/>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CREATE</a:t>
            </a:r>
            <a:r>
              <a:rPr lang="en-US" altLang="en-US" sz="1800">
                <a:latin typeface="Verdana" panose="020B0604030504040204" pitchFamily="34" charset="0"/>
                <a:ea typeface="Verdana" panose="020B0604030504040204" pitchFamily="34" charset="0"/>
                <a:cs typeface="Verdana" panose="020B0604030504040204" pitchFamily="34" charset="0"/>
              </a:rPr>
              <a:t> OR REPLACE </a:t>
            </a:r>
            <a:r>
              <a:rPr lang="en-US" altLang="en-US" sz="1800" b="1">
                <a:latin typeface="Verdana" panose="020B0604030504040204" pitchFamily="34" charset="0"/>
                <a:ea typeface="Verdana" panose="020B0604030504040204" pitchFamily="34" charset="0"/>
                <a:cs typeface="Verdana" panose="020B0604030504040204" pitchFamily="34" charset="0"/>
              </a:rPr>
              <a:t>TRIGGER</a:t>
            </a:r>
            <a:r>
              <a:rPr lang="en-US" altLang="en-US" sz="1800">
                <a:latin typeface="Verdana" panose="020B0604030504040204" pitchFamily="34" charset="0"/>
                <a:ea typeface="Verdana" panose="020B0604030504040204" pitchFamily="34" charset="0"/>
                <a:cs typeface="Verdana" panose="020B0604030504040204" pitchFamily="34" charset="0"/>
              </a:rPr>
              <a:t> display_salary_changes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BEFORE </a:t>
            </a:r>
            <a:r>
              <a:rPr lang="en-US" altLang="en-US" sz="1800" b="1">
                <a:latin typeface="Verdana" panose="020B0604030504040204" pitchFamily="34" charset="0"/>
                <a:ea typeface="Verdana" panose="020B0604030504040204" pitchFamily="34" charset="0"/>
                <a:cs typeface="Verdana" panose="020B0604030504040204" pitchFamily="34" charset="0"/>
              </a:rPr>
              <a:t>DELETE</a:t>
            </a:r>
            <a:r>
              <a:rPr lang="en-US" altLang="en-US" sz="1800">
                <a:latin typeface="Verdana" panose="020B0604030504040204" pitchFamily="34" charset="0"/>
                <a:ea typeface="Verdana" panose="020B0604030504040204" pitchFamily="34" charset="0"/>
                <a:cs typeface="Verdana" panose="020B0604030504040204" pitchFamily="34" charset="0"/>
              </a:rPr>
              <a:t> OR </a:t>
            </a:r>
            <a:r>
              <a:rPr lang="en-US" altLang="en-US" sz="1800" b="1">
                <a:latin typeface="Verdana" panose="020B0604030504040204" pitchFamily="34" charset="0"/>
                <a:ea typeface="Verdana" panose="020B0604030504040204" pitchFamily="34" charset="0"/>
                <a:cs typeface="Verdana" panose="020B0604030504040204" pitchFamily="34" charset="0"/>
              </a:rPr>
              <a:t>INSERT</a:t>
            </a:r>
            <a:r>
              <a:rPr lang="en-US" altLang="en-US" sz="1800">
                <a:latin typeface="Verdana" panose="020B0604030504040204" pitchFamily="34" charset="0"/>
                <a:ea typeface="Verdana" panose="020B0604030504040204" pitchFamily="34" charset="0"/>
                <a:cs typeface="Verdana" panose="020B0604030504040204" pitchFamily="34" charset="0"/>
              </a:rPr>
              <a:t> OR </a:t>
            </a:r>
            <a:r>
              <a:rPr lang="en-US" altLang="en-US" sz="1800" b="1">
                <a:latin typeface="Verdana" panose="020B0604030504040204" pitchFamily="34" charset="0"/>
                <a:ea typeface="Verdana" panose="020B0604030504040204" pitchFamily="34" charset="0"/>
                <a:cs typeface="Verdana" panose="020B0604030504040204" pitchFamily="34" charset="0"/>
              </a:rPr>
              <a:t>UPDATE</a:t>
            </a: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ON</a:t>
            </a:r>
            <a:r>
              <a:rPr lang="en-US" altLang="en-US" sz="1800">
                <a:latin typeface="Verdana" panose="020B0604030504040204" pitchFamily="34" charset="0"/>
                <a:ea typeface="Verdana" panose="020B0604030504040204" pitchFamily="34" charset="0"/>
                <a:cs typeface="Verdana" panose="020B0604030504040204" pitchFamily="34" charset="0"/>
              </a:rPr>
              <a:t> customers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FOR</a:t>
            </a:r>
            <a:r>
              <a:rPr lang="en-US" altLang="en-US" sz="1800">
                <a:latin typeface="Verdana" panose="020B0604030504040204" pitchFamily="34" charset="0"/>
                <a:ea typeface="Verdana" panose="020B0604030504040204" pitchFamily="34" charset="0"/>
                <a:cs typeface="Verdana" panose="020B0604030504040204" pitchFamily="34" charset="0"/>
              </a:rPr>
              <a:t> EACH ROW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WHEN</a:t>
            </a:r>
            <a:r>
              <a:rPr lang="en-US" altLang="en-US" sz="1800">
                <a:latin typeface="Verdana" panose="020B0604030504040204" pitchFamily="34" charset="0"/>
                <a:ea typeface="Verdana" panose="020B0604030504040204" pitchFamily="34" charset="0"/>
                <a:cs typeface="Verdana" panose="020B0604030504040204" pitchFamily="34" charset="0"/>
              </a:rPr>
              <a:t> (NEW.ID &gt; 0)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DECLARE</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sal_diff number;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BEGIN</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sal_diff := :NEW. Salary  - :OLD. Salary;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dbms_output.put_line('Old salary: ' || :OLD.salary);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dbms_output.put_line('New salary: ' || :NEW.salary);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dbms_output.put_line('Salary difference: ' || sal_diff);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END</a:t>
            </a: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After the execution of the above code at SQL Prompt, it produces the following result.</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Trigger created.</a:t>
            </a:r>
          </a:p>
        </p:txBody>
      </p:sp>
      <p:sp>
        <p:nvSpPr>
          <p:cNvPr id="4" name="Date Placeholder 3">
            <a:extLst>
              <a:ext uri="{FF2B5EF4-FFF2-40B4-BE49-F238E27FC236}">
                <a16:creationId xmlns:a16="http://schemas.microsoft.com/office/drawing/2014/main" id="{CDA0B2D5-2F3E-4FE2-AA33-582E7B042B65}"/>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Content Placeholder 2">
            <a:extLst>
              <a:ext uri="{FF2B5EF4-FFF2-40B4-BE49-F238E27FC236}">
                <a16:creationId xmlns:a16="http://schemas.microsoft.com/office/drawing/2014/main" id="{A6E40B2E-849E-43E6-8ABB-16FBABED9BDE}"/>
              </a:ext>
            </a:extLst>
          </p:cNvPr>
          <p:cNvSpPr>
            <a:spLocks noGrp="1"/>
          </p:cNvSpPr>
          <p:nvPr>
            <p:ph idx="1"/>
          </p:nvPr>
        </p:nvSpPr>
        <p:spPr>
          <a:xfrm>
            <a:off x="628650" y="152400"/>
            <a:ext cx="7886700" cy="6024563"/>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The following points need to be considered here −</a:t>
            </a:r>
          </a:p>
          <a:p>
            <a:pPr marL="0" indent="0"/>
            <a:r>
              <a:rPr lang="en-US" altLang="en-US" sz="1800">
                <a:latin typeface="Verdana" panose="020B0604030504040204" pitchFamily="34" charset="0"/>
                <a:ea typeface="Verdana" panose="020B0604030504040204" pitchFamily="34" charset="0"/>
                <a:cs typeface="Verdana" panose="020B0604030504040204" pitchFamily="34" charset="0"/>
              </a:rPr>
              <a:t>OLD and NEW references are not available for table-level triggers, rather you can use them for record-level triggers.</a:t>
            </a:r>
          </a:p>
          <a:p>
            <a:pPr marL="0" indent="0"/>
            <a:r>
              <a:rPr lang="en-US" altLang="en-US" sz="1800">
                <a:latin typeface="Verdana" panose="020B0604030504040204" pitchFamily="34" charset="0"/>
                <a:ea typeface="Verdana" panose="020B0604030504040204" pitchFamily="34" charset="0"/>
                <a:cs typeface="Verdana" panose="020B0604030504040204" pitchFamily="34" charset="0"/>
              </a:rPr>
              <a:t>The above trigger has been written in such a way that it will fire before any DELETE or INSERT or UPDATE operation on the table, but you can write your trigger on a single or multiple operations, for example BEFORE DELETE, which will fire whenever a record will be deleted using the DELETE operation on the table</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Triggering a Trigger:</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Let us perform some DML operations on the CUSTOMERS table. Here is one INSERT statement, which will create a new record in the table -</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INSERT INTO CUSTOMERS (ID,NAME,AGE,ADDRESS,SALARY)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VALUES (7, 'Kriti', 22, 'HP', 7500.00 );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When a record is created in the CUSTOMERS table, the above create trigger, display_salary_changes will be fired and it will display the following result -</a:t>
            </a:r>
          </a:p>
          <a:p>
            <a:pPr marL="0" indent="0">
              <a:buFont typeface="Arial" panose="020B0604020202020204" pitchFamily="34" charset="0"/>
              <a:buNone/>
            </a:pPr>
            <a:endParaRPr lang="en-US" altLang="en-US" sz="1800" b="1">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D9252C73-F594-45CA-8316-386097E63B7D}"/>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Content Placeholder 2">
            <a:extLst>
              <a:ext uri="{FF2B5EF4-FFF2-40B4-BE49-F238E27FC236}">
                <a16:creationId xmlns:a16="http://schemas.microsoft.com/office/drawing/2014/main" id="{BB4D89C0-ECEF-41B1-8EC6-2606E7CE0A79}"/>
              </a:ext>
            </a:extLst>
          </p:cNvPr>
          <p:cNvSpPr>
            <a:spLocks noGrp="1"/>
          </p:cNvSpPr>
          <p:nvPr>
            <p:ph idx="1"/>
          </p:nvPr>
        </p:nvSpPr>
        <p:spPr>
          <a:xfrm>
            <a:off x="628650" y="228600"/>
            <a:ext cx="7886700" cy="6127750"/>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Old salary: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New salary: 7500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Salary difference:</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Because this is a new record, old salary is not available and the above result comes as null. Let us now perform one more DML operation on the CUSTOMERS table. The UPDATE statement will update an existing record in the table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UPDATE customers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SET salary = salary + 500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WHERE id = 2;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When a record is updated in the CUSTOMERS table, the above create trigger, display_salary_changes will be fired and it will display the following result -</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Old salary: 1500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New salary: 2000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Salary difference: 500 </a:t>
            </a:r>
          </a:p>
        </p:txBody>
      </p:sp>
      <p:sp>
        <p:nvSpPr>
          <p:cNvPr id="4" name="Date Placeholder 3">
            <a:extLst>
              <a:ext uri="{FF2B5EF4-FFF2-40B4-BE49-F238E27FC236}">
                <a16:creationId xmlns:a16="http://schemas.microsoft.com/office/drawing/2014/main" id="{1C6F569F-B109-4DE0-B13A-83BF336F6A36}"/>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982AD4-11FC-447F-AFF5-91841C36D2B8}"/>
              </a:ext>
            </a:extLst>
          </p:cNvPr>
          <p:cNvSpPr>
            <a:spLocks noGrp="1"/>
          </p:cNvSpPr>
          <p:nvPr>
            <p:ph idx="1"/>
          </p:nvPr>
        </p:nvSpPr>
        <p:spPr>
          <a:xfrm>
            <a:off x="628650" y="152400"/>
            <a:ext cx="7886700" cy="6203950"/>
          </a:xfrm>
        </p:spPr>
        <p:txBody>
          <a:bodyPr/>
          <a:lstStyle/>
          <a:p>
            <a:pPr>
              <a:defRPr/>
            </a:pPr>
            <a:r>
              <a:rPr lang="en-US" sz="1800" b="1" dirty="0">
                <a:latin typeface="Verdana" panose="020B0604030504040204" pitchFamily="34" charset="0"/>
                <a:ea typeface="Verdana" panose="020B0604030504040204" pitchFamily="34" charset="0"/>
                <a:cs typeface="Verdana" panose="020B0604030504040204" pitchFamily="34" charset="0"/>
              </a:rPr>
              <a:t>Type of Triggers</a:t>
            </a:r>
          </a:p>
          <a:p>
            <a:pPr marL="342900" indent="-342900">
              <a:buFont typeface="+mj-lt"/>
              <a:buAutoNum type="arabicPeriod"/>
              <a:defRPr/>
            </a:pPr>
            <a:r>
              <a:rPr lang="en-US" sz="1800" b="1" dirty="0">
                <a:latin typeface="Verdana" panose="020B0604030504040204" pitchFamily="34" charset="0"/>
                <a:ea typeface="Verdana" panose="020B0604030504040204" pitchFamily="34" charset="0"/>
                <a:cs typeface="Verdana" panose="020B0604030504040204" pitchFamily="34" charset="0"/>
              </a:rPr>
              <a:t>BEFORE Trigger</a:t>
            </a:r>
            <a:r>
              <a:rPr lang="en-US" sz="1800" dirty="0">
                <a:latin typeface="Verdana" panose="020B0604030504040204" pitchFamily="34" charset="0"/>
                <a:ea typeface="Verdana" panose="020B0604030504040204" pitchFamily="34" charset="0"/>
                <a:cs typeface="Verdana" panose="020B0604030504040204" pitchFamily="34" charset="0"/>
              </a:rPr>
              <a:t> : BEFORE trigger execute before the triggering DML statement (INSERT, UPDATE, DELETE) execute. Triggering SQL statement is may or may not execute, depending on the BEFORE trigger conditions block.</a:t>
            </a:r>
          </a:p>
          <a:p>
            <a:pPr marL="342900" indent="-342900">
              <a:buFont typeface="+mj-lt"/>
              <a:buAutoNum type="arabicPeriod"/>
              <a:defRPr/>
            </a:pPr>
            <a:r>
              <a:rPr lang="en-US" sz="1800" b="1" dirty="0">
                <a:latin typeface="Verdana" panose="020B0604030504040204" pitchFamily="34" charset="0"/>
                <a:ea typeface="Verdana" panose="020B0604030504040204" pitchFamily="34" charset="0"/>
                <a:cs typeface="Verdana" panose="020B0604030504040204" pitchFamily="34" charset="0"/>
              </a:rPr>
              <a:t>AFTER Trigger</a:t>
            </a:r>
            <a:r>
              <a:rPr lang="en-US" sz="1800" dirty="0">
                <a:latin typeface="Verdana" panose="020B0604030504040204" pitchFamily="34" charset="0"/>
                <a:ea typeface="Verdana" panose="020B0604030504040204" pitchFamily="34" charset="0"/>
                <a:cs typeface="Verdana" panose="020B0604030504040204" pitchFamily="34" charset="0"/>
              </a:rPr>
              <a:t> : AFTER trigger execute after the triggering DML statement (INSERT, UPDATE, DELETE) executed. Triggering SQL statement is execute as soon as followed by the code of trigger before performing Database operation.</a:t>
            </a:r>
          </a:p>
          <a:p>
            <a:pPr marL="342900" indent="-342900">
              <a:buFont typeface="+mj-lt"/>
              <a:buAutoNum type="arabicPeriod"/>
              <a:defRPr/>
            </a:pPr>
            <a:r>
              <a:rPr lang="en-US" sz="1800" b="1" dirty="0">
                <a:latin typeface="Verdana" panose="020B0604030504040204" pitchFamily="34" charset="0"/>
                <a:ea typeface="Verdana" panose="020B0604030504040204" pitchFamily="34" charset="0"/>
                <a:cs typeface="Verdana" panose="020B0604030504040204" pitchFamily="34" charset="0"/>
              </a:rPr>
              <a:t>ROW Trigger</a:t>
            </a:r>
            <a:r>
              <a:rPr lang="en-US" sz="1800" dirty="0">
                <a:latin typeface="Verdana" panose="020B0604030504040204" pitchFamily="34" charset="0"/>
                <a:ea typeface="Verdana" panose="020B0604030504040204" pitchFamily="34" charset="0"/>
                <a:cs typeface="Verdana" panose="020B0604030504040204" pitchFamily="34" charset="0"/>
              </a:rPr>
              <a:t> : ROW trigger fire for each and every record which are performing INSERT, UPDATE, DELETE from the database table. If row deleting is define as trigger event, when trigger file, deletes the five rows each times from the table.</a:t>
            </a:r>
          </a:p>
          <a:p>
            <a:pPr marL="342900" indent="-342900">
              <a:buFont typeface="+mj-lt"/>
              <a:buAutoNum type="arabicPeriod"/>
              <a:defRPr/>
            </a:pPr>
            <a:r>
              <a:rPr lang="en-US" sz="1800" b="1" dirty="0">
                <a:latin typeface="Verdana" panose="020B0604030504040204" pitchFamily="34" charset="0"/>
                <a:ea typeface="Verdana" panose="020B0604030504040204" pitchFamily="34" charset="0"/>
                <a:cs typeface="Verdana" panose="020B0604030504040204" pitchFamily="34" charset="0"/>
              </a:rPr>
              <a:t> Statement Trigger : </a:t>
            </a:r>
            <a:r>
              <a:rPr lang="en-US" sz="1800" dirty="0">
                <a:latin typeface="Verdana" panose="020B0604030504040204" pitchFamily="34" charset="0"/>
                <a:ea typeface="Verdana" panose="020B0604030504040204" pitchFamily="34" charset="0"/>
                <a:cs typeface="Verdana" panose="020B0604030504040204" pitchFamily="34" charset="0"/>
              </a:rPr>
              <a:t>Statement trigger fire only once for each statement. If row deleting is define as trigger event, when trigger file, deletes the five rows at once from the table.</a:t>
            </a:r>
          </a:p>
          <a:p>
            <a:pPr marL="342900" indent="-342900">
              <a:buFont typeface="+mj-lt"/>
              <a:buAutoNum type="arabicPeriod"/>
              <a:defRPr/>
            </a:pPr>
            <a:r>
              <a:rPr lang="en-US" sz="1800" b="1" dirty="0">
                <a:latin typeface="Verdana" panose="020B0604030504040204" pitchFamily="34" charset="0"/>
                <a:ea typeface="Verdana" panose="020B0604030504040204" pitchFamily="34" charset="0"/>
                <a:cs typeface="Verdana" panose="020B0604030504040204" pitchFamily="34" charset="0"/>
              </a:rPr>
              <a:t> Combination Trigger : </a:t>
            </a:r>
            <a:r>
              <a:rPr lang="en-US" sz="1800" dirty="0">
                <a:latin typeface="Verdana" panose="020B0604030504040204" pitchFamily="34" charset="0"/>
                <a:ea typeface="Verdana" panose="020B0604030504040204" pitchFamily="34" charset="0"/>
                <a:cs typeface="Verdana" panose="020B0604030504040204" pitchFamily="34" charset="0"/>
              </a:rPr>
              <a:t>Combination trigger are combination of two trigger type,</a:t>
            </a:r>
          </a:p>
        </p:txBody>
      </p:sp>
      <p:sp>
        <p:nvSpPr>
          <p:cNvPr id="4" name="Date Placeholder 3">
            <a:extLst>
              <a:ext uri="{FF2B5EF4-FFF2-40B4-BE49-F238E27FC236}">
                <a16:creationId xmlns:a16="http://schemas.microsoft.com/office/drawing/2014/main" id="{7D3B5755-BA33-4CAD-B6B9-F1000F4EDD78}"/>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Content Placeholder 2">
            <a:extLst>
              <a:ext uri="{FF2B5EF4-FFF2-40B4-BE49-F238E27FC236}">
                <a16:creationId xmlns:a16="http://schemas.microsoft.com/office/drawing/2014/main" id="{EF0E1090-1104-4E26-A298-BC75F19EB409}"/>
              </a:ext>
            </a:extLst>
          </p:cNvPr>
          <p:cNvSpPr>
            <a:spLocks noGrp="1"/>
          </p:cNvSpPr>
          <p:nvPr>
            <p:ph idx="1"/>
          </p:nvPr>
        </p:nvSpPr>
        <p:spPr>
          <a:xfrm>
            <a:off x="457200" y="228600"/>
            <a:ext cx="8382000" cy="6492875"/>
          </a:xfrm>
        </p:spPr>
        <p:txBody>
          <a:bodyPr/>
          <a:lstStyle/>
          <a:p>
            <a:pPr marL="0" indent="0">
              <a:buFont typeface="Arial" panose="020B0604020202020204" pitchFamily="34" charset="0"/>
              <a:buNone/>
            </a:pPr>
            <a:r>
              <a:rPr lang="en-US" altLang="en-US"/>
              <a:t>EXAMPLE:</a:t>
            </a:r>
          </a:p>
          <a:p>
            <a:pPr marL="0" indent="0">
              <a:buFont typeface="Arial" panose="020B0604020202020204" pitchFamily="34" charset="0"/>
              <a:buNone/>
            </a:pPr>
            <a:r>
              <a:rPr lang="en-US" altLang="en-US"/>
              <a:t> </a:t>
            </a:r>
            <a:r>
              <a:rPr lang="en-US" altLang="en-US" sz="1800">
                <a:latin typeface="Verdana" panose="020B0604030504040204" pitchFamily="34" charset="0"/>
                <a:ea typeface="Verdana" panose="020B0604030504040204" pitchFamily="34" charset="0"/>
                <a:cs typeface="Verdana" panose="020B0604030504040204" pitchFamily="34" charset="0"/>
              </a:rPr>
              <a:t>Suppose you want to keep an eye on the users who are inserting, updating or deleting data from the ‘Superheroes’ table. Let’s see how we can achieve this. To do so we will need another table in which we can journal the auditing data entries.</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CREATE TABLE  sh_audit (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  new_name   varchar2(30),</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  old_name   varchar2(30),</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  user_name   varchar2(30),</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  entry_date   varchar2(30),</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  operation   varchar2(30)</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CREATE  OR  REPLACE  TRIGGER  superheroes_audit</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 BEFORE  INSERT  OR DELETE  OR UPDATE  ON  superheroes</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 FOR EACH ROW</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 ENABLE</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 DECLARE</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  v_user  varchar2 (30);</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  v_date  varchar2(30);</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 BEGIN</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  SELECT user, TO_CHAR(sysdate, 'DD/MON/YYYY HH24:MI:SS') INTO v_user, v_date FROM dual;</a:t>
            </a:r>
            <a:br>
              <a:rPr lang="en-US" altLang="en-US" sz="1800">
                <a:latin typeface="Verdana" panose="020B0604030504040204" pitchFamily="34" charset="0"/>
                <a:ea typeface="Verdana" panose="020B0604030504040204" pitchFamily="34" charset="0"/>
                <a:cs typeface="Verdana" panose="020B0604030504040204" pitchFamily="34" charset="0"/>
              </a:rPr>
            </a:br>
            <a:br>
              <a:rPr lang="en-US" altLang="en-US" sz="1600">
                <a:latin typeface="Verdana" panose="020B0604030504040204" pitchFamily="34" charset="0"/>
                <a:ea typeface="Verdana" panose="020B0604030504040204" pitchFamily="34" charset="0"/>
                <a:cs typeface="Verdana" panose="020B0604030504040204" pitchFamily="34" charset="0"/>
              </a:rPr>
            </a:br>
            <a:r>
              <a:rPr lang="en-US" altLang="en-US" sz="1600">
                <a:latin typeface="Verdana" panose="020B0604030504040204" pitchFamily="34" charset="0"/>
                <a:ea typeface="Verdana" panose="020B0604030504040204" pitchFamily="34" charset="0"/>
                <a:cs typeface="Verdana" panose="020B0604030504040204" pitchFamily="34" charset="0"/>
              </a:rPr>
              <a:t>  </a:t>
            </a:r>
          </a:p>
        </p:txBody>
      </p:sp>
      <p:sp>
        <p:nvSpPr>
          <p:cNvPr id="4" name="Date Placeholder 3">
            <a:extLst>
              <a:ext uri="{FF2B5EF4-FFF2-40B4-BE49-F238E27FC236}">
                <a16:creationId xmlns:a16="http://schemas.microsoft.com/office/drawing/2014/main" id="{4CBBA8D1-8EBD-4E95-BC6F-4CBFA9920486}"/>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Content Placeholder 2">
            <a:extLst>
              <a:ext uri="{FF2B5EF4-FFF2-40B4-BE49-F238E27FC236}">
                <a16:creationId xmlns:a16="http://schemas.microsoft.com/office/drawing/2014/main" id="{6D3FC7B0-F7A5-4926-8D58-68CD2C0A874D}"/>
              </a:ext>
            </a:extLst>
          </p:cNvPr>
          <p:cNvSpPr>
            <a:spLocks noGrp="1"/>
          </p:cNvSpPr>
          <p:nvPr>
            <p:ph idx="1"/>
          </p:nvPr>
        </p:nvSpPr>
        <p:spPr>
          <a:xfrm>
            <a:off x="304800" y="152400"/>
            <a:ext cx="8210550" cy="6024563"/>
          </a:xfrm>
        </p:spPr>
        <p:txBody>
          <a:bodyPr/>
          <a:lstStyle/>
          <a:p>
            <a:pPr marL="0" indent="0">
              <a:buFont typeface="Arial" panose="020B0604020202020204" pitchFamily="34" charset="0"/>
              <a:buNone/>
            </a:pP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  IF </a:t>
            </a:r>
            <a:r>
              <a:rPr lang="en-US" altLang="en-US" sz="1800" b="1">
                <a:latin typeface="Verdana" panose="020B0604030504040204" pitchFamily="34" charset="0"/>
                <a:ea typeface="Verdana" panose="020B0604030504040204" pitchFamily="34" charset="0"/>
                <a:cs typeface="Verdana" panose="020B0604030504040204" pitchFamily="34" charset="0"/>
              </a:rPr>
              <a:t>INSERTING</a:t>
            </a:r>
            <a:r>
              <a:rPr lang="en-US" altLang="en-US" sz="1800">
                <a:latin typeface="Verdana" panose="020B0604030504040204" pitchFamily="34" charset="0"/>
                <a:ea typeface="Verdana" panose="020B0604030504040204" pitchFamily="34" charset="0"/>
                <a:cs typeface="Verdana" panose="020B0604030504040204" pitchFamily="34" charset="0"/>
              </a:rPr>
              <a:t> THEN</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   INSERT INTO sh_audit (new_name,old_name, user_name, entry_date, operation)</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   VALUES(:NEW.SH_NAME, Null , v_user, v_date, 'Insert');</a:t>
            </a:r>
            <a:br>
              <a:rPr lang="en-US" altLang="en-US" sz="1800">
                <a:latin typeface="Verdana" panose="020B0604030504040204" pitchFamily="34" charset="0"/>
                <a:ea typeface="Verdana" panose="020B0604030504040204" pitchFamily="34" charset="0"/>
                <a:cs typeface="Verdana" panose="020B0604030504040204" pitchFamily="34" charset="0"/>
              </a:rPr>
            </a:b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  ELSIF </a:t>
            </a:r>
            <a:r>
              <a:rPr lang="en-US" altLang="en-US" sz="1800" b="1">
                <a:latin typeface="Verdana" panose="020B0604030504040204" pitchFamily="34" charset="0"/>
                <a:ea typeface="Verdana" panose="020B0604030504040204" pitchFamily="34" charset="0"/>
                <a:cs typeface="Verdana" panose="020B0604030504040204" pitchFamily="34" charset="0"/>
              </a:rPr>
              <a:t>DELETING</a:t>
            </a:r>
            <a:r>
              <a:rPr lang="en-US" altLang="en-US" sz="1800">
                <a:latin typeface="Verdana" panose="020B0604030504040204" pitchFamily="34" charset="0"/>
                <a:ea typeface="Verdana" panose="020B0604030504040204" pitchFamily="34" charset="0"/>
                <a:cs typeface="Verdana" panose="020B0604030504040204" pitchFamily="34" charset="0"/>
              </a:rPr>
              <a:t> THEN</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   INSERT INTO sh_audit (new_name,old_name, user_name, entry_date, operation)</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   VALUES(NULL,:OLD.SH_NAME, v_user, v_date, 'Delete');</a:t>
            </a:r>
            <a:br>
              <a:rPr lang="en-US" altLang="en-US" sz="1600">
                <a:latin typeface="Verdana" panose="020B0604030504040204" pitchFamily="34" charset="0"/>
                <a:ea typeface="Verdana" panose="020B0604030504040204" pitchFamily="34" charset="0"/>
                <a:cs typeface="Verdana" panose="020B0604030504040204" pitchFamily="34" charset="0"/>
              </a:rPr>
            </a:b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ELSIF </a:t>
            </a:r>
            <a:r>
              <a:rPr lang="en-US" altLang="en-US" sz="1800" b="1">
                <a:latin typeface="Verdana" panose="020B0604030504040204" pitchFamily="34" charset="0"/>
                <a:ea typeface="Verdana" panose="020B0604030504040204" pitchFamily="34" charset="0"/>
                <a:cs typeface="Verdana" panose="020B0604030504040204" pitchFamily="34" charset="0"/>
              </a:rPr>
              <a:t>UPDATING</a:t>
            </a:r>
            <a:r>
              <a:rPr lang="en-US" altLang="en-US" sz="1800">
                <a:latin typeface="Verdana" panose="020B0604030504040204" pitchFamily="34" charset="0"/>
                <a:ea typeface="Verdana" panose="020B0604030504040204" pitchFamily="34" charset="0"/>
                <a:cs typeface="Verdana" panose="020B0604030504040204" pitchFamily="34" charset="0"/>
              </a:rPr>
              <a:t> THEN</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   INSERT INTO sh_audit (new_name,old_name, user_name, entry_date, operation)</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   VALUES(:NEW.SH_NAME, :OLD.SH_NAME, v_user, v_date,'Update');</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  END IF;</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 END;</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a:t>
            </a:r>
            <a:endParaRPr lang="en-US" altLang="en-US" sz="1800"/>
          </a:p>
        </p:txBody>
      </p:sp>
      <p:sp>
        <p:nvSpPr>
          <p:cNvPr id="4" name="Date Placeholder 3">
            <a:extLst>
              <a:ext uri="{FF2B5EF4-FFF2-40B4-BE49-F238E27FC236}">
                <a16:creationId xmlns:a16="http://schemas.microsoft.com/office/drawing/2014/main" id="{2563091B-791B-4CAA-AC9E-D2545826494E}"/>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Content Placeholder 2">
            <a:extLst>
              <a:ext uri="{FF2B5EF4-FFF2-40B4-BE49-F238E27FC236}">
                <a16:creationId xmlns:a16="http://schemas.microsoft.com/office/drawing/2014/main" id="{91C7C401-9F3F-4F51-91D0-EA5595C7530D}"/>
              </a:ext>
            </a:extLst>
          </p:cNvPr>
          <p:cNvSpPr>
            <a:spLocks noGrp="1"/>
          </p:cNvSpPr>
          <p:nvPr>
            <p:ph idx="1"/>
          </p:nvPr>
        </p:nvSpPr>
        <p:spPr>
          <a:xfrm>
            <a:off x="381000" y="228600"/>
            <a:ext cx="8134350" cy="5948363"/>
          </a:xfrm>
        </p:spPr>
        <p:txBody>
          <a:bodyPr/>
          <a:lstStyle/>
          <a:p>
            <a:r>
              <a:rPr lang="en-US" altLang="en-US" sz="1800" b="1">
                <a:latin typeface="Verdana" panose="020B0604030504040204" pitchFamily="34" charset="0"/>
                <a:ea typeface="Verdana" panose="020B0604030504040204" pitchFamily="34" charset="0"/>
                <a:cs typeface="Verdana" panose="020B0604030504040204" pitchFamily="34" charset="0"/>
              </a:rPr>
              <a:t>Restriction on Pseudo Record</a:t>
            </a:r>
            <a:endParaRPr lang="en-US" altLang="en-US" sz="1800">
              <a:latin typeface="Verdana" panose="020B0604030504040204" pitchFamily="34" charset="0"/>
              <a:ea typeface="Verdana" panose="020B0604030504040204" pitchFamily="34" charset="0"/>
              <a:cs typeface="Verdana" panose="020B0604030504040204" pitchFamily="34" charset="0"/>
            </a:endParaRPr>
          </a:p>
          <a:p>
            <a:r>
              <a:rPr lang="en-US" altLang="en-US" sz="1800">
                <a:latin typeface="Verdana" panose="020B0604030504040204" pitchFamily="34" charset="0"/>
                <a:ea typeface="Verdana" panose="020B0604030504040204" pitchFamily="34" charset="0"/>
                <a:cs typeface="Verdana" panose="020B0604030504040204" pitchFamily="34" charset="0"/>
              </a:rPr>
              <a:t>For an </a:t>
            </a:r>
            <a:r>
              <a:rPr lang="en-US" altLang="en-US" sz="1800" b="1">
                <a:latin typeface="Verdana" panose="020B0604030504040204" pitchFamily="34" charset="0"/>
                <a:ea typeface="Verdana" panose="020B0604030504040204" pitchFamily="34" charset="0"/>
                <a:cs typeface="Verdana" panose="020B0604030504040204" pitchFamily="34" charset="0"/>
              </a:rPr>
              <a:t>INSERT trigger</a:t>
            </a:r>
            <a:r>
              <a:rPr lang="en-US" altLang="en-US" sz="1800">
                <a:latin typeface="Verdana" panose="020B0604030504040204" pitchFamily="34" charset="0"/>
                <a:ea typeface="Verdana" panose="020B0604030504040204" pitchFamily="34" charset="0"/>
                <a:cs typeface="Verdana" panose="020B0604030504040204" pitchFamily="34" charset="0"/>
              </a:rPr>
              <a:t>, OLD contain no values, and NEW contain the new values.</a:t>
            </a:r>
          </a:p>
          <a:p>
            <a:r>
              <a:rPr lang="en-US" altLang="en-US" sz="1800">
                <a:latin typeface="Verdana" panose="020B0604030504040204" pitchFamily="34" charset="0"/>
                <a:ea typeface="Verdana" panose="020B0604030504040204" pitchFamily="34" charset="0"/>
                <a:cs typeface="Verdana" panose="020B0604030504040204" pitchFamily="34" charset="0"/>
              </a:rPr>
              <a:t>For an UPDATE trigger, OLD contain the old values, and NEW contain the new values.</a:t>
            </a:r>
          </a:p>
          <a:p>
            <a:r>
              <a:rPr lang="en-US" altLang="en-US" sz="1800">
                <a:latin typeface="Verdana" panose="020B0604030504040204" pitchFamily="34" charset="0"/>
                <a:ea typeface="Verdana" panose="020B0604030504040204" pitchFamily="34" charset="0"/>
                <a:cs typeface="Verdana" panose="020B0604030504040204" pitchFamily="34" charset="0"/>
              </a:rPr>
              <a:t>For a DELETE trigger, OLD contain the old values, and NEW contain no values.</a:t>
            </a:r>
          </a:p>
          <a:p>
            <a:r>
              <a:rPr lang="en-US" altLang="en-US" sz="1800">
                <a:latin typeface="Verdana" panose="020B0604030504040204" pitchFamily="34" charset="0"/>
                <a:ea typeface="Verdana" panose="020B0604030504040204" pitchFamily="34" charset="0"/>
                <a:cs typeface="Verdana" panose="020B0604030504040204" pitchFamily="34" charset="0"/>
              </a:rPr>
              <a:t>Once you execute and compile this trigger then you can take it on a test run by writing DML statements on the underlying source table ‘Superheroes’. For example you can try Inserting a row in superheroes table and then check the audit table whether there is some data or not. </a:t>
            </a:r>
            <a:br>
              <a:rPr lang="en-US" altLang="en-US" sz="1800">
                <a:latin typeface="Verdana" panose="020B0604030504040204" pitchFamily="34" charset="0"/>
                <a:ea typeface="Verdana" panose="020B0604030504040204" pitchFamily="34" charset="0"/>
                <a:cs typeface="Verdana" panose="020B0604030504040204" pitchFamily="34" charset="0"/>
              </a:rPr>
            </a:br>
            <a:endParaRPr lang="en-US" altLang="en-US" sz="1800">
              <a:latin typeface="Verdana" panose="020B0604030504040204" pitchFamily="34" charset="0"/>
              <a:ea typeface="Verdana" panose="020B0604030504040204" pitchFamily="34" charset="0"/>
              <a:cs typeface="Verdana" panose="020B0604030504040204" pitchFamily="34" charset="0"/>
            </a:endParaRPr>
          </a:p>
          <a:p>
            <a:r>
              <a:rPr lang="en-US" altLang="en-US" sz="1800">
                <a:latin typeface="Verdana" panose="020B0604030504040204" pitchFamily="34" charset="0"/>
                <a:ea typeface="Verdana" panose="020B0604030504040204" pitchFamily="34" charset="0"/>
                <a:cs typeface="Verdana" panose="020B0604030504040204" pitchFamily="34" charset="0"/>
              </a:rPr>
              <a:t>INSERT INTO superheroes VALUES ('Superman');</a:t>
            </a:r>
          </a:p>
          <a:p>
            <a:r>
              <a:rPr lang="en-US" altLang="en-US" sz="1800">
                <a:latin typeface="Verdana" panose="020B0604030504040204" pitchFamily="34" charset="0"/>
                <a:ea typeface="Verdana" panose="020B0604030504040204" pitchFamily="34" charset="0"/>
                <a:cs typeface="Verdana" panose="020B0604030504040204" pitchFamily="34" charset="0"/>
              </a:rPr>
              <a:t>Similarly you can write Update and Delete DML statements on Superheroes table.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UPDATE SUPERHEROES SET SH_NAME = 'Ironman' WHERE SH_NAME='Superman';</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Or</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DELETE FROM superheroes WHERE SH_NAME = 'Ironman';</a:t>
            </a:r>
          </a:p>
        </p:txBody>
      </p:sp>
      <p:sp>
        <p:nvSpPr>
          <p:cNvPr id="4" name="Date Placeholder 3">
            <a:extLst>
              <a:ext uri="{FF2B5EF4-FFF2-40B4-BE49-F238E27FC236}">
                <a16:creationId xmlns:a16="http://schemas.microsoft.com/office/drawing/2014/main" id="{2450D4E3-CC86-4295-B38A-A4D204CADCBA}"/>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Content Placeholder 2">
            <a:extLst>
              <a:ext uri="{FF2B5EF4-FFF2-40B4-BE49-F238E27FC236}">
                <a16:creationId xmlns:a16="http://schemas.microsoft.com/office/drawing/2014/main" id="{9EEFA57C-7344-4A19-9455-4A705B120B14}"/>
              </a:ext>
            </a:extLst>
          </p:cNvPr>
          <p:cNvSpPr>
            <a:spLocks noGrp="1"/>
          </p:cNvSpPr>
          <p:nvPr>
            <p:ph idx="1"/>
          </p:nvPr>
        </p:nvSpPr>
        <p:spPr>
          <a:xfrm>
            <a:off x="381000" y="304800"/>
            <a:ext cx="8134350" cy="6051550"/>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As soon as you execute any of these DML statements on the underlying table superheroes, the trigger will execute in the background and insert the audit data into the audit table sh_audit. </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NOTE: We are working on superheroes tables having only on field.</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CREATE TABLE superheroes</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  sh_name VARCHAR2 (15)</a:t>
            </a:r>
            <a:br>
              <a:rPr lang="en-US" altLang="en-US" sz="1800">
                <a:latin typeface="Verdana" panose="020B0604030504040204" pitchFamily="34" charset="0"/>
                <a:ea typeface="Verdana" panose="020B0604030504040204" pitchFamily="34" charset="0"/>
                <a:cs typeface="Verdana" panose="020B0604030504040204" pitchFamily="34" charset="0"/>
              </a:rPr>
            </a:br>
            <a:r>
              <a:rPr lang="en-US" altLang="en-US" sz="1800">
                <a:latin typeface="Verdana" panose="020B0604030504040204" pitchFamily="34" charset="0"/>
                <a:ea typeface="Verdana" panose="020B0604030504040204" pitchFamily="34" charset="0"/>
                <a:cs typeface="Verdana" panose="020B0604030504040204" pitchFamily="34" charset="0"/>
              </a:rPr>
              <a:t>);</a:t>
            </a:r>
          </a:p>
          <a:p>
            <a:pPr marL="0" indent="0">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A3D57FCF-4CC4-43D7-8BEB-47717CCD531B}"/>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9C25B3-F59C-437C-8EA5-188940EB8B0C}"/>
              </a:ext>
            </a:extLst>
          </p:cNvPr>
          <p:cNvSpPr>
            <a:spLocks noGrp="1"/>
          </p:cNvSpPr>
          <p:nvPr>
            <p:ph idx="1"/>
          </p:nvPr>
        </p:nvSpPr>
        <p:spPr>
          <a:xfrm>
            <a:off x="628650" y="152400"/>
            <a:ext cx="7886700" cy="6024563"/>
          </a:xfrm>
        </p:spPr>
        <p:txBody>
          <a:bodyPr/>
          <a:lstStyle/>
          <a:p>
            <a:pPr marL="0" indent="0">
              <a:buFont typeface="Arial" panose="020B0604020202020204" pitchFamily="34" charset="0"/>
              <a:buNone/>
              <a:defRPr/>
            </a:pPr>
            <a:r>
              <a:rPr lang="en-US" altLang="en-US" sz="2000" b="1" dirty="0">
                <a:latin typeface="Verdana" panose="020B0604030504040204" pitchFamily="34" charset="0"/>
                <a:ea typeface="Verdana" panose="020B0604030504040204" pitchFamily="34" charset="0"/>
                <a:cs typeface="Verdana" panose="020B0604030504040204" pitchFamily="34" charset="0"/>
              </a:rPr>
              <a:t>PL/SQL  - Packages:</a:t>
            </a:r>
          </a:p>
          <a:p>
            <a:pPr marL="0" indent="0">
              <a:buFont typeface="Arial" panose="020B0604020202020204" pitchFamily="34" charset="0"/>
              <a:buNone/>
              <a:defRPr/>
            </a:pPr>
            <a:r>
              <a:rPr lang="en-US" altLang="en-US" sz="2000" b="1"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 </a:t>
            </a:r>
            <a:r>
              <a:rPr lang="en-US" alt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Package is a collection of procedures, functions, SQL statements and variables stored in the database</a:t>
            </a:r>
            <a:endParaRPr lang="en-US" alt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lang="en-US" sz="1800" dirty="0">
                <a:latin typeface="Verdana" panose="020B0604030504040204" pitchFamily="34" charset="0"/>
                <a:ea typeface="Verdana" panose="020B0604030504040204" pitchFamily="34" charset="0"/>
                <a:cs typeface="Verdana" panose="020B0604030504040204" pitchFamily="34" charset="0"/>
              </a:rPr>
              <a:t>Packages are stored libraries in the database which allow us to group related PL/SQL objects under one name.</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Or in simple words, Packages are logical groups of related PL/SQL objects. </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lang="en-US" sz="1800" dirty="0">
                <a:latin typeface="Verdana" panose="020B0604030504040204" pitchFamily="34" charset="0"/>
                <a:ea typeface="Verdana" panose="020B0604030504040204" pitchFamily="34" charset="0"/>
                <a:cs typeface="Verdana" panose="020B0604030504040204" pitchFamily="34" charset="0"/>
              </a:rPr>
              <a:t>Packages are named PL/SQL Blocks which mean they are permanently stored into the database schema and can be referenced or reused by your program.</a:t>
            </a:r>
            <a:r>
              <a:rPr lang="en-US" dirty="0"/>
              <a:t> </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What are the contents included in a package?</a:t>
            </a: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br>
              <a:rPr lang="en-US" sz="1800" dirty="0">
                <a:latin typeface="Verdana" panose="020B0604030504040204" pitchFamily="34" charset="0"/>
                <a:ea typeface="Verdana" panose="020B0604030504040204" pitchFamily="34" charset="0"/>
                <a:cs typeface="Verdana" panose="020B0604030504040204" pitchFamily="34" charset="0"/>
              </a:rPr>
            </a:br>
            <a:r>
              <a:rPr lang="en-US" sz="1800" dirty="0">
                <a:latin typeface="Verdana" panose="020B0604030504040204" pitchFamily="34" charset="0"/>
                <a:ea typeface="Verdana" panose="020B0604030504040204" pitchFamily="34" charset="0"/>
                <a:cs typeface="Verdana" panose="020B0604030504040204" pitchFamily="34" charset="0"/>
              </a:rPr>
              <a:t>A package can hold multiple database objects such as</a:t>
            </a:r>
            <a:br>
              <a:rPr lang="en-US" sz="1800" dirty="0">
                <a:latin typeface="Verdana" panose="020B0604030504040204" pitchFamily="34" charset="0"/>
                <a:ea typeface="Verdana" panose="020B0604030504040204" pitchFamily="34" charset="0"/>
                <a:cs typeface="Verdana" panose="020B0604030504040204" pitchFamily="34" charset="0"/>
              </a:rPr>
            </a:br>
            <a:r>
              <a:rPr lang="en-US" sz="1800" dirty="0">
                <a:latin typeface="Verdana" panose="020B0604030504040204" pitchFamily="34" charset="0"/>
                <a:ea typeface="Verdana" panose="020B0604030504040204" pitchFamily="34" charset="0"/>
                <a:cs typeface="Verdana" panose="020B0604030504040204" pitchFamily="34" charset="0"/>
              </a:rPr>
              <a:t>Stored Procedures</a:t>
            </a:r>
          </a:p>
          <a:p>
            <a:pPr>
              <a:defRPr/>
            </a:pPr>
            <a:r>
              <a:rPr lang="en-US" sz="1800" dirty="0">
                <a:latin typeface="Verdana" panose="020B0604030504040204" pitchFamily="34" charset="0"/>
                <a:ea typeface="Verdana" panose="020B0604030504040204" pitchFamily="34" charset="0"/>
                <a:cs typeface="Verdana" panose="020B0604030504040204" pitchFamily="34" charset="0"/>
              </a:rPr>
              <a:t>PL/SQL Functions</a:t>
            </a:r>
          </a:p>
          <a:p>
            <a:pPr>
              <a:defRPr/>
            </a:pPr>
            <a:r>
              <a:rPr lang="en-US" sz="1800" dirty="0">
                <a:latin typeface="Verdana" panose="020B0604030504040204" pitchFamily="34" charset="0"/>
                <a:ea typeface="Verdana" panose="020B0604030504040204" pitchFamily="34" charset="0"/>
                <a:cs typeface="Verdana" panose="020B0604030504040204" pitchFamily="34" charset="0"/>
              </a:rPr>
              <a:t>Database Cursors</a:t>
            </a:r>
          </a:p>
          <a:p>
            <a:pPr>
              <a:defRPr/>
            </a:pPr>
            <a:r>
              <a:rPr lang="en-US" sz="1800" dirty="0">
                <a:latin typeface="Verdana" panose="020B0604030504040204" pitchFamily="34" charset="0"/>
                <a:ea typeface="Verdana" panose="020B0604030504040204" pitchFamily="34" charset="0"/>
                <a:cs typeface="Verdana" panose="020B0604030504040204" pitchFamily="34" charset="0"/>
              </a:rPr>
              <a:t>Type declarations as well as</a:t>
            </a:r>
          </a:p>
          <a:p>
            <a:pPr>
              <a:defRPr/>
            </a:pPr>
            <a:r>
              <a:rPr lang="en-US" sz="1800" dirty="0">
                <a:latin typeface="Verdana" panose="020B0604030504040204" pitchFamily="34" charset="0"/>
                <a:ea typeface="Verdana" panose="020B0604030504040204" pitchFamily="34" charset="0"/>
                <a:cs typeface="Verdana" panose="020B0604030504040204" pitchFamily="34" charset="0"/>
              </a:rPr>
              <a:t>Variables</a:t>
            </a:r>
          </a:p>
          <a:p>
            <a:pPr marL="0" indent="0">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2D739D1E-2A5A-4B4A-9996-6BAF1357A75A}"/>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Content Placeholder 2">
            <a:extLst>
              <a:ext uri="{FF2B5EF4-FFF2-40B4-BE49-F238E27FC236}">
                <a16:creationId xmlns:a16="http://schemas.microsoft.com/office/drawing/2014/main" id="{47DE8FAB-32AE-4A66-A592-E5907A1F375D}"/>
              </a:ext>
            </a:extLst>
          </p:cNvPr>
          <p:cNvSpPr>
            <a:spLocks noGrp="1"/>
          </p:cNvSpPr>
          <p:nvPr>
            <p:ph idx="1"/>
          </p:nvPr>
        </p:nvSpPr>
        <p:spPr>
          <a:xfrm>
            <a:off x="381000" y="228600"/>
            <a:ext cx="8134350" cy="5948363"/>
          </a:xfrm>
        </p:spPr>
        <p:txBody>
          <a:bodyPr/>
          <a:lstStyle/>
          <a:p>
            <a:pPr marL="0" indent="0">
              <a:buFont typeface="Arial"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A package will have two mandatory parts −</a:t>
            </a:r>
          </a:p>
          <a:p>
            <a:pPr marL="0" indent="0"/>
            <a:r>
              <a:rPr lang="en-US" altLang="en-US">
                <a:latin typeface="Verdana" panose="020B0604030504040204" pitchFamily="34" charset="0"/>
                <a:ea typeface="Verdana" panose="020B0604030504040204" pitchFamily="34" charset="0"/>
                <a:cs typeface="Verdana" panose="020B0604030504040204" pitchFamily="34" charset="0"/>
              </a:rPr>
              <a:t>Package specification</a:t>
            </a:r>
          </a:p>
          <a:p>
            <a:pPr marL="0" indent="0"/>
            <a:r>
              <a:rPr lang="en-US" altLang="en-US">
                <a:latin typeface="Verdana" panose="020B0604030504040204" pitchFamily="34" charset="0"/>
                <a:ea typeface="Verdana" panose="020B0604030504040204" pitchFamily="34" charset="0"/>
                <a:cs typeface="Verdana" panose="020B0604030504040204" pitchFamily="34" charset="0"/>
              </a:rPr>
              <a:t>Package body or definition</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lang="en-US" altLang="en-US" sz="1800">
                <a:latin typeface="Verdana" panose="020B0604030504040204" pitchFamily="34" charset="0"/>
                <a:ea typeface="Verdana" panose="020B0604030504040204" pitchFamily="34" charset="0"/>
                <a:cs typeface="Verdana" panose="020B0604030504040204" pitchFamily="34" charset="0"/>
              </a:rPr>
              <a:t>The specification is the interface to the package.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lang="en-US" altLang="en-US" sz="1800">
                <a:latin typeface="Verdana" panose="020B0604030504040204" pitchFamily="34" charset="0"/>
                <a:ea typeface="Verdana" panose="020B0604030504040204" pitchFamily="34" charset="0"/>
                <a:cs typeface="Verdana" panose="020B0604030504040204" pitchFamily="34" charset="0"/>
              </a:rPr>
              <a:t>It just </a:t>
            </a:r>
            <a:r>
              <a:rPr lang="en-US" altLang="en-US" sz="1800" b="1">
                <a:latin typeface="Verdana" panose="020B0604030504040204" pitchFamily="34" charset="0"/>
                <a:ea typeface="Verdana" panose="020B0604030504040204" pitchFamily="34" charset="0"/>
                <a:cs typeface="Verdana" panose="020B0604030504040204" pitchFamily="34" charset="0"/>
              </a:rPr>
              <a:t>DECLARES</a:t>
            </a:r>
            <a:r>
              <a:rPr lang="en-US" altLang="en-US" sz="1800">
                <a:latin typeface="Verdana" panose="020B0604030504040204" pitchFamily="34" charset="0"/>
                <a:ea typeface="Verdana" panose="020B0604030504040204" pitchFamily="34" charset="0"/>
                <a:cs typeface="Verdana" panose="020B0604030504040204" pitchFamily="34" charset="0"/>
              </a:rPr>
              <a:t> the types, variables, constants, exceptions, cursors, and subprograms that can be referenced from outside the package.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lang="en-US" altLang="en-US" sz="1800">
                <a:latin typeface="Verdana" panose="020B0604030504040204" pitchFamily="34" charset="0"/>
                <a:ea typeface="Verdana" panose="020B0604030504040204" pitchFamily="34" charset="0"/>
                <a:cs typeface="Verdana" panose="020B0604030504040204" pitchFamily="34" charset="0"/>
              </a:rPr>
              <a:t>In other words, it contains all information about the content of the package, but excludes the code for the subprograms.</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lang="en-US" altLang="en-US" sz="1800">
                <a:latin typeface="Verdana" panose="020B0604030504040204" pitchFamily="34" charset="0"/>
                <a:ea typeface="Verdana" panose="020B0604030504040204" pitchFamily="34" charset="0"/>
                <a:cs typeface="Verdana" panose="020B0604030504040204" pitchFamily="34" charset="0"/>
              </a:rPr>
              <a:t>All objects placed in the specification are called </a:t>
            </a:r>
            <a:r>
              <a:rPr lang="en-US" altLang="en-US" sz="1800" b="1">
                <a:latin typeface="Verdana" panose="020B0604030504040204" pitchFamily="34" charset="0"/>
                <a:ea typeface="Verdana" panose="020B0604030504040204" pitchFamily="34" charset="0"/>
                <a:cs typeface="Verdana" panose="020B0604030504040204" pitchFamily="34" charset="0"/>
              </a:rPr>
              <a:t>public</a:t>
            </a:r>
            <a:r>
              <a:rPr lang="en-US" altLang="en-US" sz="1800">
                <a:latin typeface="Verdana" panose="020B0604030504040204" pitchFamily="34" charset="0"/>
                <a:ea typeface="Verdana" panose="020B0604030504040204" pitchFamily="34" charset="0"/>
                <a:cs typeface="Verdana" panose="020B0604030504040204" pitchFamily="34" charset="0"/>
              </a:rPr>
              <a:t> objects. </a:t>
            </a:r>
            <a:r>
              <a:rPr lang="en-US" altLang="en-US" sz="180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lang="en-US" altLang="en-US" sz="1800">
                <a:latin typeface="Verdana" panose="020B0604030504040204" pitchFamily="34" charset="0"/>
                <a:ea typeface="Verdana" panose="020B0604030504040204" pitchFamily="34" charset="0"/>
                <a:cs typeface="Verdana" panose="020B0604030504040204" pitchFamily="34" charset="0"/>
              </a:rPr>
              <a:t>Any subprogram not in the package specification but coded in the package body is called a </a:t>
            </a:r>
            <a:r>
              <a:rPr lang="en-US" altLang="en-US" sz="1800" b="1">
                <a:latin typeface="Verdana" panose="020B0604030504040204" pitchFamily="34" charset="0"/>
                <a:ea typeface="Verdana" panose="020B0604030504040204" pitchFamily="34" charset="0"/>
                <a:cs typeface="Verdana" panose="020B0604030504040204" pitchFamily="34" charset="0"/>
              </a:rPr>
              <a:t>private</a:t>
            </a:r>
            <a:r>
              <a:rPr lang="en-US" altLang="en-US" sz="1800">
                <a:latin typeface="Verdana" panose="020B0604030504040204" pitchFamily="34" charset="0"/>
                <a:ea typeface="Verdana" panose="020B0604030504040204" pitchFamily="34" charset="0"/>
                <a:cs typeface="Verdana" panose="020B0604030504040204" pitchFamily="34" charset="0"/>
              </a:rPr>
              <a:t> object.</a:t>
            </a:r>
          </a:p>
          <a:p>
            <a:pPr marL="0" indent="0">
              <a:buFont typeface="Arial" panose="020B0604020202020204" pitchFamily="34" charset="0"/>
              <a:buNone/>
            </a:pPr>
            <a:endParaRPr lang="en-US" altLang="en-US"/>
          </a:p>
          <a:p>
            <a:pPr marL="0" indent="0">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7645F174-D052-443A-A082-AC4AC390A75B}"/>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a:extLst>
              <a:ext uri="{FF2B5EF4-FFF2-40B4-BE49-F238E27FC236}">
                <a16:creationId xmlns:a16="http://schemas.microsoft.com/office/drawing/2014/main" id="{B0F1960D-D424-49DE-A7A1-78F31DB3038A}"/>
              </a:ext>
            </a:extLst>
          </p:cNvPr>
          <p:cNvSpPr>
            <a:spLocks noGrp="1"/>
          </p:cNvSpPr>
          <p:nvPr>
            <p:ph type="title"/>
          </p:nvPr>
        </p:nvSpPr>
        <p:spPr>
          <a:xfrm>
            <a:off x="628650" y="228600"/>
            <a:ext cx="7886700" cy="381000"/>
          </a:xfrm>
        </p:spPr>
        <p:txBody>
          <a:bodyPr/>
          <a:lstStyle/>
          <a:p>
            <a:r>
              <a:rPr lang="en-US" altLang="en-US" sz="1800" b="1">
                <a:latin typeface="Verdana" panose="020B0604030504040204" pitchFamily="34" charset="0"/>
                <a:ea typeface="Verdana" panose="020B0604030504040204" pitchFamily="34" charset="0"/>
                <a:cs typeface="Verdana" panose="020B0604030504040204" pitchFamily="34" charset="0"/>
              </a:rPr>
              <a:t>PL/SQL PACKAGE EXAMPLE:</a:t>
            </a:r>
          </a:p>
        </p:txBody>
      </p:sp>
      <p:graphicFrame>
        <p:nvGraphicFramePr>
          <p:cNvPr id="5" name="Content Placeholder 4">
            <a:extLst>
              <a:ext uri="{FF2B5EF4-FFF2-40B4-BE49-F238E27FC236}">
                <a16:creationId xmlns:a16="http://schemas.microsoft.com/office/drawing/2014/main" id="{748A02AD-A768-47A7-B5A5-41A0667E4BBB}"/>
              </a:ext>
            </a:extLst>
          </p:cNvPr>
          <p:cNvGraphicFramePr>
            <a:graphicFrameLocks noGrp="1"/>
          </p:cNvGraphicFramePr>
          <p:nvPr>
            <p:ph idx="1"/>
          </p:nvPr>
        </p:nvGraphicFramePr>
        <p:xfrm>
          <a:off x="381000" y="990600"/>
          <a:ext cx="8382000" cy="2209800"/>
        </p:xfrm>
        <a:graphic>
          <a:graphicData uri="http://schemas.openxmlformats.org/drawingml/2006/table">
            <a:tbl>
              <a:tblPr/>
              <a:tblGrid>
                <a:gridCol w="20955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2095500">
                  <a:extLst>
                    <a:ext uri="{9D8B030D-6E8A-4147-A177-3AD203B41FA5}">
                      <a16:colId xmlns:a16="http://schemas.microsoft.com/office/drawing/2014/main" val="20003"/>
                    </a:ext>
                  </a:extLst>
                </a:gridCol>
              </a:tblGrid>
              <a:tr h="441960">
                <a:tc>
                  <a:txBody>
                    <a:bodyPr/>
                    <a:lstStyle/>
                    <a:p>
                      <a:pPr algn="ctr" fontAlgn="ctr"/>
                      <a:r>
                        <a:rPr lang="en-US" sz="1400" b="0" dirty="0">
                          <a:effectLst/>
                          <a:latin typeface="Verdana" panose="020B0604030504040204" pitchFamily="34" charset="0"/>
                          <a:ea typeface="Verdana" panose="020B0604030504040204" pitchFamily="34" charset="0"/>
                          <a:cs typeface="Verdana" panose="020B0604030504040204" pitchFamily="34" charset="0"/>
                        </a:rPr>
                        <a:t>EMP_NO</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CBD7AB"/>
                    </a:solidFill>
                  </a:tcPr>
                </a:tc>
                <a:tc>
                  <a:txBody>
                    <a:bodyPr/>
                    <a:lstStyle/>
                    <a:p>
                      <a:pPr algn="ctr" fontAlgn="ctr"/>
                      <a:r>
                        <a:rPr lang="en-US" sz="1400" b="0">
                          <a:effectLst/>
                          <a:latin typeface="Verdana" panose="020B0604030504040204" pitchFamily="34" charset="0"/>
                          <a:ea typeface="Verdana" panose="020B0604030504040204" pitchFamily="34" charset="0"/>
                          <a:cs typeface="Verdana" panose="020B0604030504040204" pitchFamily="34" charset="0"/>
                        </a:rPr>
                        <a:t>EMP_NAME</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CBD7AB"/>
                    </a:solidFill>
                  </a:tcPr>
                </a:tc>
                <a:tc>
                  <a:txBody>
                    <a:bodyPr/>
                    <a:lstStyle/>
                    <a:p>
                      <a:pPr algn="ctr" fontAlgn="ctr"/>
                      <a:r>
                        <a:rPr lang="en-US" sz="1400" b="0">
                          <a:effectLst/>
                          <a:latin typeface="Verdana" panose="020B0604030504040204" pitchFamily="34" charset="0"/>
                          <a:ea typeface="Verdana" panose="020B0604030504040204" pitchFamily="34" charset="0"/>
                          <a:cs typeface="Verdana" panose="020B0604030504040204" pitchFamily="34" charset="0"/>
                        </a:rPr>
                        <a:t>EMP_DEPT</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CBD7AB"/>
                    </a:solidFill>
                  </a:tcPr>
                </a:tc>
                <a:tc>
                  <a:txBody>
                    <a:bodyPr/>
                    <a:lstStyle/>
                    <a:p>
                      <a:pPr algn="ctr" fontAlgn="ctr"/>
                      <a:r>
                        <a:rPr lang="en-US" sz="1400" b="0" dirty="0">
                          <a:effectLst/>
                          <a:latin typeface="Verdana" panose="020B0604030504040204" pitchFamily="34" charset="0"/>
                          <a:ea typeface="Verdana" panose="020B0604030504040204" pitchFamily="34" charset="0"/>
                          <a:cs typeface="Verdana" panose="020B0604030504040204" pitchFamily="34" charset="0"/>
                        </a:rPr>
                        <a:t>EMP_SALARY</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CBD7AB"/>
                    </a:solidFill>
                  </a:tcPr>
                </a:tc>
                <a:extLst>
                  <a:ext uri="{0D108BD9-81ED-4DB2-BD59-A6C34878D82A}">
                    <a16:rowId xmlns:a16="http://schemas.microsoft.com/office/drawing/2014/main" val="10000"/>
                  </a:ext>
                </a:extLst>
              </a:tr>
              <a:tr h="441960">
                <a:tc>
                  <a:txBody>
                    <a:bodyPr/>
                    <a:lstStyle/>
                    <a:p>
                      <a:pPr algn="ctr" fontAlgn="ctr"/>
                      <a:r>
                        <a:rPr lang="en-US" sz="1400" dirty="0">
                          <a:effectLst/>
                          <a:latin typeface="Verdana" panose="020B0604030504040204" pitchFamily="34" charset="0"/>
                          <a:ea typeface="Verdana" panose="020B0604030504040204" pitchFamily="34" charset="0"/>
                          <a:cs typeface="Verdana" panose="020B0604030504040204" pitchFamily="34" charset="0"/>
                        </a:rPr>
                        <a:t>1</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FFFFFF"/>
                    </a:solidFill>
                  </a:tcPr>
                </a:tc>
                <a:tc>
                  <a:txBody>
                    <a:bodyPr/>
                    <a:lstStyle/>
                    <a:p>
                      <a:pPr algn="ctr" fontAlgn="ctr"/>
                      <a:r>
                        <a:rPr lang="en-US" sz="1400">
                          <a:effectLst/>
                          <a:latin typeface="Verdana" panose="020B0604030504040204" pitchFamily="34" charset="0"/>
                          <a:ea typeface="Verdana" panose="020B0604030504040204" pitchFamily="34" charset="0"/>
                          <a:cs typeface="Verdana" panose="020B0604030504040204" pitchFamily="34" charset="0"/>
                        </a:rPr>
                        <a:t>Forbs ross</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FFFFFF"/>
                    </a:solidFill>
                  </a:tcPr>
                </a:tc>
                <a:tc>
                  <a:txBody>
                    <a:bodyPr/>
                    <a:lstStyle/>
                    <a:p>
                      <a:pPr algn="ctr" fontAlgn="ctr"/>
                      <a:r>
                        <a:rPr lang="en-US" sz="1400">
                          <a:effectLst/>
                          <a:latin typeface="Verdana" panose="020B0604030504040204" pitchFamily="34" charset="0"/>
                          <a:ea typeface="Verdana" panose="020B0604030504040204" pitchFamily="34" charset="0"/>
                          <a:cs typeface="Verdana" panose="020B0604030504040204" pitchFamily="34" charset="0"/>
                        </a:rPr>
                        <a:t>Web Developer</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FFFFFF"/>
                    </a:solidFill>
                  </a:tcPr>
                </a:tc>
                <a:tc>
                  <a:txBody>
                    <a:bodyPr/>
                    <a:lstStyle/>
                    <a:p>
                      <a:pPr algn="ctr" fontAlgn="ctr"/>
                      <a:r>
                        <a:rPr lang="en-US" sz="1400">
                          <a:effectLst/>
                          <a:latin typeface="Verdana" panose="020B0604030504040204" pitchFamily="34" charset="0"/>
                          <a:ea typeface="Verdana" panose="020B0604030504040204" pitchFamily="34" charset="0"/>
                          <a:cs typeface="Verdana" panose="020B0604030504040204" pitchFamily="34" charset="0"/>
                        </a:rPr>
                        <a:t>45k</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1960">
                <a:tc>
                  <a:txBody>
                    <a:bodyPr/>
                    <a:lstStyle/>
                    <a:p>
                      <a:pPr algn="ctr" fontAlgn="ctr"/>
                      <a:r>
                        <a:rPr lang="en-US" sz="1400" dirty="0">
                          <a:effectLst/>
                          <a:latin typeface="Verdana" panose="020B0604030504040204" pitchFamily="34" charset="0"/>
                          <a:ea typeface="Verdana" panose="020B0604030504040204" pitchFamily="34" charset="0"/>
                          <a:cs typeface="Verdana" panose="020B0604030504040204" pitchFamily="34" charset="0"/>
                        </a:rPr>
                        <a:t>2</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FFFFFF"/>
                    </a:solidFill>
                  </a:tcPr>
                </a:tc>
                <a:tc>
                  <a:txBody>
                    <a:bodyPr/>
                    <a:lstStyle/>
                    <a:p>
                      <a:pPr algn="ctr" fontAlgn="ctr"/>
                      <a:r>
                        <a:rPr lang="en-US" sz="1400" dirty="0">
                          <a:effectLst/>
                          <a:latin typeface="Verdana" panose="020B0604030504040204" pitchFamily="34" charset="0"/>
                          <a:ea typeface="Verdana" panose="020B0604030504040204" pitchFamily="34" charset="0"/>
                          <a:cs typeface="Verdana" panose="020B0604030504040204" pitchFamily="34" charset="0"/>
                        </a:rPr>
                        <a:t>marks </a:t>
                      </a:r>
                      <a:r>
                        <a:rPr lang="en-US" sz="1400" dirty="0" err="1">
                          <a:effectLst/>
                          <a:latin typeface="Verdana" panose="020B0604030504040204" pitchFamily="34" charset="0"/>
                          <a:ea typeface="Verdana" panose="020B0604030504040204" pitchFamily="34" charset="0"/>
                          <a:cs typeface="Verdana" panose="020B0604030504040204" pitchFamily="34" charset="0"/>
                        </a:rPr>
                        <a:t>jems</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FFFFFF"/>
                    </a:solidFill>
                  </a:tcPr>
                </a:tc>
                <a:tc>
                  <a:txBody>
                    <a:bodyPr/>
                    <a:lstStyle/>
                    <a:p>
                      <a:pPr algn="ctr" fontAlgn="ctr"/>
                      <a:r>
                        <a:rPr lang="en-US" sz="1400">
                          <a:effectLst/>
                          <a:latin typeface="Verdana" panose="020B0604030504040204" pitchFamily="34" charset="0"/>
                          <a:ea typeface="Verdana" panose="020B0604030504040204" pitchFamily="34" charset="0"/>
                          <a:cs typeface="Verdana" panose="020B0604030504040204" pitchFamily="34" charset="0"/>
                        </a:rPr>
                        <a:t>Program Developer</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FFFFFF"/>
                    </a:solidFill>
                  </a:tcPr>
                </a:tc>
                <a:tc>
                  <a:txBody>
                    <a:bodyPr/>
                    <a:lstStyle/>
                    <a:p>
                      <a:pPr algn="ctr" fontAlgn="ctr"/>
                      <a:r>
                        <a:rPr lang="en-US" sz="1400">
                          <a:effectLst/>
                          <a:latin typeface="Verdana" panose="020B0604030504040204" pitchFamily="34" charset="0"/>
                          <a:ea typeface="Verdana" panose="020B0604030504040204" pitchFamily="34" charset="0"/>
                          <a:cs typeface="Verdana" panose="020B0604030504040204" pitchFamily="34" charset="0"/>
                        </a:rPr>
                        <a:t>38k</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1960">
                <a:tc>
                  <a:txBody>
                    <a:bodyPr/>
                    <a:lstStyle/>
                    <a:p>
                      <a:pPr algn="ctr" fontAlgn="ctr"/>
                      <a:r>
                        <a:rPr lang="en-US" sz="1400">
                          <a:effectLst/>
                          <a:latin typeface="Verdana" panose="020B0604030504040204" pitchFamily="34" charset="0"/>
                          <a:ea typeface="Verdana" panose="020B0604030504040204" pitchFamily="34" charset="0"/>
                          <a:cs typeface="Verdana" panose="020B0604030504040204" pitchFamily="34" charset="0"/>
                        </a:rPr>
                        <a:t>3</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FFFFFF"/>
                    </a:solidFill>
                  </a:tcPr>
                </a:tc>
                <a:tc>
                  <a:txBody>
                    <a:bodyPr/>
                    <a:lstStyle/>
                    <a:p>
                      <a:pPr algn="ctr" fontAlgn="ctr"/>
                      <a:r>
                        <a:rPr lang="en-US" sz="1400" dirty="0" err="1">
                          <a:effectLst/>
                          <a:latin typeface="Verdana" panose="020B0604030504040204" pitchFamily="34" charset="0"/>
                          <a:ea typeface="Verdana" panose="020B0604030504040204" pitchFamily="34" charset="0"/>
                          <a:cs typeface="Verdana" panose="020B0604030504040204" pitchFamily="34" charset="0"/>
                        </a:rPr>
                        <a:t>Saulin</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FFFFFF"/>
                    </a:solidFill>
                  </a:tcPr>
                </a:tc>
                <a:tc>
                  <a:txBody>
                    <a:bodyPr/>
                    <a:lstStyle/>
                    <a:p>
                      <a:pPr algn="ctr" fontAlgn="ctr"/>
                      <a:r>
                        <a:rPr lang="en-US" sz="1400" dirty="0">
                          <a:effectLst/>
                          <a:latin typeface="Verdana" panose="020B0604030504040204" pitchFamily="34" charset="0"/>
                          <a:ea typeface="Verdana" panose="020B0604030504040204" pitchFamily="34" charset="0"/>
                          <a:cs typeface="Verdana" panose="020B0604030504040204" pitchFamily="34" charset="0"/>
                        </a:rPr>
                        <a:t>Program Developer</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FFFFFF"/>
                    </a:solidFill>
                  </a:tcPr>
                </a:tc>
                <a:tc>
                  <a:txBody>
                    <a:bodyPr/>
                    <a:lstStyle/>
                    <a:p>
                      <a:pPr algn="ctr" fontAlgn="ctr"/>
                      <a:r>
                        <a:rPr lang="en-US" sz="1400" dirty="0">
                          <a:effectLst/>
                          <a:latin typeface="Verdana" panose="020B0604030504040204" pitchFamily="34" charset="0"/>
                          <a:ea typeface="Verdana" panose="020B0604030504040204" pitchFamily="34" charset="0"/>
                          <a:cs typeface="Verdana" panose="020B0604030504040204" pitchFamily="34" charset="0"/>
                        </a:rPr>
                        <a:t>34k</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1960">
                <a:tc>
                  <a:txBody>
                    <a:bodyPr/>
                    <a:lstStyle/>
                    <a:p>
                      <a:pPr algn="ctr" fontAlgn="ctr"/>
                      <a:r>
                        <a:rPr lang="en-US" sz="1400">
                          <a:effectLst/>
                          <a:latin typeface="Verdana" panose="020B0604030504040204" pitchFamily="34" charset="0"/>
                          <a:ea typeface="Verdana" panose="020B0604030504040204" pitchFamily="34" charset="0"/>
                          <a:cs typeface="Verdana" panose="020B0604030504040204" pitchFamily="34" charset="0"/>
                        </a:rPr>
                        <a:t>4</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FFFFFF"/>
                    </a:solidFill>
                  </a:tcPr>
                </a:tc>
                <a:tc>
                  <a:txBody>
                    <a:bodyPr/>
                    <a:lstStyle/>
                    <a:p>
                      <a:pPr algn="ctr" fontAlgn="ctr"/>
                      <a:r>
                        <a:rPr lang="en-US" sz="1400">
                          <a:effectLst/>
                          <a:latin typeface="Verdana" panose="020B0604030504040204" pitchFamily="34" charset="0"/>
                          <a:ea typeface="Verdana" panose="020B0604030504040204" pitchFamily="34" charset="0"/>
                          <a:cs typeface="Verdana" panose="020B0604030504040204" pitchFamily="34" charset="0"/>
                        </a:rPr>
                        <a:t>Zenia Sroll</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FFFFFF"/>
                    </a:solidFill>
                  </a:tcPr>
                </a:tc>
                <a:tc>
                  <a:txBody>
                    <a:bodyPr/>
                    <a:lstStyle/>
                    <a:p>
                      <a:pPr algn="ctr" fontAlgn="ctr"/>
                      <a:r>
                        <a:rPr lang="en-US" sz="1400" dirty="0">
                          <a:effectLst/>
                          <a:latin typeface="Verdana" panose="020B0604030504040204" pitchFamily="34" charset="0"/>
                          <a:ea typeface="Verdana" panose="020B0604030504040204" pitchFamily="34" charset="0"/>
                          <a:cs typeface="Verdana" panose="020B0604030504040204" pitchFamily="34" charset="0"/>
                        </a:rPr>
                        <a:t>Web Developer</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FFFFFF"/>
                    </a:solidFill>
                  </a:tcPr>
                </a:tc>
                <a:tc>
                  <a:txBody>
                    <a:bodyPr/>
                    <a:lstStyle/>
                    <a:p>
                      <a:pPr algn="ctr" fontAlgn="ctr"/>
                      <a:r>
                        <a:rPr lang="en-US" sz="1400" dirty="0">
                          <a:effectLst/>
                          <a:latin typeface="Verdana" panose="020B0604030504040204" pitchFamily="34" charset="0"/>
                          <a:ea typeface="Verdana" panose="020B0604030504040204" pitchFamily="34" charset="0"/>
                          <a:cs typeface="Verdana" panose="020B0604030504040204" pitchFamily="34" charset="0"/>
                        </a:rPr>
                        <a:t>42k</a:t>
                      </a:r>
                    </a:p>
                  </a:txBody>
                  <a:tcPr marL="28575" marR="28575" marT="28575" marB="28575" anchor="ctr">
                    <a:lnL w="9525" cap="flat" cmpd="sng" algn="ctr">
                      <a:solidFill>
                        <a:srgbClr val="B3B3B3"/>
                      </a:solidFill>
                      <a:prstDash val="solid"/>
                      <a:round/>
                      <a:headEnd type="none" w="med" len="med"/>
                      <a:tailEnd type="none" w="med" len="med"/>
                    </a:lnL>
                    <a:lnR w="9525" cap="flat" cmpd="sng" algn="ctr">
                      <a:solidFill>
                        <a:srgbClr val="B3B3B3"/>
                      </a:solidFill>
                      <a:prstDash val="solid"/>
                      <a:round/>
                      <a:headEnd type="none" w="med" len="med"/>
                      <a:tailEnd type="none" w="med" len="med"/>
                    </a:lnR>
                    <a:lnT w="9525" cap="flat" cmpd="sng" algn="ctr">
                      <a:solidFill>
                        <a:srgbClr val="B3B3B3"/>
                      </a:solidFill>
                      <a:prstDash val="solid"/>
                      <a:round/>
                      <a:headEnd type="none" w="med" len="med"/>
                      <a:tailEnd type="none" w="med" len="med"/>
                    </a:lnT>
                    <a:lnB w="9525" cap="flat" cmpd="sng" algn="ctr">
                      <a:solidFill>
                        <a:srgbClr val="B3B3B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Date Placeholder 3">
            <a:extLst>
              <a:ext uri="{FF2B5EF4-FFF2-40B4-BE49-F238E27FC236}">
                <a16:creationId xmlns:a16="http://schemas.microsoft.com/office/drawing/2014/main" id="{7331081A-2941-461A-BCA1-C86C1F443806}"/>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Content Placeholder 2">
            <a:extLst>
              <a:ext uri="{FF2B5EF4-FFF2-40B4-BE49-F238E27FC236}">
                <a16:creationId xmlns:a16="http://schemas.microsoft.com/office/drawing/2014/main" id="{909AA5B5-EE6A-4371-B3EE-EE38F4E6D130}"/>
              </a:ext>
            </a:extLst>
          </p:cNvPr>
          <p:cNvSpPr>
            <a:spLocks noGrp="1"/>
          </p:cNvSpPr>
          <p:nvPr>
            <p:ph idx="1"/>
          </p:nvPr>
        </p:nvSpPr>
        <p:spPr>
          <a:xfrm>
            <a:off x="533400" y="152400"/>
            <a:ext cx="7981950" cy="6024563"/>
          </a:xfrm>
        </p:spPr>
        <p:txBody>
          <a:bodyPr/>
          <a:lstStyle/>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Package Specification Code</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Create Package specification code for defining procedure, function IN or OUT parameter and execute package specification program.</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CREATE or REPLACE PACKAGE pkg1</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IS | AS</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PROCEDURE pro1</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(no in number, name out varchar2);</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FUNCTION fun1</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(no in number)</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RETURN varchar2;</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END;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43E65AF1-DAC1-4C15-B66F-8DB97A292FB2}"/>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Content Placeholder 2">
            <a:extLst>
              <a:ext uri="{FF2B5EF4-FFF2-40B4-BE49-F238E27FC236}">
                <a16:creationId xmlns:a16="http://schemas.microsoft.com/office/drawing/2014/main" id="{37E89134-B51C-4721-B0F3-3FCF5CF1FF28}"/>
              </a:ext>
            </a:extLst>
          </p:cNvPr>
          <p:cNvSpPr>
            <a:spLocks noGrp="1"/>
          </p:cNvSpPr>
          <p:nvPr>
            <p:ph idx="1"/>
          </p:nvPr>
        </p:nvSpPr>
        <p:spPr>
          <a:xfrm>
            <a:off x="457200" y="152400"/>
            <a:ext cx="8058150" cy="6024563"/>
          </a:xfrm>
        </p:spPr>
        <p:txBody>
          <a:bodyPr/>
          <a:lstStyle/>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Package Body Code:</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CREATE or REPLACE PACKAGE BODY pkg1</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IS</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PROCEDURE pro1</a:t>
            </a:r>
            <a:r>
              <a:rPr lang="en-US" altLang="en-US" sz="1800">
                <a:latin typeface="Verdana" panose="020B0604030504040204" pitchFamily="34" charset="0"/>
                <a:ea typeface="Verdana" panose="020B0604030504040204" pitchFamily="34" charset="0"/>
                <a:cs typeface="Verdana" panose="020B0604030504040204" pitchFamily="34" charset="0"/>
              </a:rPr>
              <a:t>(no in number,info out varchar2)</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IS</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BEGIN</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SELECT * INTO temp FROM emp1 WHERE eno = no;</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END;</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FUNCTION fun1</a:t>
            </a:r>
            <a:r>
              <a:rPr lang="en-US" altLang="en-US" sz="1800">
                <a:latin typeface="Verdana" panose="020B0604030504040204" pitchFamily="34" charset="0"/>
                <a:ea typeface="Verdana" panose="020B0604030504040204" pitchFamily="34" charset="0"/>
                <a:cs typeface="Verdana" panose="020B0604030504040204" pitchFamily="34" charset="0"/>
              </a:rPr>
              <a:t>(no in number) return varchar2</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IS</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name varchar2(20);</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BEGIN</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SELECT ename INTO name FROM emp1 WHERE eno = no;</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RETURN name;</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END;</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END;</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a:t>
            </a:r>
          </a:p>
          <a:p>
            <a:pPr marL="0" indent="0">
              <a:buFont typeface="Arial" panose="020B0604020202020204" pitchFamily="34" charset="0"/>
              <a:buNone/>
            </a:pPr>
            <a:endParaRPr lang="en-US" altLang="en-US" sz="1800" b="1">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5AB6592A-D858-4062-BE03-ACFFEAB5BEF9}"/>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Content Placeholder 2">
            <a:extLst>
              <a:ext uri="{FF2B5EF4-FFF2-40B4-BE49-F238E27FC236}">
                <a16:creationId xmlns:a16="http://schemas.microsoft.com/office/drawing/2014/main" id="{DF6E08CF-A35B-4B24-89D2-7ABDDBE017B2}"/>
              </a:ext>
            </a:extLst>
          </p:cNvPr>
          <p:cNvSpPr>
            <a:spLocks noGrp="1"/>
          </p:cNvSpPr>
          <p:nvPr>
            <p:ph idx="1"/>
          </p:nvPr>
        </p:nvSpPr>
        <p:spPr>
          <a:xfrm>
            <a:off x="457200" y="152400"/>
            <a:ext cx="8058150" cy="6400800"/>
          </a:xfrm>
        </p:spPr>
        <p:txBody>
          <a:bodyPr/>
          <a:lstStyle/>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Pl/SQL Program calling Package</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Now we have a one package pkg1, to call package defined function, procedures also pass the parameter and get the return result.</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pkg_prg.sql</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DECLARE</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no number := &amp;no;</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name varchar2(20);</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BEGIN</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pkg1.pro1</a:t>
            </a:r>
            <a:r>
              <a:rPr lang="en-US" altLang="en-US" sz="1800">
                <a:latin typeface="Verdana" panose="020B0604030504040204" pitchFamily="34" charset="0"/>
                <a:ea typeface="Verdana" panose="020B0604030504040204" pitchFamily="34" charset="0"/>
                <a:cs typeface="Verdana" panose="020B0604030504040204" pitchFamily="34" charset="0"/>
              </a:rPr>
              <a:t>(no,info);</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dbms_output.put_line('Procedure Result');</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dbms_output.put_line(info.eno||'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info.ename||'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info.edept||'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info.esalary||'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dbms_output.put_line('Function Result');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name := </a:t>
            </a:r>
            <a:r>
              <a:rPr lang="en-US" altLang="en-US" sz="1800" b="1">
                <a:latin typeface="Verdana" panose="020B0604030504040204" pitchFamily="34" charset="0"/>
                <a:ea typeface="Verdana" panose="020B0604030504040204" pitchFamily="34" charset="0"/>
                <a:cs typeface="Verdana" panose="020B0604030504040204" pitchFamily="34" charset="0"/>
              </a:rPr>
              <a:t>pkg1.fun1</a:t>
            </a:r>
            <a:r>
              <a:rPr lang="en-US" altLang="en-US" sz="1800">
                <a:latin typeface="Verdana" panose="020B0604030504040204" pitchFamily="34" charset="0"/>
                <a:ea typeface="Verdana" panose="020B0604030504040204" pitchFamily="34" charset="0"/>
                <a:cs typeface="Verdana" panose="020B0604030504040204" pitchFamily="34" charset="0"/>
              </a:rPr>
              <a:t>(no);</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dbms_output.put_line(name);</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END;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a:t>
            </a:r>
          </a:p>
        </p:txBody>
      </p:sp>
      <p:sp>
        <p:nvSpPr>
          <p:cNvPr id="4" name="Date Placeholder 3">
            <a:extLst>
              <a:ext uri="{FF2B5EF4-FFF2-40B4-BE49-F238E27FC236}">
                <a16:creationId xmlns:a16="http://schemas.microsoft.com/office/drawing/2014/main" id="{36D7B046-3583-436B-B40B-616128235716}"/>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Content Placeholder 2">
            <a:extLst>
              <a:ext uri="{FF2B5EF4-FFF2-40B4-BE49-F238E27FC236}">
                <a16:creationId xmlns:a16="http://schemas.microsoft.com/office/drawing/2014/main" id="{B3461426-A4C0-40A1-A958-81F455F4D5A3}"/>
              </a:ext>
            </a:extLst>
          </p:cNvPr>
          <p:cNvSpPr>
            <a:spLocks noGrp="1"/>
          </p:cNvSpPr>
          <p:nvPr>
            <p:ph idx="1"/>
          </p:nvPr>
        </p:nvSpPr>
        <p:spPr>
          <a:xfrm>
            <a:off x="628650" y="228600"/>
            <a:ext cx="7886700" cy="6127750"/>
          </a:xfrm>
        </p:spPr>
        <p:txBody>
          <a:bodyPr/>
          <a:lstStyle/>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PL/SQL Program Result</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Now execute the above created </a:t>
            </a:r>
            <a:r>
              <a:rPr lang="en-US" altLang="en-US" sz="1800" b="1">
                <a:latin typeface="Verdana" panose="020B0604030504040204" pitchFamily="34" charset="0"/>
                <a:ea typeface="Verdana" panose="020B0604030504040204" pitchFamily="34" charset="0"/>
                <a:cs typeface="Verdana" panose="020B0604030504040204" pitchFamily="34" charset="0"/>
              </a:rPr>
              <a:t>pkg_prg.sql</a:t>
            </a:r>
            <a:r>
              <a:rPr lang="en-US" altLang="en-US" sz="1800">
                <a:latin typeface="Verdana" panose="020B0604030504040204" pitchFamily="34" charset="0"/>
                <a:ea typeface="Verdana" panose="020B0604030504040204" pitchFamily="34" charset="0"/>
                <a:cs typeface="Verdana" panose="020B0604030504040204" pitchFamily="34" charset="0"/>
              </a:rPr>
              <a:t> program to asking which user information you want to get, you put user id and give information.</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SQL&gt;@pkg_prg</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no number &amp;n=2</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Procedure Result</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2    marks jems    Program Developer    38K</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Function Result</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marks jems</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PL/SQL procedure successfully completed.</a:t>
            </a:r>
          </a:p>
        </p:txBody>
      </p:sp>
      <p:sp>
        <p:nvSpPr>
          <p:cNvPr id="4" name="Date Placeholder 3">
            <a:extLst>
              <a:ext uri="{FF2B5EF4-FFF2-40B4-BE49-F238E27FC236}">
                <a16:creationId xmlns:a16="http://schemas.microsoft.com/office/drawing/2014/main" id="{976C221A-BFDC-4D77-B03E-26BBAE88D9B1}"/>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Content Placeholder 2">
            <a:extLst>
              <a:ext uri="{FF2B5EF4-FFF2-40B4-BE49-F238E27FC236}">
                <a16:creationId xmlns:a16="http://schemas.microsoft.com/office/drawing/2014/main" id="{6164CF34-AF06-4059-A02B-FF527F7EA4F6}"/>
              </a:ext>
            </a:extLst>
          </p:cNvPr>
          <p:cNvSpPr>
            <a:spLocks noGrp="1"/>
          </p:cNvSpPr>
          <p:nvPr>
            <p:ph idx="1"/>
          </p:nvPr>
        </p:nvSpPr>
        <p:spPr>
          <a:xfrm>
            <a:off x="304800" y="152400"/>
            <a:ext cx="8210550" cy="5948363"/>
          </a:xfrm>
        </p:spPr>
        <p:txBody>
          <a:bodyPr/>
          <a:lstStyle/>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lang="en-US" sz="1800" dirty="0">
                <a:latin typeface="Verdana" panose="020B0604030504040204" pitchFamily="34" charset="0"/>
                <a:ea typeface="Verdana" panose="020B0604030504040204" pitchFamily="34" charset="0"/>
                <a:cs typeface="Verdana" panose="020B0604030504040204" pitchFamily="34" charset="0"/>
              </a:rPr>
              <a:t>The following code snippet shows a package specification having a single procedure. You can have many global variables defined and multiple procedures or functions inside a package.</a:t>
            </a:r>
          </a:p>
          <a:p>
            <a:pPr marL="0" indent="0">
              <a:buFont typeface="Arial" panose="020B0604020202020204" pitchFamily="34" charset="0"/>
              <a:buNone/>
              <a:defRPr/>
            </a:pPr>
            <a:endParaRPr lang="en-US" alt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r>
              <a:rPr lang="en-US" altLang="en-US" sz="1800" dirty="0">
                <a:latin typeface="Verdana" panose="020B0604030504040204" pitchFamily="34" charset="0"/>
                <a:ea typeface="Verdana" panose="020B0604030504040204" pitchFamily="34" charset="0"/>
                <a:cs typeface="Verdana" panose="020B0604030504040204" pitchFamily="34" charset="0"/>
              </a:rPr>
              <a:t>CREATE PACKAGE </a:t>
            </a:r>
            <a:r>
              <a:rPr lang="en-US" altLang="en-US" sz="1800" dirty="0" err="1">
                <a:latin typeface="Verdana" panose="020B0604030504040204" pitchFamily="34" charset="0"/>
                <a:ea typeface="Verdana" panose="020B0604030504040204" pitchFamily="34" charset="0"/>
                <a:cs typeface="Verdana" panose="020B0604030504040204" pitchFamily="34" charset="0"/>
              </a:rPr>
              <a:t>cust_sal</a:t>
            </a:r>
            <a:r>
              <a:rPr lang="en-US" altLang="en-US" sz="1800" dirty="0">
                <a:latin typeface="Verdana" panose="020B0604030504040204" pitchFamily="34" charset="0"/>
                <a:ea typeface="Verdana" panose="020B0604030504040204" pitchFamily="34" charset="0"/>
                <a:cs typeface="Verdana" panose="020B0604030504040204" pitchFamily="34" charset="0"/>
              </a:rPr>
              <a:t> AS </a:t>
            </a:r>
          </a:p>
          <a:p>
            <a:pPr marL="0" indent="0">
              <a:buFont typeface="Arial" panose="020B0604020202020204" pitchFamily="34" charset="0"/>
              <a:buNone/>
              <a:defRPr/>
            </a:pPr>
            <a:r>
              <a:rPr lang="en-US" altLang="en-US" sz="1800" dirty="0">
                <a:latin typeface="Verdana" panose="020B0604030504040204" pitchFamily="34" charset="0"/>
                <a:ea typeface="Verdana" panose="020B0604030504040204" pitchFamily="34" charset="0"/>
                <a:cs typeface="Verdana" panose="020B0604030504040204" pitchFamily="34" charset="0"/>
              </a:rPr>
              <a:t>   PROCEDURE </a:t>
            </a:r>
            <a:r>
              <a:rPr lang="en-US" altLang="en-US" sz="1800" dirty="0" err="1">
                <a:latin typeface="Verdana" panose="020B0604030504040204" pitchFamily="34" charset="0"/>
                <a:ea typeface="Verdana" panose="020B0604030504040204" pitchFamily="34" charset="0"/>
                <a:cs typeface="Verdana" panose="020B0604030504040204" pitchFamily="34" charset="0"/>
              </a:rPr>
              <a:t>find_sal</a:t>
            </a:r>
            <a:r>
              <a:rPr lang="en-US" altLang="en-US" sz="1800" dirty="0">
                <a:latin typeface="Verdana" panose="020B0604030504040204" pitchFamily="34" charset="0"/>
                <a:ea typeface="Verdana" panose="020B0604030504040204" pitchFamily="34" charset="0"/>
                <a:cs typeface="Verdana" panose="020B0604030504040204" pitchFamily="34" charset="0"/>
              </a:rPr>
              <a:t>(</a:t>
            </a:r>
            <a:r>
              <a:rPr lang="en-US" altLang="en-US" sz="1800" dirty="0" err="1">
                <a:latin typeface="Verdana" panose="020B0604030504040204" pitchFamily="34" charset="0"/>
                <a:ea typeface="Verdana" panose="020B0604030504040204" pitchFamily="34" charset="0"/>
                <a:cs typeface="Verdana" panose="020B0604030504040204" pitchFamily="34" charset="0"/>
              </a:rPr>
              <a:t>c_id</a:t>
            </a:r>
            <a:r>
              <a:rPr lang="en-US" altLang="en-US" sz="1800" dirty="0">
                <a:latin typeface="Verdana" panose="020B0604030504040204" pitchFamily="34" charset="0"/>
                <a:ea typeface="Verdana" panose="020B0604030504040204" pitchFamily="34" charset="0"/>
                <a:cs typeface="Verdana" panose="020B0604030504040204" pitchFamily="34" charset="0"/>
              </a:rPr>
              <a:t> </a:t>
            </a:r>
            <a:r>
              <a:rPr lang="en-US" altLang="en-US" sz="1800" dirty="0" err="1">
                <a:latin typeface="Verdana" panose="020B0604030504040204" pitchFamily="34" charset="0"/>
                <a:ea typeface="Verdana" panose="020B0604030504040204" pitchFamily="34" charset="0"/>
                <a:cs typeface="Verdana" panose="020B0604030504040204" pitchFamily="34" charset="0"/>
              </a:rPr>
              <a:t>customers.id%type</a:t>
            </a:r>
            <a:r>
              <a:rPr lang="en-US" altLang="en-US" sz="18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defRPr/>
            </a:pPr>
            <a:r>
              <a:rPr lang="en-US" altLang="en-US" sz="1800" dirty="0">
                <a:latin typeface="Verdana" panose="020B0604030504040204" pitchFamily="34" charset="0"/>
                <a:ea typeface="Verdana" panose="020B0604030504040204" pitchFamily="34" charset="0"/>
                <a:cs typeface="Verdana" panose="020B0604030504040204" pitchFamily="34" charset="0"/>
              </a:rPr>
              <a:t>END </a:t>
            </a:r>
            <a:r>
              <a:rPr lang="en-US" altLang="en-US" sz="1800" dirty="0" err="1">
                <a:latin typeface="Verdana" panose="020B0604030504040204" pitchFamily="34" charset="0"/>
                <a:ea typeface="Verdana" panose="020B0604030504040204" pitchFamily="34" charset="0"/>
                <a:cs typeface="Verdana" panose="020B0604030504040204" pitchFamily="34" charset="0"/>
              </a:rPr>
              <a:t>cust_sal</a:t>
            </a:r>
            <a:r>
              <a:rPr lang="en-US" altLang="en-US" sz="1800" dirty="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defRPr/>
            </a:pPr>
            <a:r>
              <a:rPr lang="en-US" altLang="en-US" dirty="0"/>
              <a:t>/</a:t>
            </a:r>
          </a:p>
          <a:p>
            <a:pPr marL="0" indent="0">
              <a:buFont typeface="Arial" panose="020B0604020202020204" pitchFamily="34" charset="0"/>
              <a:buNone/>
              <a:defRPr/>
            </a:pPr>
            <a:r>
              <a:rPr lang="en-US" b="1" dirty="0">
                <a:latin typeface="Verdana" panose="020B0604030504040204" pitchFamily="34" charset="0"/>
                <a:ea typeface="Verdana" panose="020B0604030504040204" pitchFamily="34" charset="0"/>
                <a:cs typeface="Verdana" panose="020B0604030504040204" pitchFamily="34" charset="0"/>
              </a:rPr>
              <a:t>Package Body</a:t>
            </a:r>
          </a:p>
          <a:p>
            <a:pPr>
              <a:defRPr/>
            </a:pPr>
            <a:r>
              <a:rPr lang="en-US" sz="1800" dirty="0">
                <a:latin typeface="Verdana" panose="020B0604030504040204" pitchFamily="34" charset="0"/>
                <a:ea typeface="Verdana" panose="020B0604030504040204" pitchFamily="34" charset="0"/>
                <a:cs typeface="Verdana" panose="020B0604030504040204" pitchFamily="34" charset="0"/>
              </a:rPr>
              <a:t>The package body has the codes for various methods declared in the package specification and other private declarations, which are hidden from the code outside the package.</a:t>
            </a:r>
          </a:p>
          <a:p>
            <a:pPr>
              <a:defRPr/>
            </a:pPr>
            <a:r>
              <a:rPr lang="en-US" sz="1800" dirty="0">
                <a:latin typeface="Verdana" panose="020B0604030504040204" pitchFamily="34" charset="0"/>
                <a:ea typeface="Verdana" panose="020B0604030504040204" pitchFamily="34" charset="0"/>
                <a:cs typeface="Verdana" panose="020B0604030504040204" pitchFamily="34" charset="0"/>
              </a:rPr>
              <a:t>The </a:t>
            </a:r>
            <a:r>
              <a:rPr lang="en-US" sz="1800" b="1" dirty="0">
                <a:latin typeface="Verdana" panose="020B0604030504040204" pitchFamily="34" charset="0"/>
                <a:ea typeface="Verdana" panose="020B0604030504040204" pitchFamily="34" charset="0"/>
                <a:cs typeface="Verdana" panose="020B0604030504040204" pitchFamily="34" charset="0"/>
              </a:rPr>
              <a:t>CREATE PACKAGE BODY</a:t>
            </a:r>
            <a:r>
              <a:rPr lang="en-US" sz="1800" dirty="0">
                <a:latin typeface="Verdana" panose="020B0604030504040204" pitchFamily="34" charset="0"/>
                <a:ea typeface="Verdana" panose="020B0604030504040204" pitchFamily="34" charset="0"/>
                <a:cs typeface="Verdana" panose="020B0604030504040204" pitchFamily="34" charset="0"/>
              </a:rPr>
              <a:t> Statement is used for creating the package body. The following code snippet shows the package body declaration for the </a:t>
            </a:r>
            <a:r>
              <a:rPr lang="en-US" sz="1800" b="1" i="1" dirty="0" err="1">
                <a:latin typeface="Verdana" panose="020B0604030504040204" pitchFamily="34" charset="0"/>
                <a:ea typeface="Verdana" panose="020B0604030504040204" pitchFamily="34" charset="0"/>
                <a:cs typeface="Verdana" panose="020B0604030504040204" pitchFamily="34" charset="0"/>
              </a:rPr>
              <a:t>cust_sal</a:t>
            </a:r>
            <a:r>
              <a:rPr lang="en-US" sz="1800" dirty="0">
                <a:latin typeface="Verdana" panose="020B0604030504040204" pitchFamily="34" charset="0"/>
                <a:ea typeface="Verdana" panose="020B0604030504040204" pitchFamily="34" charset="0"/>
                <a:cs typeface="Verdana" panose="020B0604030504040204" pitchFamily="34" charset="0"/>
              </a:rPr>
              <a:t> package created above.</a:t>
            </a:r>
          </a:p>
          <a:p>
            <a:pPr marL="0" indent="0">
              <a:buFont typeface="Arial" panose="020B0604020202020204" pitchFamily="34" charset="0"/>
              <a:buNone/>
              <a:defRPr/>
            </a:pPr>
            <a:endParaRPr lang="en-US" altLang="en-US" dirty="0"/>
          </a:p>
        </p:txBody>
      </p:sp>
      <p:sp>
        <p:nvSpPr>
          <p:cNvPr id="4" name="Date Placeholder 3">
            <a:extLst>
              <a:ext uri="{FF2B5EF4-FFF2-40B4-BE49-F238E27FC236}">
                <a16:creationId xmlns:a16="http://schemas.microsoft.com/office/drawing/2014/main" id="{22554E81-DE99-4A13-A6A3-2C5FB17CFBC8}"/>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Content Placeholder 2">
            <a:extLst>
              <a:ext uri="{FF2B5EF4-FFF2-40B4-BE49-F238E27FC236}">
                <a16:creationId xmlns:a16="http://schemas.microsoft.com/office/drawing/2014/main" id="{28C87DD6-560A-487C-BB8F-2B6B29032ED3}"/>
              </a:ext>
            </a:extLst>
          </p:cNvPr>
          <p:cNvSpPr>
            <a:spLocks noGrp="1"/>
          </p:cNvSpPr>
          <p:nvPr>
            <p:ph idx="1"/>
          </p:nvPr>
        </p:nvSpPr>
        <p:spPr>
          <a:xfrm>
            <a:off x="628650" y="304800"/>
            <a:ext cx="7886700" cy="5872163"/>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CREATE OR REPLACE PACKAGE BODY cust_sal AS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PROCEDURE find_sal(c_id customers.id%TYPE) IS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c_sal customers.salary%TYPE;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BEGIN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SELECT salary INTO c_sal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FROM customers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WHERE id = c_id;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dbms_output.put_line('Salary: '|| c_sal);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END find_sal;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END cust_sal;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When the above code is executed at the SQL prompt, it produces the following result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Package body created.</a:t>
            </a:r>
          </a:p>
        </p:txBody>
      </p:sp>
      <p:sp>
        <p:nvSpPr>
          <p:cNvPr id="4" name="Date Placeholder 3">
            <a:extLst>
              <a:ext uri="{FF2B5EF4-FFF2-40B4-BE49-F238E27FC236}">
                <a16:creationId xmlns:a16="http://schemas.microsoft.com/office/drawing/2014/main" id="{EF246BB7-D7FD-4E3F-B370-FE7743C09140}"/>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Content Placeholder 2">
            <a:extLst>
              <a:ext uri="{FF2B5EF4-FFF2-40B4-BE49-F238E27FC236}">
                <a16:creationId xmlns:a16="http://schemas.microsoft.com/office/drawing/2014/main" id="{3C3F7A2D-754D-490E-9193-0C479496DDE6}"/>
              </a:ext>
            </a:extLst>
          </p:cNvPr>
          <p:cNvSpPr>
            <a:spLocks noGrp="1"/>
          </p:cNvSpPr>
          <p:nvPr>
            <p:ph idx="1"/>
          </p:nvPr>
        </p:nvSpPr>
        <p:spPr>
          <a:xfrm>
            <a:off x="304800" y="152400"/>
            <a:ext cx="8115300" cy="6203950"/>
          </a:xfrm>
        </p:spPr>
        <p:txBody>
          <a:bodyPr/>
          <a:lstStyle/>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Using the Package Elements</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The package elements (variables, procedures or functions) are accessed with the following syntax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package_name.element_name;</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Consider, we already have created the above package in our database schema, the following program uses the </a:t>
            </a:r>
            <a:r>
              <a:rPr lang="en-US" altLang="en-US" sz="1800" b="1" i="1">
                <a:latin typeface="Verdana" panose="020B0604030504040204" pitchFamily="34" charset="0"/>
                <a:ea typeface="Verdana" panose="020B0604030504040204" pitchFamily="34" charset="0"/>
                <a:cs typeface="Verdana" panose="020B0604030504040204" pitchFamily="34" charset="0"/>
              </a:rPr>
              <a:t>find_sal</a:t>
            </a:r>
            <a:r>
              <a:rPr lang="en-US" altLang="en-US" sz="1800">
                <a:latin typeface="Verdana" panose="020B0604030504040204" pitchFamily="34" charset="0"/>
                <a:ea typeface="Verdana" panose="020B0604030504040204" pitchFamily="34" charset="0"/>
                <a:cs typeface="Verdana" panose="020B0604030504040204" pitchFamily="34" charset="0"/>
              </a:rPr>
              <a:t> method of the </a:t>
            </a:r>
            <a:r>
              <a:rPr lang="en-US" altLang="en-US" sz="1800" b="1" i="1">
                <a:latin typeface="Verdana" panose="020B0604030504040204" pitchFamily="34" charset="0"/>
                <a:ea typeface="Verdana" panose="020B0604030504040204" pitchFamily="34" charset="0"/>
                <a:cs typeface="Verdana" panose="020B0604030504040204" pitchFamily="34" charset="0"/>
              </a:rPr>
              <a:t>cust_sal</a:t>
            </a:r>
            <a:r>
              <a:rPr lang="en-US" altLang="en-US" sz="1800">
                <a:latin typeface="Verdana" panose="020B0604030504040204" pitchFamily="34" charset="0"/>
                <a:ea typeface="Verdana" panose="020B0604030504040204" pitchFamily="34" charset="0"/>
                <a:cs typeface="Verdana" panose="020B0604030504040204" pitchFamily="34" charset="0"/>
              </a:rPr>
              <a:t> package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DECLARE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code customers.id%type := &amp;cc_id;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BEGIN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cust_sal.find_sal(code);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END;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O/P:</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Enter value for cc_id: 1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Salary: 3000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PL/SQL procedure successfully completed. </a:t>
            </a:r>
          </a:p>
          <a:p>
            <a:pPr marL="0" indent="0">
              <a:buFont typeface="Arial" panose="020B0604020202020204" pitchFamily="34" charset="0"/>
              <a:buNone/>
            </a:pPr>
            <a:r>
              <a:rPr lang="en-US" altLang="en-US"/>
              <a:t>	</a:t>
            </a:r>
          </a:p>
          <a:p>
            <a:pPr marL="0" indent="0">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7BF29339-BF2C-469F-A7BC-6771854962F8}"/>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Content Placeholder 2">
            <a:extLst>
              <a:ext uri="{FF2B5EF4-FFF2-40B4-BE49-F238E27FC236}">
                <a16:creationId xmlns:a16="http://schemas.microsoft.com/office/drawing/2014/main" id="{B32AD196-F2CE-4E66-9A17-35FCEC0959A1}"/>
              </a:ext>
            </a:extLst>
          </p:cNvPr>
          <p:cNvSpPr>
            <a:spLocks noGrp="1"/>
          </p:cNvSpPr>
          <p:nvPr>
            <p:ph idx="1"/>
          </p:nvPr>
        </p:nvSpPr>
        <p:spPr>
          <a:xfrm>
            <a:off x="628650" y="76200"/>
            <a:ext cx="7886700" cy="6100763"/>
          </a:xfrm>
        </p:spPr>
        <p:txBody>
          <a:bodyPr/>
          <a:lstStyle/>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EXAMPLE:</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The following program provides a more complete package. We will use the CUSTOMERS table stored in our database with the following records −</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The Package Specification</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CREATE OR REPLACE PACKAGE c_package AS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 Adds a customer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PROCEDURE addCustomer(c_id   customers.id%type,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c_name  customers.Name%type,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c_age  customers.age%type,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c_addr customers.address%type,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c_sal  customers.salary%type);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 Removes a customer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PROCEDURE delCustomer(c_id  customers.id%TYPE);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END c_package;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36358193-5B06-4944-A88F-D00605F2BCCF}"/>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Content Placeholder 2">
            <a:extLst>
              <a:ext uri="{FF2B5EF4-FFF2-40B4-BE49-F238E27FC236}">
                <a16:creationId xmlns:a16="http://schemas.microsoft.com/office/drawing/2014/main" id="{0C220A87-7F10-43DD-AC68-1E47C76F5175}"/>
              </a:ext>
            </a:extLst>
          </p:cNvPr>
          <p:cNvSpPr>
            <a:spLocks noGrp="1"/>
          </p:cNvSpPr>
          <p:nvPr>
            <p:ph idx="1"/>
          </p:nvPr>
        </p:nvSpPr>
        <p:spPr>
          <a:xfrm>
            <a:off x="628650" y="228600"/>
            <a:ext cx="7886700" cy="5948363"/>
          </a:xfrm>
        </p:spPr>
        <p:txBody>
          <a:bodyPr/>
          <a:lstStyle/>
          <a:p>
            <a:pPr marL="0" indent="0">
              <a:buFont typeface="Arial" panose="020B0604020202020204" pitchFamily="34" charset="0"/>
              <a:buNone/>
            </a:pPr>
            <a:r>
              <a:rPr lang="en-US" altLang="en-US"/>
              <a:t>Output:</a:t>
            </a:r>
          </a:p>
          <a:p>
            <a:pPr marL="0" indent="0">
              <a:buFont typeface="Arial" panose="020B0604020202020204" pitchFamily="34" charset="0"/>
              <a:buNone/>
            </a:pPr>
            <a:r>
              <a:rPr lang="en-US" altLang="en-US"/>
              <a:t>Package created.</a:t>
            </a:r>
          </a:p>
          <a:p>
            <a:pPr marL="0" indent="0">
              <a:buFont typeface="Arial" panose="020B0604020202020204" pitchFamily="34" charset="0"/>
              <a:buNone/>
            </a:pPr>
            <a:endParaRPr lang="en-US" altLang="en-US" b="1"/>
          </a:p>
          <a:p>
            <a:pPr marL="0" indent="0">
              <a:buFont typeface="Arial" panose="020B0604020202020204" pitchFamily="34" charset="0"/>
              <a:buNone/>
            </a:pPr>
            <a:r>
              <a:rPr lang="en-US" altLang="en-US" b="1"/>
              <a:t>Creating the Package Body:</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CREATE OR REPLACE PACKAGE BODY c_package AS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PROCEDURE addCustomer(c_id  customers.id%type,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c_name customerS.No.ame%type,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c_age  customers.age%type,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c_addr  customers.address%type,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c_sal   customers.salary%type)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IS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BEGIN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INSERT INTO customers (id,name,age,address,salary)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VALUES(c_id, c_name, c_age, c_addr, c_sal);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END addCustomer; </a:t>
            </a:r>
          </a:p>
          <a:p>
            <a:pPr marL="0" indent="0">
              <a:buFont typeface="Arial" panose="020B0604020202020204" pitchFamily="34" charset="0"/>
              <a:buNone/>
            </a:pPr>
            <a:endParaRPr lang="en-US" altLang="en-US" b="1"/>
          </a:p>
          <a:p>
            <a:pPr marL="0" indent="0">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7B3F861F-0C3D-42C8-B1F2-C01E84A15F7A}"/>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B4A459-12BC-408A-8660-15DDD86C70C3}"/>
              </a:ext>
            </a:extLst>
          </p:cNvPr>
          <p:cNvSpPr>
            <a:spLocks noGrp="1"/>
          </p:cNvSpPr>
          <p:nvPr>
            <p:ph idx="1"/>
          </p:nvPr>
        </p:nvSpPr>
        <p:spPr>
          <a:xfrm>
            <a:off x="628650" y="76200"/>
            <a:ext cx="7886700" cy="6100763"/>
          </a:xfrm>
        </p:spPr>
        <p:txBody>
          <a:bodyPr/>
          <a:lstStyle/>
          <a:p>
            <a:pPr marL="0" indent="0">
              <a:buFont typeface="Arial" panose="020B0604020202020204" pitchFamily="34" charset="0"/>
              <a:buNone/>
              <a:defRPr/>
            </a:pPr>
            <a:r>
              <a:rPr lang="en-US" dirty="0"/>
              <a:t> PROCEDURE </a:t>
            </a:r>
            <a:r>
              <a:rPr lang="en-US" dirty="0" err="1"/>
              <a:t>delCustomer</a:t>
            </a:r>
            <a:r>
              <a:rPr lang="en-US" dirty="0"/>
              <a:t>(</a:t>
            </a:r>
            <a:r>
              <a:rPr lang="en-US" dirty="0" err="1"/>
              <a:t>c_id</a:t>
            </a:r>
            <a:r>
              <a:rPr lang="en-US" dirty="0"/>
              <a:t>   </a:t>
            </a:r>
            <a:r>
              <a:rPr lang="en-US" dirty="0" err="1"/>
              <a:t>customers.id%type</a:t>
            </a:r>
            <a:r>
              <a:rPr lang="en-US" dirty="0"/>
              <a:t>) IS </a:t>
            </a:r>
          </a:p>
          <a:p>
            <a:pPr marL="0" indent="0">
              <a:buFont typeface="Arial" panose="020B0604020202020204" pitchFamily="34" charset="0"/>
              <a:buNone/>
              <a:defRPr/>
            </a:pPr>
            <a:r>
              <a:rPr lang="en-US" dirty="0"/>
              <a:t>   BEGIN </a:t>
            </a:r>
          </a:p>
          <a:p>
            <a:pPr marL="0" indent="0">
              <a:buFont typeface="Arial" panose="020B0604020202020204" pitchFamily="34" charset="0"/>
              <a:buNone/>
              <a:defRPr/>
            </a:pPr>
            <a:r>
              <a:rPr lang="en-US" dirty="0"/>
              <a:t>      DELETE FROM customers </a:t>
            </a:r>
          </a:p>
          <a:p>
            <a:pPr marL="0" indent="0">
              <a:buFont typeface="Arial" panose="020B0604020202020204" pitchFamily="34" charset="0"/>
              <a:buNone/>
              <a:defRPr/>
            </a:pPr>
            <a:r>
              <a:rPr lang="en-US" dirty="0"/>
              <a:t>      WHERE id = </a:t>
            </a:r>
            <a:r>
              <a:rPr lang="en-US" dirty="0" err="1"/>
              <a:t>c_id</a:t>
            </a:r>
            <a:r>
              <a:rPr lang="en-US" dirty="0"/>
              <a:t>; </a:t>
            </a:r>
          </a:p>
          <a:p>
            <a:pPr marL="0" indent="0">
              <a:buFont typeface="Arial" panose="020B0604020202020204" pitchFamily="34" charset="0"/>
              <a:buNone/>
              <a:defRPr/>
            </a:pPr>
            <a:r>
              <a:rPr lang="en-US" dirty="0"/>
              <a:t>   END </a:t>
            </a:r>
            <a:r>
              <a:rPr lang="en-US" dirty="0" err="1"/>
              <a:t>delCustomer</a:t>
            </a:r>
            <a:r>
              <a:rPr lang="en-US" dirty="0"/>
              <a:t>; </a:t>
            </a:r>
          </a:p>
          <a:p>
            <a:pPr marL="0" indent="0">
              <a:buFont typeface="Arial" panose="020B0604020202020204" pitchFamily="34" charset="0"/>
              <a:buNone/>
              <a:defRPr/>
            </a:pPr>
            <a:r>
              <a:rPr lang="en-US" dirty="0"/>
              <a:t>END </a:t>
            </a:r>
            <a:r>
              <a:rPr lang="en-US" dirty="0" err="1"/>
              <a:t>c_package</a:t>
            </a:r>
            <a:r>
              <a:rPr lang="en-US" dirty="0"/>
              <a:t>; </a:t>
            </a:r>
          </a:p>
          <a:p>
            <a:pPr marL="0" indent="0">
              <a:buFont typeface="Arial" panose="020B0604020202020204" pitchFamily="34" charset="0"/>
              <a:buNone/>
              <a:defRPr/>
            </a:pPr>
            <a:r>
              <a:rPr lang="en-US" dirty="0"/>
              <a:t>/</a:t>
            </a:r>
          </a:p>
          <a:p>
            <a:pPr>
              <a:defRPr/>
            </a:pPr>
            <a:r>
              <a:rPr lang="en-US" dirty="0"/>
              <a:t>Using The Package</a:t>
            </a:r>
          </a:p>
          <a:p>
            <a:pPr>
              <a:defRPr/>
            </a:pPr>
            <a:r>
              <a:rPr lang="en-US" dirty="0"/>
              <a:t>The following program uses the methods declared and defined in the package </a:t>
            </a:r>
            <a:r>
              <a:rPr lang="en-US" i="1" dirty="0" err="1"/>
              <a:t>c_package</a:t>
            </a:r>
            <a:r>
              <a:rPr lang="en-US" dirty="0"/>
              <a:t>.</a:t>
            </a:r>
          </a:p>
          <a:p>
            <a:pPr marL="0" indent="0">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CAEE77ED-C278-4510-B2E0-CF4728B98D0A}"/>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Content Placeholder 2">
            <a:extLst>
              <a:ext uri="{FF2B5EF4-FFF2-40B4-BE49-F238E27FC236}">
                <a16:creationId xmlns:a16="http://schemas.microsoft.com/office/drawing/2014/main" id="{B9FA4818-870C-4555-A34C-4845392382C9}"/>
              </a:ext>
            </a:extLst>
          </p:cNvPr>
          <p:cNvSpPr>
            <a:spLocks noGrp="1"/>
          </p:cNvSpPr>
          <p:nvPr>
            <p:ph idx="1"/>
          </p:nvPr>
        </p:nvSpPr>
        <p:spPr>
          <a:xfrm>
            <a:off x="628650" y="228600"/>
            <a:ext cx="7886700" cy="5948363"/>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DECLARE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code customers.id%type:= 8;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BEGIN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c_package.addcustomer(7, 'Rajnish', 25, 'Chennai', 3500);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c_package.addcustomer(8, 'Subham', 32, 'Delhi', 7500);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c_package.delcustomer(code);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END; </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 </a:t>
            </a:r>
          </a:p>
        </p:txBody>
      </p:sp>
      <p:sp>
        <p:nvSpPr>
          <p:cNvPr id="4" name="Date Placeholder 3">
            <a:extLst>
              <a:ext uri="{FF2B5EF4-FFF2-40B4-BE49-F238E27FC236}">
                <a16:creationId xmlns:a16="http://schemas.microsoft.com/office/drawing/2014/main" id="{D7E08169-01D9-4EF5-8327-C9754FF918EF}"/>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6DC766-ADFC-4135-BB10-5527D01AFEAA}"/>
              </a:ext>
            </a:extLst>
          </p:cNvPr>
          <p:cNvSpPr>
            <a:spLocks noGrp="1"/>
          </p:cNvSpPr>
          <p:nvPr>
            <p:ph idx="1"/>
          </p:nvPr>
        </p:nvSpPr>
        <p:spPr>
          <a:xfrm>
            <a:off x="304800" y="228600"/>
            <a:ext cx="8134350" cy="5948363"/>
          </a:xfrm>
        </p:spPr>
        <p:txBody>
          <a:bodyPr/>
          <a:lstStyle/>
          <a:p>
            <a:pPr marL="0" indent="0">
              <a:buFont typeface="Arial" panose="020B0604020202020204" pitchFamily="34" charset="0"/>
              <a:buNone/>
              <a:defRPr/>
            </a:pPr>
            <a:r>
              <a:rPr lang="en-US" sz="1800" b="1" u="sng" dirty="0">
                <a:latin typeface="Verdana" panose="020B0604030504040204" pitchFamily="34" charset="0"/>
                <a:ea typeface="Verdana" panose="020B0604030504040204" pitchFamily="34" charset="0"/>
                <a:cs typeface="Verdana" panose="020B0604030504040204" pitchFamily="34" charset="0"/>
              </a:rPr>
              <a:t>ADVANTAGES OF PACKAGES:</a:t>
            </a:r>
          </a:p>
          <a:p>
            <a:pPr marL="457200" indent="-457200">
              <a:buFont typeface="Arial" panose="020B0604020202020204" pitchFamily="34" charset="0"/>
              <a:buAutoNum type="arabicPeriod"/>
              <a:defRPr/>
            </a:pPr>
            <a:r>
              <a:rPr lang="en-US" sz="1800" dirty="0">
                <a:latin typeface="Verdana" panose="020B0604030504040204" pitchFamily="34" charset="0"/>
                <a:ea typeface="Verdana" panose="020B0604030504040204" pitchFamily="34" charset="0"/>
                <a:cs typeface="Verdana" panose="020B0604030504040204" pitchFamily="34" charset="0"/>
              </a:rPr>
              <a:t>Improves the Performance of Function or Procedure.</a:t>
            </a:r>
          </a:p>
          <a:p>
            <a:pPr>
              <a:buFont typeface="Wingdings" panose="05000000000000000000" pitchFamily="2" charset="2"/>
              <a:buChar char="à"/>
              <a:defRPr/>
            </a:pP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Physical read-disk read(access the data from DB or hard disk)</a:t>
            </a:r>
          </a:p>
          <a:p>
            <a:pPr>
              <a:buFont typeface="Wingdings" panose="05000000000000000000" pitchFamily="2" charset="2"/>
              <a:buChar char="à"/>
              <a:defRPr/>
            </a:pP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Logical read – access the data from main memory/RAM.</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rPr>
              <a:t> Whenever we perform any operation then any of one thing will happen i.e. either Physical read or Logical Read.</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NOTE</a:t>
            </a:r>
            <a:r>
              <a:rPr lang="en-US" sz="1800" dirty="0">
                <a:latin typeface="Verdana" panose="020B0604030504040204" pitchFamily="34" charset="0"/>
                <a:ea typeface="Verdana" panose="020B0604030504040204" pitchFamily="34" charset="0"/>
                <a:cs typeface="Verdana" panose="020B0604030504040204" pitchFamily="34" charset="0"/>
              </a:rPr>
              <a:t>: Physical read will be of higher cost then logical read.</a:t>
            </a:r>
          </a:p>
          <a:p>
            <a:pPr>
              <a:buFont typeface="Wingdings" panose="05000000000000000000" pitchFamily="2" charset="2"/>
              <a:buChar char="à"/>
              <a:defRPr/>
            </a:pP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 Package consists of many procedure and function.</a:t>
            </a:r>
          </a:p>
          <a:p>
            <a:pPr>
              <a:buFont typeface="Wingdings" panose="05000000000000000000" pitchFamily="2" charset="2"/>
              <a:buChar char="à"/>
              <a:defRPr/>
            </a:pP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 Whenever we are accessing a package then entire package will be loaded into a SGA(Shared Global Area).</a:t>
            </a:r>
          </a:p>
          <a:p>
            <a:pPr>
              <a:buFont typeface="Wingdings" panose="05000000000000000000" pitchFamily="2" charset="2"/>
              <a:buChar char="à"/>
              <a:defRPr/>
            </a:pP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 Whenever we are trying to access a procedure using package name then we perform Logical read i.e. we access the data from main memory/RAM and we need not to fetch the data again and again from Database which improves the performance.</a:t>
            </a:r>
          </a:p>
          <a:p>
            <a:pPr marL="0" indent="0">
              <a:buFont typeface="Arial" panose="020B0604020202020204" pitchFamily="34" charset="0"/>
              <a:buNone/>
              <a:defRPr/>
            </a:pPr>
            <a:endPar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endParaRP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2. Can declare global variable.</a:t>
            </a:r>
          </a:p>
          <a:p>
            <a:pPr marL="0" indent="0">
              <a:buFont typeface="Arial" panose="020B0604020202020204" pitchFamily="34" charset="0"/>
              <a:buNone/>
              <a:defRPr/>
            </a:pP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3. Can implement Overloading Of Function(Same function name but different parameters) </a:t>
            </a: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endParaRPr lang="en-US" sz="1800" dirty="0">
              <a:latin typeface="Verdana" panose="020B0604030504040204" pitchFamily="34" charset="0"/>
              <a:ea typeface="Verdana" panose="020B0604030504040204" pitchFamily="34" charset="0"/>
              <a:cs typeface="Verdana" panose="020B0604030504040204" pitchFamily="34" charset="0"/>
            </a:endParaRPr>
          </a:p>
        </p:txBody>
      </p:sp>
      <p:sp>
        <p:nvSpPr>
          <p:cNvPr id="4" name="Date Placeholder 3">
            <a:extLst>
              <a:ext uri="{FF2B5EF4-FFF2-40B4-BE49-F238E27FC236}">
                <a16:creationId xmlns:a16="http://schemas.microsoft.com/office/drawing/2014/main" id="{A10F155B-592B-47C2-BCC8-75AC80DFC99D}"/>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Content Placeholder 2">
            <a:extLst>
              <a:ext uri="{FF2B5EF4-FFF2-40B4-BE49-F238E27FC236}">
                <a16:creationId xmlns:a16="http://schemas.microsoft.com/office/drawing/2014/main" id="{B921706E-2C47-4931-9045-3C063FB2F4C3}"/>
              </a:ext>
            </a:extLst>
          </p:cNvPr>
          <p:cNvSpPr>
            <a:spLocks noGrp="1"/>
          </p:cNvSpPr>
          <p:nvPr>
            <p:ph idx="1"/>
          </p:nvPr>
        </p:nvSpPr>
        <p:spPr>
          <a:xfrm>
            <a:off x="457200" y="228600"/>
            <a:ext cx="8058150" cy="6248400"/>
          </a:xfrm>
        </p:spPr>
        <p:txBody>
          <a:bodyPr/>
          <a:lstStyle/>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EXAMPLE:</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Function </a:t>
            </a:r>
            <a:r>
              <a:rPr lang="en-US" altLang="en-US" sz="1800" b="1">
                <a:latin typeface="Verdana" panose="020B0604030504040204" pitchFamily="34" charset="0"/>
                <a:ea typeface="Verdana" panose="020B0604030504040204" pitchFamily="34" charset="0"/>
                <a:cs typeface="Verdana" panose="020B0604030504040204" pitchFamily="34" charset="0"/>
              </a:rPr>
              <a:t>test</a:t>
            </a:r>
            <a:r>
              <a:rPr lang="en-US" altLang="en-US" sz="1800">
                <a:latin typeface="Verdana" panose="020B0604030504040204" pitchFamily="34" charset="0"/>
                <a:ea typeface="Verdana" panose="020B0604030504040204" pitchFamily="34" charset="0"/>
                <a:cs typeface="Verdana" panose="020B0604030504040204" pitchFamily="34" charset="0"/>
              </a:rPr>
              <a:t>(a number)</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Function </a:t>
            </a:r>
            <a:r>
              <a:rPr lang="en-US" altLang="en-US" sz="1800" b="1">
                <a:latin typeface="Verdana" panose="020B0604030504040204" pitchFamily="34" charset="0"/>
                <a:ea typeface="Verdana" panose="020B0604030504040204" pitchFamily="34" charset="0"/>
                <a:cs typeface="Verdana" panose="020B0604030504040204" pitchFamily="34" charset="0"/>
              </a:rPr>
              <a:t>test</a:t>
            </a:r>
            <a:r>
              <a:rPr lang="en-US" altLang="en-US" sz="1800">
                <a:latin typeface="Verdana" panose="020B0604030504040204" pitchFamily="34" charset="0"/>
                <a:ea typeface="Verdana" panose="020B0604030504040204" pitchFamily="34" charset="0"/>
                <a:cs typeface="Verdana" panose="020B0604030504040204" pitchFamily="34" charset="0"/>
              </a:rPr>
              <a:t>(a1 number, a2 varchar)</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4. Provide better modularity.</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Modularity means the process of dividing programs into different sub programs. In short, Writing Program into parts and pieces like one program is getting divided into procedures and functions.</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5. Provide Encapsulation:</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It means Variables, Procedures and Functions is getting encapsulated into one package that protects them from outside world.(No one can easily change the program).</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It increases usability also.</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POINTS TO REMEMBER:</a:t>
            </a:r>
          </a:p>
          <a:p>
            <a:pPr marL="0" indent="0">
              <a:buFont typeface="Arial"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Package:</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lang="en-US" altLang="en-US" sz="1800">
                <a:latin typeface="Verdana" panose="020B0604030504040204" pitchFamily="34" charset="0"/>
                <a:ea typeface="Verdana" panose="020B0604030504040204" pitchFamily="34" charset="0"/>
                <a:cs typeface="Verdana" panose="020B0604030504040204" pitchFamily="34" charset="0"/>
              </a:rPr>
              <a:t>It stores and compiles all the functions and procedures declared in SGA(System Global Area).</a:t>
            </a:r>
          </a:p>
          <a:p>
            <a:pPr marL="0" indent="0">
              <a:buFont typeface="Arial"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lang="en-US" altLang="en-US" sz="1800">
                <a:latin typeface="Verdana" panose="020B0604030504040204" pitchFamily="34" charset="0"/>
                <a:ea typeface="Verdana" panose="020B0604030504040204" pitchFamily="34" charset="0"/>
                <a:cs typeface="Verdana" panose="020B0604030504040204" pitchFamily="34" charset="0"/>
              </a:rPr>
              <a:t>Whenever stored procedures or functions are called from this package, it will get them from SGA. So it performance is definitely high.</a:t>
            </a: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pPr>
            <a:endParaRPr lang="en-US" altLang="en-US"/>
          </a:p>
        </p:txBody>
      </p:sp>
      <p:sp>
        <p:nvSpPr>
          <p:cNvPr id="4" name="Date Placeholder 3">
            <a:extLst>
              <a:ext uri="{FF2B5EF4-FFF2-40B4-BE49-F238E27FC236}">
                <a16:creationId xmlns:a16="http://schemas.microsoft.com/office/drawing/2014/main" id="{277EA951-C2E4-486A-8F92-494E21FF27CC}"/>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885BC9-BF55-4D2A-A7F4-E65B61458C22}"/>
              </a:ext>
            </a:extLst>
          </p:cNvPr>
          <p:cNvSpPr>
            <a:spLocks noGrp="1"/>
          </p:cNvSpPr>
          <p:nvPr>
            <p:ph idx="1"/>
          </p:nvPr>
        </p:nvSpPr>
        <p:spPr>
          <a:xfrm>
            <a:off x="457200" y="152400"/>
            <a:ext cx="8305800" cy="6024563"/>
          </a:xfrm>
        </p:spPr>
        <p:txBody>
          <a:bodyPr/>
          <a:lstStyle/>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Packages are faster when compared to procedure and function. This is because you can store related objects together.</a:t>
            </a:r>
          </a:p>
          <a:p>
            <a:pPr>
              <a:buFont typeface="Wingdings" panose="05000000000000000000" pitchFamily="2" charset="2"/>
              <a:buChar char="à"/>
              <a:defRPr/>
            </a:pP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Package is faster when you working on specific project and all your functions and procedure are in that package. Package load into memory and remain in memory till the place available so execution is fast for calling related procedure, function and global variable.</a:t>
            </a:r>
          </a:p>
          <a:p>
            <a:pPr>
              <a:buFont typeface="Wingdings" panose="05000000000000000000" pitchFamily="2" charset="2"/>
              <a:buChar char="à"/>
              <a:defRPr/>
            </a:pPr>
            <a:r>
              <a:rPr lang="en-US" sz="1800" dirty="0">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 If you have a small and misc. work then you should use single function or procedure, it will take a small memory and load fast.</a:t>
            </a:r>
          </a:p>
          <a:p>
            <a:pPr marL="0" indent="0">
              <a:buFont typeface="Arial" panose="020B0604020202020204" pitchFamily="34" charset="0"/>
              <a:buNone/>
              <a:defRPr/>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Procedures: </a:t>
            </a:r>
            <a:r>
              <a:rPr lang="en-US" sz="1800" dirty="0">
                <a:latin typeface="Verdana" panose="020B0604030504040204" pitchFamily="34" charset="0"/>
                <a:ea typeface="Verdana" panose="020B0604030504040204" pitchFamily="34" charset="0"/>
                <a:cs typeface="Verdana" panose="020B0604030504040204" pitchFamily="34" charset="0"/>
              </a:rPr>
              <a:t>They are subprograms which perform certain action. They cannot be called from select statement.</a:t>
            </a:r>
          </a:p>
          <a:p>
            <a:pPr marL="0" indent="0">
              <a:buFont typeface="Arial" panose="020B0604020202020204" pitchFamily="34" charset="0"/>
              <a:buNone/>
              <a:defRPr/>
            </a:pPr>
            <a:r>
              <a:rPr lang="en-US" sz="1800" b="1" dirty="0">
                <a:latin typeface="Verdana" panose="020B0604030504040204" pitchFamily="34" charset="0"/>
                <a:ea typeface="Verdana" panose="020B0604030504040204" pitchFamily="34" charset="0"/>
                <a:cs typeface="Verdana" panose="020B0604030504040204" pitchFamily="34" charset="0"/>
              </a:rPr>
              <a:t>Functions: </a:t>
            </a:r>
            <a:r>
              <a:rPr lang="en-US" sz="1800" dirty="0">
                <a:latin typeface="Verdana" panose="020B0604030504040204" pitchFamily="34" charset="0"/>
                <a:ea typeface="Verdana" panose="020B0604030504040204" pitchFamily="34" charset="0"/>
                <a:cs typeface="Verdana" panose="020B0604030504040204" pitchFamily="34" charset="0"/>
              </a:rPr>
              <a:t>They are subprograms which return a value. They can be used in select statement and also its return value can be assigned to a variable.</a:t>
            </a:r>
          </a:p>
          <a:p>
            <a:pPr marL="0" indent="0">
              <a:buFont typeface="Arial" panose="020B0604020202020204" pitchFamily="34" charset="0"/>
              <a:buNone/>
              <a:defRPr/>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0" indent="0">
              <a:buFont typeface="Arial" panose="020B0604020202020204" pitchFamily="34" charset="0"/>
              <a:buNone/>
              <a:defRPr/>
            </a:pPr>
            <a:endParaRPr lang="en-US" dirty="0"/>
          </a:p>
        </p:txBody>
      </p:sp>
      <p:sp>
        <p:nvSpPr>
          <p:cNvPr id="4" name="Date Placeholder 3">
            <a:extLst>
              <a:ext uri="{FF2B5EF4-FFF2-40B4-BE49-F238E27FC236}">
                <a16:creationId xmlns:a16="http://schemas.microsoft.com/office/drawing/2014/main" id="{ED84CF6C-3E2E-4D58-9A08-9D5AE16EBCDC}"/>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74ACD89E-D2D1-4644-BE16-2400F70FBE8F}"/>
              </a:ext>
            </a:extLst>
          </p:cNvPr>
          <p:cNvSpPr>
            <a:spLocks noGrp="1"/>
          </p:cNvSpPr>
          <p:nvPr>
            <p:ph idx="1"/>
          </p:nvPr>
        </p:nvSpPr>
        <p:spPr>
          <a:xfrm>
            <a:off x="304800" y="914400"/>
            <a:ext cx="8839200" cy="5181600"/>
          </a:xfrm>
        </p:spPr>
        <p:txBody>
          <a:bodyPr/>
          <a:lstStyle/>
          <a:p>
            <a:pPr marL="1263650" indent="-1263650" eaLnBrk="1" hangingPunct="1">
              <a:buFontTx/>
              <a:buNone/>
            </a:pPr>
            <a:endParaRPr lang="en-US" altLang="en-US" sz="2800"/>
          </a:p>
          <a:p>
            <a:pPr marL="1263650" indent="-1263650" eaLnBrk="1" hangingPunct="1">
              <a:buFontTx/>
              <a:buNone/>
            </a:pPr>
            <a:endParaRPr lang="en-US" altLang="en-US" sz="2800"/>
          </a:p>
          <a:p>
            <a:pPr marL="1263650" indent="-1263650" eaLnBrk="1" hangingPunct="1">
              <a:buFontTx/>
              <a:buNone/>
            </a:pPr>
            <a:endParaRPr lang="en-US" altLang="en-US" sz="2800"/>
          </a:p>
          <a:p>
            <a:pPr marL="1263650" indent="-1263650" eaLnBrk="1" hangingPunct="1">
              <a:buFontTx/>
              <a:buNone/>
            </a:pPr>
            <a:endParaRPr lang="en-US" altLang="en-US" sz="2800"/>
          </a:p>
          <a:p>
            <a:pPr marL="1263650" indent="-1263650" eaLnBrk="1" hangingPunct="1">
              <a:buFontTx/>
              <a:buNone/>
            </a:pPr>
            <a:endParaRPr lang="en-US" altLang="en-US" sz="2800"/>
          </a:p>
          <a:p>
            <a:pPr marL="1263650" indent="-1263650" eaLnBrk="1" hangingPunct="1">
              <a:buFontTx/>
              <a:buNone/>
            </a:pPr>
            <a:endParaRPr lang="en-US" altLang="en-US" sz="2800"/>
          </a:p>
          <a:p>
            <a:pPr marL="1263650" indent="-1263650" eaLnBrk="1" hangingPunct="1">
              <a:buFontTx/>
              <a:buNone/>
            </a:pPr>
            <a:r>
              <a:rPr lang="en-US" altLang="en-US" sz="6000"/>
              <a:t>			</a:t>
            </a:r>
          </a:p>
          <a:p>
            <a:pPr marL="1263650" indent="-1263650" eaLnBrk="1" hangingPunct="1">
              <a:buFontTx/>
              <a:buNone/>
            </a:pPr>
            <a:r>
              <a:rPr lang="en-US" altLang="en-US" sz="6000"/>
              <a:t>							END</a:t>
            </a:r>
          </a:p>
        </p:txBody>
      </p:sp>
      <p:sp>
        <p:nvSpPr>
          <p:cNvPr id="4" name="Date Placeholder 3">
            <a:extLst>
              <a:ext uri="{FF2B5EF4-FFF2-40B4-BE49-F238E27FC236}">
                <a16:creationId xmlns:a16="http://schemas.microsoft.com/office/drawing/2014/main" id="{A6EF0029-185F-45E3-9124-AF01A8330F80}"/>
              </a:ext>
            </a:extLst>
          </p:cNvPr>
          <p:cNvSpPr>
            <a:spLocks noGrp="1"/>
          </p:cNvSpPr>
          <p:nvPr>
            <p:ph type="dt" sz="quarter" idx="10"/>
          </p:nvPr>
        </p:nvSpPr>
        <p:spPr/>
        <p:txBody>
          <a:bodyPr/>
          <a:lstStyle/>
          <a:p>
            <a:pPr>
              <a:defRPr/>
            </a:pPr>
            <a:r>
              <a:rPr lang="en-US" altLang="en-US"/>
              <a:t>Bordoloi and Bock</a:t>
            </a:r>
            <a:endParaRPr lang="en-US" altLang="en-US">
              <a:solidFill>
                <a:schemeClr val="tx1"/>
              </a:solidFill>
            </a:endParaRPr>
          </a:p>
        </p:txBody>
      </p:sp>
      <p:pic>
        <p:nvPicPr>
          <p:cNvPr id="141316" name="Picture 3" descr="DD01352_">
            <a:extLst>
              <a:ext uri="{FF2B5EF4-FFF2-40B4-BE49-F238E27FC236}">
                <a16:creationId xmlns:a16="http://schemas.microsoft.com/office/drawing/2014/main" id="{E80487FA-5DB7-4E24-8F78-0225F75D1D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838200"/>
            <a:ext cx="3124200" cy="253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11650</TotalTime>
  <Words>8876</Words>
  <Application>Microsoft Office PowerPoint</Application>
  <PresentationFormat>On-screen Show (4:3)</PresentationFormat>
  <Paragraphs>1658</Paragraphs>
  <Slides>133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133</vt:i4>
      </vt:variant>
    </vt:vector>
  </HeadingPairs>
  <TitlesOfParts>
    <vt:vector size="144" baseType="lpstr">
      <vt:lpstr>Arial Unicode MS</vt:lpstr>
      <vt:lpstr>Arial</vt:lpstr>
      <vt:lpstr>Calibri</vt:lpstr>
      <vt:lpstr>Calibri Light</vt:lpstr>
      <vt:lpstr>Courier New</vt:lpstr>
      <vt:lpstr>Times New Roman</vt:lpstr>
      <vt:lpstr>Times New Roman</vt:lpstr>
      <vt:lpstr>Verdana</vt:lpstr>
      <vt:lpstr>Verdana</vt:lpstr>
      <vt:lpstr>Wingdings</vt:lpstr>
      <vt:lpstr>Office Theme</vt:lpstr>
      <vt:lpstr>PL/SQL PROGRAMMING (L1)</vt:lpstr>
      <vt:lpstr>AGENDA:</vt:lpstr>
      <vt:lpstr>PowerPoint Presentation</vt:lpstr>
      <vt:lpstr>PLSQL:</vt:lpstr>
      <vt:lpstr>SQL REVISION:</vt:lpstr>
      <vt:lpstr>PowerPoint Presentation</vt:lpstr>
      <vt:lpstr>PowerPoint Presentation</vt:lpstr>
      <vt:lpstr>PowerPoint Presentation</vt:lpstr>
      <vt:lpstr>PowerPoint Presentation</vt:lpstr>
      <vt:lpstr> Features of PL/SQL </vt:lpstr>
      <vt:lpstr>PL/SQL – BASIC SYNTAX:</vt:lpstr>
      <vt:lpstr>BASIC STRUCTURE OF PL/SQL BOLCK:</vt:lpstr>
      <vt:lpstr>BASIC STRUCTURE OF PL/SQL BOLCK:</vt:lpstr>
      <vt:lpstr>The PL/SQL Comments</vt:lpstr>
      <vt:lpstr>The PL/SQL Comments</vt:lpstr>
      <vt:lpstr>PowerPoint Presentation</vt:lpstr>
      <vt:lpstr>PL/SQL VARIABLES:</vt:lpstr>
      <vt:lpstr>PL/SQL VARIABLES:</vt:lpstr>
      <vt:lpstr>PL/SQL VARIABLE:</vt:lpstr>
      <vt:lpstr>PL/SQL VARIABLE:</vt:lpstr>
      <vt:lpstr>PL/SQL VARIABLE:</vt:lpstr>
      <vt:lpstr>VARIABLE SCOPE IN PL/SQL</vt:lpstr>
      <vt:lpstr>Example</vt:lpstr>
      <vt:lpstr>PL/SQL - Constants:</vt:lpstr>
      <vt:lpstr>CONSTANT EXAMPLE:</vt:lpstr>
      <vt:lpstr> PL/SQL OPERATORS:</vt:lpstr>
      <vt:lpstr>ARITHMETIC OPERATORS:</vt:lpstr>
      <vt:lpstr>COMPARISON OPERATORS:</vt:lpstr>
      <vt:lpstr>RELATIONAL OPERATORS:</vt:lpstr>
      <vt:lpstr>LOGICAL OPERATORS:</vt:lpstr>
      <vt:lpstr>PL/SQL OPERATOR PRECEDENCE</vt:lpstr>
      <vt:lpstr>PowerPoint Presentation</vt:lpstr>
      <vt:lpstr> PL/SQL IF: </vt:lpstr>
      <vt:lpstr>PROGRAM</vt:lpstr>
      <vt:lpstr>PowerPoint Presentation</vt:lpstr>
      <vt:lpstr>PL/SQL (IF-THEN-ELSE statement)</vt:lpstr>
      <vt:lpstr>PowerPoint Presentation</vt:lpstr>
      <vt:lpstr>PowerPoint Presentation</vt:lpstr>
      <vt:lpstr>PowerPoint Presentation</vt:lpstr>
      <vt:lpstr>PowerPoint Presentation</vt:lpstr>
      <vt:lpstr> PL/SQL - Nested IF-THEN-ELSE Statements: </vt:lpstr>
      <vt:lpstr>PowerPoint Presentation</vt:lpstr>
      <vt:lpstr>CASE STATEMENT:</vt:lpstr>
      <vt:lpstr>PowerPoint Presentation</vt:lpstr>
      <vt:lpstr>PL/SQL – LOOPS:</vt:lpstr>
      <vt:lpstr> PL/SQL Exit Loop (Basic Loop) </vt:lpstr>
      <vt:lpstr>PowerPoint Presentation</vt:lpstr>
      <vt:lpstr>2. PL/SQL While Loop:</vt:lpstr>
      <vt:lpstr>PowerPoint Presentation</vt:lpstr>
      <vt:lpstr>3. PL/SQL FOR LOOP</vt:lpstr>
      <vt:lpstr>PowerPoint Presentation</vt:lpstr>
      <vt:lpstr> PL/SQL Continue Statement  </vt:lpstr>
      <vt:lpstr>PowerPoint Presentation</vt:lpstr>
      <vt:lpstr>PowerPoint Presentation</vt:lpstr>
      <vt:lpstr> PL/SQL GOTO Statement: </vt:lpstr>
      <vt:lpstr>PowerPoint Presentation</vt:lpstr>
      <vt:lpstr>PowerPoint Presentation</vt:lpstr>
      <vt:lpstr>PowerPoint Presentation</vt:lpstr>
      <vt:lpstr>PowerPoint Presentation</vt:lpstr>
      <vt:lpstr> PL/SQL Procedure </vt:lpstr>
      <vt:lpstr>PowerPoint Presentation</vt:lpstr>
      <vt:lpstr>PowerPoint Presentation</vt:lpstr>
      <vt:lpstr>PowerPoint Presentation</vt:lpstr>
      <vt:lpstr>PowerPoint Presentation</vt:lpstr>
      <vt:lpstr>PowerPoint Presentation</vt:lpstr>
      <vt:lpstr>PowerPoint Presentation</vt:lpstr>
      <vt:lpstr>PL/SQL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PL/SQL CURSOR:</vt:lpstr>
      <vt:lpstr> What is the Context Area? </vt:lpstr>
      <vt:lpstr> 1) PL/SQL Implicit Cursors </vt:lpstr>
      <vt:lpstr>PowerPoint Presentation</vt:lpstr>
      <vt:lpstr> PL/SQL Implicit Cursor Example </vt:lpstr>
      <vt:lpstr>PowerPoint Presentation</vt:lpstr>
      <vt:lpstr>PowerPoint Presentation</vt:lpstr>
      <vt:lpstr>PowerPoint Presentation</vt:lpstr>
      <vt:lpstr>PowerPoint Presentation</vt:lpstr>
      <vt:lpstr>PowerPoint Presentation</vt:lpstr>
      <vt:lpstr> What is Parameterized cursor? </vt:lpstr>
      <vt:lpstr>Example:</vt:lpstr>
      <vt:lpstr> Parameterized Cursor With Default Value In Oracle Database </vt:lpstr>
      <vt:lpstr>Example 1 of Cursor Parameter with Default Value </vt:lpstr>
      <vt:lpstr>PowerPoint Presentation</vt:lpstr>
      <vt:lpstr> Cursor For Loop In Oracle Database </vt:lpstr>
      <vt:lpstr>PowerPoint Presentation</vt:lpstr>
      <vt:lpstr> PL/SQL Exception Handling </vt:lpstr>
      <vt:lpstr>Syntax for exception handling:</vt:lpstr>
      <vt:lpstr> Example of exception handling </vt:lpstr>
      <vt:lpstr>PowerPoint Presentation</vt:lpstr>
      <vt:lpstr>RAISING EXCEPTION:</vt:lpstr>
      <vt:lpstr> User-defined Exceptions </vt:lpstr>
      <vt:lpstr>PowerPoint Presentation</vt:lpstr>
      <vt:lpstr>PowerPoint Presentation</vt:lpstr>
      <vt:lpstr>PowerPoint Presentation</vt:lpstr>
      <vt:lpstr>PL/SQL Trigger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PL/SQL PACKAGE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SIUE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Academic Computing</dc:creator>
  <cp:lastModifiedBy>Amitabh Bharat Tiwari (CRS)</cp:lastModifiedBy>
  <cp:revision>708</cp:revision>
  <dcterms:created xsi:type="dcterms:W3CDTF">2001-10-17T20:51:44Z</dcterms:created>
  <dcterms:modified xsi:type="dcterms:W3CDTF">2018-05-29T07:55:58Z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9a70571-31c6-4603-80c1-ef2fb871a62a_Enabled">
    <vt:lpwstr>True</vt:lpwstr>
  </property>
  <property fmtid="{D5CDD505-2E9C-101B-9397-08002B2CF9AE}" pid="3" name="MSIP_Label_b9a70571-31c6-4603-80c1-ef2fb871a62a_SiteId">
    <vt:lpwstr>258ac4e4-146a-411e-9dc8-79a9e12fd6da</vt:lpwstr>
  </property>
  <property fmtid="{D5CDD505-2E9C-101B-9397-08002B2CF9AE}" pid="4" name="MSIP_Label_b9a70571-31c6-4603-80c1-ef2fb871a62a_Ref">
    <vt:lpwstr>https://api.informationprotection.azure.com/api/258ac4e4-146a-411e-9dc8-79a9e12fd6da</vt:lpwstr>
  </property>
  <property fmtid="{D5CDD505-2E9C-101B-9397-08002B2CF9AE}" pid="5" name="MSIP_Label_b9a70571-31c6-4603-80c1-ef2fb871a62a_Owner">
    <vt:lpwstr>AM302251@wipro.com</vt:lpwstr>
  </property>
  <property fmtid="{D5CDD505-2E9C-101B-9397-08002B2CF9AE}" pid="6" name="MSIP_Label_b9a70571-31c6-4603-80c1-ef2fb871a62a_SetDate">
    <vt:lpwstr>2018-05-23T10:50:44.4080046+05:30</vt:lpwstr>
  </property>
  <property fmtid="{D5CDD505-2E9C-101B-9397-08002B2CF9AE}" pid="7" name="MSIP_Label_b9a70571-31c6-4603-80c1-ef2fb871a62a_Name">
    <vt:lpwstr>Internal and Restricted</vt:lpwstr>
  </property>
  <property fmtid="{D5CDD505-2E9C-101B-9397-08002B2CF9AE}" pid="8" name="MSIP_Label_b9a70571-31c6-4603-80c1-ef2fb871a62a_Application">
    <vt:lpwstr>Microsoft Azure Information Protection</vt:lpwstr>
  </property>
  <property fmtid="{D5CDD505-2E9C-101B-9397-08002B2CF9AE}" pid="9" name="MSIP_Label_b9a70571-31c6-4603-80c1-ef2fb871a62a_Extended_MSFT_Method">
    <vt:lpwstr>Automatic</vt:lpwstr>
  </property>
  <property fmtid="{D5CDD505-2E9C-101B-9397-08002B2CF9AE}" pid="10" name="Sensitivity">
    <vt:lpwstr>Internal and Restricted</vt:lpwstr>
  </property>
</Properties>
</file>